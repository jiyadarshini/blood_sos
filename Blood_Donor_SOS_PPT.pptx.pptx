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23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29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</p:sldIdLst>
  <p:sldSz cx="18288000" cy="10287000"/>
  <p:notesSz cx="6858000" cy="9144000"/>
  <p:embeddedFontLst>
    <p:embeddedFont>
      <p:font typeface="Times New Roman Bold" charset="1" panose="02020803070505020304"/>
      <p:regular r:id="rId32"/>
    </p:embeddedFont>
    <p:embeddedFont>
      <p:font typeface="Times New Roman Italics" charset="1" panose="02020503050405090304"/>
      <p:regular r:id="rId33"/>
    </p:embeddedFont>
    <p:embeddedFont>
      <p:font typeface="Times New Roman" charset="1" panose="02020603050405020304"/>
      <p:regular r:id="rId3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notesMasters/notesMaster1.xml" Type="http://schemas.openxmlformats.org/officeDocument/2006/relationships/notesMaster"/><Relationship Id="rId3" Target="viewProps.xml" Type="http://schemas.openxmlformats.org/officeDocument/2006/relationships/viewProps"/><Relationship Id="rId30" Target="theme/theme2.xml" Type="http://schemas.openxmlformats.org/officeDocument/2006/relationships/theme"/><Relationship Id="rId31" Target="notesSlides/notesSlide1.xml" Type="http://schemas.openxmlformats.org/officeDocument/2006/relationships/notesSlide"/><Relationship Id="rId32" Target="fonts/font32.fntdata" Type="http://schemas.openxmlformats.org/officeDocument/2006/relationships/font"/><Relationship Id="rId33" Target="fonts/font33.fntdata" Type="http://schemas.openxmlformats.org/officeDocument/2006/relationships/font"/><Relationship Id="rId34" Target="notesSlides/notesSlide2.xml" Type="http://schemas.openxmlformats.org/officeDocument/2006/relationships/notesSlide"/><Relationship Id="rId35" Target="fonts/font35.fntdata" Type="http://schemas.openxmlformats.org/officeDocument/2006/relationships/font"/><Relationship Id="rId36" Target="notesSlides/notesSlide3.xml" Type="http://schemas.openxmlformats.org/officeDocument/2006/relationships/notesSlide"/><Relationship Id="rId37" Target="notesSlides/notesSlide4.xml" Type="http://schemas.openxmlformats.org/officeDocument/2006/relationships/notesSlide"/><Relationship Id="rId38" Target="notesSlides/notesSlide5.xml" Type="http://schemas.openxmlformats.org/officeDocument/2006/relationships/notesSlide"/><Relationship Id="rId39" Target="notesSlides/notesSlide6.xml" Type="http://schemas.openxmlformats.org/officeDocument/2006/relationships/notesSlide"/><Relationship Id="rId4" Target="theme/theme1.xml" Type="http://schemas.openxmlformats.org/officeDocument/2006/relationships/theme"/><Relationship Id="rId40" Target="notesSlides/notesSlide7.xml" Type="http://schemas.openxmlformats.org/officeDocument/2006/relationships/notesSlide"/><Relationship Id="rId41" Target="notesSlides/notesSlide8.xml" Type="http://schemas.openxmlformats.org/officeDocument/2006/relationships/notesSlide"/><Relationship Id="rId42" Target="notesSlides/notesSlide9.xml" Type="http://schemas.openxmlformats.org/officeDocument/2006/relationships/notesSlide"/><Relationship Id="rId43" Target="notesSlides/notesSlide10.xml" Type="http://schemas.openxmlformats.org/officeDocument/2006/relationships/notesSlide"/><Relationship Id="rId44" Target="notesSlides/notesSlide11.xml" Type="http://schemas.openxmlformats.org/officeDocument/2006/relationships/notesSlide"/><Relationship Id="rId45" Target="notesSlides/notesSlide12.xml" Type="http://schemas.openxmlformats.org/officeDocument/2006/relationships/notesSlide"/><Relationship Id="rId46" Target="notesSlides/notesSlide13.xml" Type="http://schemas.openxmlformats.org/officeDocument/2006/relationships/notesSlide"/><Relationship Id="rId47" Target="notesSlides/notesSlide14.xml" Type="http://schemas.openxmlformats.org/officeDocument/2006/relationships/notesSlide"/><Relationship Id="rId48" Target="notesSlides/notesSlide15.xml" Type="http://schemas.openxmlformats.org/officeDocument/2006/relationships/notesSlide"/><Relationship Id="rId49" Target="notesSlides/notesSlide16.xml" Type="http://schemas.openxmlformats.org/officeDocument/2006/relationships/notesSlide"/><Relationship Id="rId5" Target="tableStyles.xml" Type="http://schemas.openxmlformats.org/officeDocument/2006/relationships/tableStyles"/><Relationship Id="rId50" Target="notesSlides/notesSlide17.xml" Type="http://schemas.openxmlformats.org/officeDocument/2006/relationships/notesSlide"/><Relationship Id="rId51" Target="notesSlides/notesSlide18.xml" Type="http://schemas.openxmlformats.org/officeDocument/2006/relationships/notesSlide"/><Relationship Id="rId52" Target="notesSlides/notesSlide19.xml" Type="http://schemas.openxmlformats.org/officeDocument/2006/relationships/notesSlide"/><Relationship Id="rId53" Target="notesSlides/notesSlide20.xml" Type="http://schemas.openxmlformats.org/officeDocument/2006/relationships/notesSlide"/><Relationship Id="rId54" Target="notesSlides/notesSlide21.xml" Type="http://schemas.openxmlformats.org/officeDocument/2006/relationships/notesSlide"/><Relationship Id="rId55" Target="notesSlides/notesSlide22.xml" Type="http://schemas.openxmlformats.org/officeDocument/2006/relationships/notesSlide"/><Relationship Id="rId56" Target="notesSlides/notesSlide23.xml" Type="http://schemas.openxmlformats.org/officeDocument/2006/relationships/notesSlide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_rels/notesSlide1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_rels/notesSlide1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7.xml" Type="http://schemas.openxmlformats.org/officeDocument/2006/relationships/slide"/></Relationships>
</file>

<file path=ppt/notesSlides/_rels/notesSlide1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8.xml" Type="http://schemas.openxmlformats.org/officeDocument/2006/relationships/slide"/></Relationships>
</file>

<file path=ppt/notesSlides/_rels/notesSlide1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9.xml" Type="http://schemas.openxmlformats.org/officeDocument/2006/relationships/slide"/></Relationships>
</file>

<file path=ppt/notesSlides/_rels/notesSlide2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0.xml" Type="http://schemas.openxmlformats.org/officeDocument/2006/relationships/slide"/></Relationships>
</file>

<file path=ppt/notesSlides/_rels/notesSlide2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1.xml" Type="http://schemas.openxmlformats.org/officeDocument/2006/relationships/slide"/></Relationships>
</file>

<file path=ppt/notesSlides/_rels/notesSlide2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2.xml" Type="http://schemas.openxmlformats.org/officeDocument/2006/relationships/slide"/></Relationships>
</file>

<file path=ppt/notesSlides/_rels/notesSlide2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3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Relationship Id="rId4" Target="../media/image2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2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2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2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2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2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2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2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2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2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2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2.xml" Type="http://schemas.openxmlformats.org/officeDocument/2006/relationships/notesSlide"/><Relationship Id="rId3" Target="../media/image2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3.xml" Type="http://schemas.openxmlformats.org/officeDocument/2006/relationships/notesSlide"/><Relationship Id="rId3" Target="../media/image2.jpe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4.xml" Type="http://schemas.openxmlformats.org/officeDocument/2006/relationships/notesSlide"/><Relationship Id="rId3" Target="../media/image2.jpe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5.xml" Type="http://schemas.openxmlformats.org/officeDocument/2006/relationships/notesSlide"/><Relationship Id="rId3" Target="../media/image2.jpe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6.xml" Type="http://schemas.openxmlformats.org/officeDocument/2006/relationships/notesSlide"/><Relationship Id="rId3" Target="../media/image2.jpe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7.xml" Type="http://schemas.openxmlformats.org/officeDocument/2006/relationships/notesSlide"/><Relationship Id="rId3" Target="../media/image2.jpe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8.xml" Type="http://schemas.openxmlformats.org/officeDocument/2006/relationships/notesSlide"/><Relationship Id="rId3" Target="../media/image2.jpe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9.xml" Type="http://schemas.openxmlformats.org/officeDocument/2006/relationships/notesSlide"/><Relationship Id="rId3" Target="../media/image2.jpe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0.xml" Type="http://schemas.openxmlformats.org/officeDocument/2006/relationships/notesSlide"/><Relationship Id="rId3" Target="../media/image2.jpe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1.xml" Type="http://schemas.openxmlformats.org/officeDocument/2006/relationships/notesSlide"/><Relationship Id="rId3" Target="../media/image2.jpe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2.xml" Type="http://schemas.openxmlformats.org/officeDocument/2006/relationships/notesSlide"/><Relationship Id="rId3" Target="../media/image2.jpe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3.xml" Type="http://schemas.openxmlformats.org/officeDocument/2006/relationships/notesSlide"/><Relationship Id="rId3" Target="../media/image2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80060" y="411480"/>
            <a:ext cx="4937760" cy="1618488"/>
            <a:chOff x="0" y="0"/>
            <a:chExt cx="6583680" cy="2157984"/>
          </a:xfrm>
        </p:grpSpPr>
        <p:sp>
          <p:nvSpPr>
            <p:cNvPr name="Freeform 3" id="3" descr="logo.png"/>
            <p:cNvSpPr/>
            <p:nvPr/>
          </p:nvSpPr>
          <p:spPr>
            <a:xfrm flipH="false" flipV="false" rot="0">
              <a:off x="0" y="0"/>
              <a:ext cx="6583680" cy="2157984"/>
            </a:xfrm>
            <a:custGeom>
              <a:avLst/>
              <a:gdLst/>
              <a:ahLst/>
              <a:cxnLst/>
              <a:rect r="r" b="b" t="t" l="l"/>
              <a:pathLst>
                <a:path h="2157984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2157984"/>
                  </a:lnTo>
                  <a:lnTo>
                    <a:pt x="0" y="21579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007" r="0" b="-2006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548640" y="2263140"/>
            <a:ext cx="17145000" cy="603238"/>
            <a:chOff x="0" y="0"/>
            <a:chExt cx="22860000" cy="80431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860000" cy="804317"/>
            </a:xfrm>
            <a:custGeom>
              <a:avLst/>
              <a:gdLst/>
              <a:ahLst/>
              <a:cxnLst/>
              <a:rect r="r" b="b" t="t" l="l"/>
              <a:pathLst>
                <a:path h="804317" w="22860000">
                  <a:moveTo>
                    <a:pt x="0" y="0"/>
                  </a:moveTo>
                  <a:lnTo>
                    <a:pt x="22860000" y="0"/>
                  </a:lnTo>
                  <a:lnTo>
                    <a:pt x="22860000" y="804317"/>
                  </a:lnTo>
                  <a:lnTo>
                    <a:pt x="0" y="80431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08322" r="0" b="-499271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22860000" cy="8328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444444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2311CWC501J – FULL STACK WEB TECHNOLOGIES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-7144" y="3120104"/>
            <a:ext cx="18301830" cy="2620328"/>
            <a:chOff x="0" y="0"/>
            <a:chExt cx="24402440" cy="349377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4402414" cy="3493770"/>
            </a:xfrm>
            <a:custGeom>
              <a:avLst/>
              <a:gdLst/>
              <a:ahLst/>
              <a:cxnLst/>
              <a:rect r="r" b="b" t="t" l="l"/>
              <a:pathLst>
                <a:path h="3493770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3493770"/>
                  </a:lnTo>
                  <a:lnTo>
                    <a:pt x="0" y="3493770"/>
                  </a:lnTo>
                  <a:close/>
                </a:path>
              </a:pathLst>
            </a:custGeom>
            <a:solidFill>
              <a:srgbClr val="953734"/>
            </a:solidFill>
            <a:ln w="14288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548640" y="3291840"/>
            <a:ext cx="17145000" cy="1303020"/>
            <a:chOff x="0" y="0"/>
            <a:chExt cx="22860000" cy="173736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2860000" cy="1737360"/>
            </a:xfrm>
            <a:custGeom>
              <a:avLst/>
              <a:gdLst/>
              <a:ahLst/>
              <a:cxnLst/>
              <a:rect r="r" b="b" t="t" l="l"/>
              <a:pathLst>
                <a:path h="1737360" w="22860000">
                  <a:moveTo>
                    <a:pt x="0" y="0"/>
                  </a:moveTo>
                  <a:lnTo>
                    <a:pt x="22860000" y="0"/>
                  </a:lnTo>
                  <a:lnTo>
                    <a:pt x="22860000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06382" r="0" b="-206382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28575"/>
              <a:ext cx="22860000" cy="17659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120"/>
                </a:lnSpc>
              </a:pPr>
              <a:r>
                <a:rPr lang="en-US" sz="5100" b="true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BloodSOS – Emergency Blood Donor Network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548640" y="4594860"/>
            <a:ext cx="17145000" cy="754380"/>
            <a:chOff x="0" y="0"/>
            <a:chExt cx="22860000" cy="10058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2860000" cy="1005840"/>
            </a:xfrm>
            <a:custGeom>
              <a:avLst/>
              <a:gdLst/>
              <a:ahLst/>
              <a:cxnLst/>
              <a:rect r="r" b="b" t="t" l="l"/>
              <a:pathLst>
                <a:path h="1005840" w="22860000">
                  <a:moveTo>
                    <a:pt x="0" y="0"/>
                  </a:moveTo>
                  <a:lnTo>
                    <a:pt x="22860000" y="0"/>
                  </a:lnTo>
                  <a:lnTo>
                    <a:pt x="2286000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92841" r="0" b="-392841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9525"/>
              <a:ext cx="22860000" cy="10153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i="true">
                  <a:solidFill>
                    <a:srgbClr val="F3DCD8"/>
                  </a:solidFill>
                  <a:latin typeface="Times New Roman Italics"/>
                  <a:ea typeface="Times New Roman Italics"/>
                  <a:cs typeface="Times New Roman Italics"/>
                  <a:sym typeface="Times New Roman Italics"/>
                </a:rPr>
                <a:t>A Smart Web-Based System for Emergency Blood Donor Connectivity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548640" y="6309360"/>
            <a:ext cx="4389120" cy="548640"/>
            <a:chOff x="0" y="0"/>
            <a:chExt cx="5852160" cy="73152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852160" cy="731520"/>
            </a:xfrm>
            <a:custGeom>
              <a:avLst/>
              <a:gdLst/>
              <a:ahLst/>
              <a:cxnLst/>
              <a:rect r="r" b="b" t="t" l="l"/>
              <a:pathLst>
                <a:path h="73152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05880" r="0" b="-10588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19050"/>
              <a:ext cx="585216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2B2B2B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Review No.: 1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1521440" y="6172200"/>
            <a:ext cx="6172200" cy="548640"/>
            <a:chOff x="0" y="0"/>
            <a:chExt cx="8229600" cy="73152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229600" cy="731520"/>
            </a:xfrm>
            <a:custGeom>
              <a:avLst/>
              <a:gdLst/>
              <a:ahLst/>
              <a:cxnLst/>
              <a:rect r="r" b="b" t="t" l="l"/>
              <a:pathLst>
                <a:path h="731520" w="8229600">
                  <a:moveTo>
                    <a:pt x="0" y="0"/>
                  </a:moveTo>
                  <a:lnTo>
                    <a:pt x="8229600" y="0"/>
                  </a:lnTo>
                  <a:lnTo>
                    <a:pt x="8229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69206" r="0" b="-169206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19050"/>
              <a:ext cx="822960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CC1414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Presented by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1521440" y="6720840"/>
            <a:ext cx="6172200" cy="548640"/>
            <a:chOff x="0" y="0"/>
            <a:chExt cx="8229600" cy="73152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229600" cy="731520"/>
            </a:xfrm>
            <a:custGeom>
              <a:avLst/>
              <a:gdLst/>
              <a:ahLst/>
              <a:cxnLst/>
              <a:rect r="r" b="b" t="t" l="l"/>
              <a:pathLst>
                <a:path h="731520" w="8229600">
                  <a:moveTo>
                    <a:pt x="0" y="0"/>
                  </a:moveTo>
                  <a:lnTo>
                    <a:pt x="8229600" y="0"/>
                  </a:lnTo>
                  <a:lnTo>
                    <a:pt x="8229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69206" r="0" b="-169206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19050"/>
              <a:ext cx="822960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2B2B2B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JIYA DARSHINI V - 310624244017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-9525"/>
            <a:ext cx="18306593" cy="965454"/>
            <a:chOff x="0" y="0"/>
            <a:chExt cx="24408790" cy="128727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8764" cy="1287272"/>
            </a:xfrm>
            <a:custGeom>
              <a:avLst/>
              <a:gdLst/>
              <a:ahLst/>
              <a:cxnLst/>
              <a:rect r="r" b="b" t="t" l="l"/>
              <a:pathLst>
                <a:path h="1287272" w="24408764">
                  <a:moveTo>
                    <a:pt x="0" y="0"/>
                  </a:moveTo>
                  <a:lnTo>
                    <a:pt x="24408764" y="0"/>
                  </a:lnTo>
                  <a:lnTo>
                    <a:pt x="24408764" y="1287272"/>
                  </a:lnTo>
                  <a:lnTo>
                    <a:pt x="0" y="1287272"/>
                  </a:lnTo>
                  <a:close/>
                </a:path>
              </a:pathLst>
            </a:custGeom>
            <a:solidFill>
              <a:srgbClr val="953734"/>
            </a:solidFill>
            <a:ln w="19050" cap="sq">
              <a:solidFill>
                <a:srgbClr val="953734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411480" y="0"/>
            <a:ext cx="17464583" cy="946404"/>
            <a:chOff x="0" y="0"/>
            <a:chExt cx="23286110" cy="126187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3286110" cy="1261872"/>
            </a:xfrm>
            <a:custGeom>
              <a:avLst/>
              <a:gdLst/>
              <a:ahLst/>
              <a:cxnLst/>
              <a:rect r="r" b="b" t="t" l="l"/>
              <a:pathLst>
                <a:path h="1261872" w="23286110">
                  <a:moveTo>
                    <a:pt x="0" y="0"/>
                  </a:moveTo>
                  <a:lnTo>
                    <a:pt x="23286110" y="0"/>
                  </a:lnTo>
                  <a:lnTo>
                    <a:pt x="23286110" y="1261872"/>
                  </a:lnTo>
                  <a:lnTo>
                    <a:pt x="0" y="12618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9569" r="0" b="-309569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23286110" cy="129044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TABLE OF CONTENTS</a:t>
              </a:r>
            </a:p>
          </p:txBody>
        </p:sp>
      </p:grpSp>
      <p:graphicFrame>
        <p:nvGraphicFramePr>
          <p:cNvPr name="Table 7" id="7"/>
          <p:cNvGraphicFramePr>
            <a:graphicFrameLocks noGrp="true"/>
          </p:cNvGraphicFramePr>
          <p:nvPr/>
        </p:nvGraphicFramePr>
        <p:xfrm>
          <a:off x="1591056" y="1069848"/>
          <a:ext cx="15068550" cy="8096250"/>
        </p:xfrm>
        <a:graphic>
          <a:graphicData uri="http://schemas.openxmlformats.org/drawingml/2006/table">
            <a:tbl>
              <a:tblPr/>
              <a:tblGrid>
                <a:gridCol w="2627531"/>
                <a:gridCol w="12441019"/>
              </a:tblGrid>
              <a:tr h="47625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FFFFFF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S.NO</a:t>
                      </a:r>
                      <a:endParaRPr lang="en-US" sz="1100"/>
                    </a:p>
                  </a:txBody>
                  <a:tcPr marL="45720" marR="45720" marT="45720" marB="45720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FFFFFF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CONTENT</a:t>
                      </a:r>
                      <a:endParaRPr lang="en-US" sz="1100"/>
                    </a:p>
                  </a:txBody>
                  <a:tcPr marL="45720" marR="45720" marT="45720" marB="45720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</a:tr>
              <a:tr h="47625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2B2B2B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lang="en-US" sz="1100"/>
                    </a:p>
                  </a:txBody>
                  <a:tcPr marL="45720" marR="45720" marT="45720" marB="45720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2B2B2B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Project Overview</a:t>
                      </a:r>
                      <a:endParaRPr lang="en-US" sz="1100"/>
                    </a:p>
                  </a:txBody>
                  <a:tcPr marL="45720" marR="45720" marT="45720" marB="45720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</a:tr>
              <a:tr h="47625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2B2B2B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lang="en-US" sz="1100"/>
                    </a:p>
                  </a:txBody>
                  <a:tcPr marL="45720" marR="45720" marT="45720" marB="45720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2B2B2B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Abstract</a:t>
                      </a:r>
                      <a:endParaRPr lang="en-US" sz="1100"/>
                    </a:p>
                  </a:txBody>
                  <a:tcPr marL="45720" marR="45720" marT="45720" marB="45720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2B2B2B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lang="en-US" sz="1100"/>
                    </a:p>
                  </a:txBody>
                  <a:tcPr marL="45720" marR="45720" marT="45720" marB="45720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2B2B2B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Introduction &amp; Importance of Quick Blood Access</a:t>
                      </a:r>
                      <a:endParaRPr lang="en-US" sz="1100"/>
                    </a:p>
                  </a:txBody>
                  <a:tcPr marL="45720" marR="45720" marT="45720" marB="45720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</a:tr>
              <a:tr h="47625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2B2B2B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lang="en-US" sz="1100"/>
                    </a:p>
                  </a:txBody>
                  <a:tcPr marL="45720" marR="45720" marT="45720" marB="45720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2B2B2B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Problem Statement</a:t>
                      </a:r>
                      <a:endParaRPr lang="en-US" sz="1100"/>
                    </a:p>
                  </a:txBody>
                  <a:tcPr marL="45720" marR="45720" marT="45720" marB="45720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2B2B2B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lang="en-US" sz="1100"/>
                    </a:p>
                  </a:txBody>
                  <a:tcPr marL="45720" marR="45720" marT="45720" marB="45720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2B2B2B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Existing Systems</a:t>
                      </a:r>
                      <a:endParaRPr lang="en-US" sz="1100"/>
                    </a:p>
                  </a:txBody>
                  <a:tcPr marL="45720" marR="45720" marT="45720" marB="45720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</a:tr>
              <a:tr h="47625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2B2B2B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lang="en-US" sz="1100"/>
                    </a:p>
                  </a:txBody>
                  <a:tcPr marL="45720" marR="45720" marT="45720" marB="45720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2B2B2B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Proposed System</a:t>
                      </a:r>
                      <a:endParaRPr lang="en-US" sz="1100"/>
                    </a:p>
                  </a:txBody>
                  <a:tcPr marL="45720" marR="45720" marT="45720" marB="45720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2B2B2B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lang="en-US" sz="1100"/>
                    </a:p>
                  </a:txBody>
                  <a:tcPr marL="45720" marR="45720" marT="45720" marB="45720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2B2B2B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Key Features</a:t>
                      </a:r>
                      <a:endParaRPr lang="en-US" sz="1100"/>
                    </a:p>
                  </a:txBody>
                  <a:tcPr marL="45720" marR="45720" marT="45720" marB="45720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</a:tr>
              <a:tr h="47625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2B2B2B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 lang="en-US" sz="1100"/>
                    </a:p>
                  </a:txBody>
                  <a:tcPr marL="45720" marR="45720" marT="45720" marB="45720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2B2B2B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Objectives</a:t>
                      </a:r>
                      <a:endParaRPr lang="en-US" sz="1100"/>
                    </a:p>
                  </a:txBody>
                  <a:tcPr marL="45720" marR="45720" marT="45720" marB="45720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2B2B2B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  <a:endParaRPr lang="en-US" sz="1100"/>
                    </a:p>
                  </a:txBody>
                  <a:tcPr marL="45720" marR="45720" marT="45720" marB="45720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2B2B2B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Scope of the Project</a:t>
                      </a:r>
                      <a:endParaRPr lang="en-US" sz="1100"/>
                    </a:p>
                  </a:txBody>
                  <a:tcPr marL="45720" marR="45720" marT="45720" marB="45720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</a:tr>
              <a:tr h="47625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2B2B2B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 lang="en-US" sz="1100"/>
                    </a:p>
                  </a:txBody>
                  <a:tcPr marL="45720" marR="45720" marT="45720" marB="45720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2B2B2B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Literature Survey</a:t>
                      </a:r>
                      <a:endParaRPr lang="en-US" sz="1100"/>
                    </a:p>
                  </a:txBody>
                  <a:tcPr marL="45720" marR="45720" marT="45720" marB="45720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2B2B2B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11</a:t>
                      </a:r>
                      <a:endParaRPr lang="en-US" sz="1100"/>
                    </a:p>
                  </a:txBody>
                  <a:tcPr marL="45720" marR="45720" marT="45720" marB="45720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2B2B2B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Functional and Non-Functional Requirements</a:t>
                      </a:r>
                      <a:endParaRPr lang="en-US" sz="1100"/>
                    </a:p>
                  </a:txBody>
                  <a:tcPr marL="45720" marR="45720" marT="45720" marB="45720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</a:tr>
              <a:tr h="47625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2B2B2B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</a:t>
                      </a:r>
                      <a:endParaRPr lang="en-US" sz="1100"/>
                    </a:p>
                  </a:txBody>
                  <a:tcPr marL="45720" marR="45720" marT="45720" marB="45720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2B2B2B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System Architecture</a:t>
                      </a:r>
                      <a:endParaRPr lang="en-US" sz="1100"/>
                    </a:p>
                  </a:txBody>
                  <a:tcPr marL="45720" marR="45720" marT="45720" marB="45720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2B2B2B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13</a:t>
                      </a:r>
                      <a:endParaRPr lang="en-US" sz="1100"/>
                    </a:p>
                  </a:txBody>
                  <a:tcPr marL="45720" marR="45720" marT="45720" marB="45720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2B2B2B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Use Case and ER Diagram</a:t>
                      </a:r>
                      <a:endParaRPr lang="en-US" sz="1100"/>
                    </a:p>
                  </a:txBody>
                  <a:tcPr marL="45720" marR="45720" marT="45720" marB="45720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</a:tr>
              <a:tr h="47625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2B2B2B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14</a:t>
                      </a:r>
                      <a:endParaRPr lang="en-US" sz="1100"/>
                    </a:p>
                  </a:txBody>
                  <a:tcPr marL="45720" marR="45720" marT="45720" marB="45720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2B2B2B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Modular Description</a:t>
                      </a:r>
                      <a:endParaRPr lang="en-US" sz="1100"/>
                    </a:p>
                  </a:txBody>
                  <a:tcPr marL="45720" marR="45720" marT="45720" marB="45720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2B2B2B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15</a:t>
                      </a:r>
                      <a:endParaRPr lang="en-US" sz="1100"/>
                    </a:p>
                  </a:txBody>
                  <a:tcPr marL="45720" marR="45720" marT="45720" marB="45720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2B2B2B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Technology Stack</a:t>
                      </a:r>
                      <a:endParaRPr lang="en-US" sz="1100"/>
                    </a:p>
                  </a:txBody>
                  <a:tcPr marL="45720" marR="45720" marT="45720" marB="45720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</a:tr>
              <a:tr h="47625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2B2B2B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16</a:t>
                      </a:r>
                      <a:endParaRPr lang="en-US" sz="1100"/>
                    </a:p>
                  </a:txBody>
                  <a:tcPr marL="45720" marR="45720" marT="45720" marB="45720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2B2B2B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UI Design</a:t>
                      </a:r>
                      <a:endParaRPr lang="en-US" sz="1100"/>
                    </a:p>
                  </a:txBody>
                  <a:tcPr marL="45720" marR="45720" marT="45720" marB="45720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7144" y="102584"/>
            <a:ext cx="18301830" cy="864680"/>
            <a:chOff x="0" y="0"/>
            <a:chExt cx="24402440" cy="115290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152906"/>
            </a:xfrm>
            <a:custGeom>
              <a:avLst/>
              <a:gdLst/>
              <a:ahLst/>
              <a:cxnLst/>
              <a:rect r="r" b="b" t="t" l="l"/>
              <a:pathLst>
                <a:path h="1152906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152906"/>
                  </a:lnTo>
                  <a:lnTo>
                    <a:pt x="0" y="1152906"/>
                  </a:lnTo>
                  <a:close/>
                </a:path>
              </a:pathLst>
            </a:custGeom>
            <a:solidFill>
              <a:srgbClr val="953734"/>
            </a:solidFill>
            <a:ln w="14288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411480" y="109728"/>
            <a:ext cx="17464583" cy="850392"/>
            <a:chOff x="0" y="0"/>
            <a:chExt cx="23286110" cy="113385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3286110" cy="1133856"/>
            </a:xfrm>
            <a:custGeom>
              <a:avLst/>
              <a:gdLst/>
              <a:ahLst/>
              <a:cxnLst/>
              <a:rect r="r" b="b" t="t" l="l"/>
              <a:pathLst>
                <a:path h="1133856" w="23286110">
                  <a:moveTo>
                    <a:pt x="0" y="0"/>
                  </a:moveTo>
                  <a:lnTo>
                    <a:pt x="23286110" y="0"/>
                  </a:lnTo>
                  <a:lnTo>
                    <a:pt x="2328611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0166" r="0" b="-35016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23286110" cy="11529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60"/>
                </a:lnSpc>
              </a:pPr>
              <a:r>
                <a:rPr lang="en-US" sz="3300" b="true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Project Overview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7323308" y="9738360"/>
            <a:ext cx="685800" cy="411480"/>
            <a:chOff x="0" y="0"/>
            <a:chExt cx="914400" cy="5486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91440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99999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78656" y="1295876"/>
            <a:ext cx="2346008" cy="453200"/>
            <a:chOff x="0" y="0"/>
            <a:chExt cx="3128010" cy="60426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128010" cy="604266"/>
            </a:xfrm>
            <a:custGeom>
              <a:avLst/>
              <a:gdLst/>
              <a:ahLst/>
              <a:cxnLst/>
              <a:rect r="r" b="b" t="t" l="l"/>
              <a:pathLst>
                <a:path h="604266" w="3128010">
                  <a:moveTo>
                    <a:pt x="0" y="0"/>
                  </a:moveTo>
                  <a:lnTo>
                    <a:pt x="3128010" y="0"/>
                  </a:lnTo>
                  <a:lnTo>
                    <a:pt x="3128010" y="604266"/>
                  </a:lnTo>
                  <a:lnTo>
                    <a:pt x="0" y="604266"/>
                  </a:lnTo>
                  <a:close/>
                </a:path>
              </a:pathLst>
            </a:custGeom>
            <a:solidFill>
              <a:srgbClr val="028090"/>
            </a:solidFill>
            <a:ln w="14288" cap="sq">
              <a:solidFill>
                <a:srgbClr val="028090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754380" y="1303020"/>
            <a:ext cx="2194560" cy="438912"/>
            <a:chOff x="0" y="0"/>
            <a:chExt cx="2926080" cy="58521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926080" cy="585216"/>
            </a:xfrm>
            <a:custGeom>
              <a:avLst/>
              <a:gdLst/>
              <a:ahLst/>
              <a:cxnLst/>
              <a:rect r="r" b="b" t="t" l="l"/>
              <a:pathLst>
                <a:path h="585216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19050"/>
              <a:ext cx="2926080" cy="6042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Domain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685800" y="1824228"/>
            <a:ext cx="16870680" cy="548640"/>
            <a:chOff x="0" y="0"/>
            <a:chExt cx="22494240" cy="73152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2494239" cy="731520"/>
            </a:xfrm>
            <a:custGeom>
              <a:avLst/>
              <a:gdLst/>
              <a:ahLst/>
              <a:cxnLst/>
              <a:rect r="r" b="b" t="t" l="l"/>
              <a:pathLst>
                <a:path h="731520" w="22494239">
                  <a:moveTo>
                    <a:pt x="0" y="0"/>
                  </a:moveTo>
                  <a:lnTo>
                    <a:pt x="22494239" y="0"/>
                  </a:lnTo>
                  <a:lnTo>
                    <a:pt x="22494239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9164" r="0" b="-549164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19050"/>
              <a:ext cx="2249424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2B2B2B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Full Stack Web Development   •   Community Healthcare   •   Emergency Response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678656" y="2530316"/>
            <a:ext cx="3306128" cy="453200"/>
            <a:chOff x="0" y="0"/>
            <a:chExt cx="4408170" cy="60426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408170" cy="604266"/>
            </a:xfrm>
            <a:custGeom>
              <a:avLst/>
              <a:gdLst/>
              <a:ahLst/>
              <a:cxnLst/>
              <a:rect r="r" b="b" t="t" l="l"/>
              <a:pathLst>
                <a:path h="604266" w="4408170">
                  <a:moveTo>
                    <a:pt x="0" y="0"/>
                  </a:moveTo>
                  <a:lnTo>
                    <a:pt x="4408170" y="0"/>
                  </a:lnTo>
                  <a:lnTo>
                    <a:pt x="4408170" y="604266"/>
                  </a:lnTo>
                  <a:lnTo>
                    <a:pt x="0" y="604266"/>
                  </a:lnTo>
                  <a:close/>
                </a:path>
              </a:pathLst>
            </a:custGeom>
            <a:solidFill>
              <a:srgbClr val="953734"/>
            </a:solidFill>
            <a:ln w="14288" cap="sq">
              <a:solidFill>
                <a:srgbClr val="953734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754380" y="2537460"/>
            <a:ext cx="3154680" cy="438912"/>
            <a:chOff x="0" y="0"/>
            <a:chExt cx="4206240" cy="58521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206240" cy="585216"/>
            </a:xfrm>
            <a:custGeom>
              <a:avLst/>
              <a:gdLst/>
              <a:ahLst/>
              <a:cxnLst/>
              <a:rect r="r" b="b" t="t" l="l"/>
              <a:pathLst>
                <a:path h="585216" w="4206240">
                  <a:moveTo>
                    <a:pt x="0" y="0"/>
                  </a:moveTo>
                  <a:lnTo>
                    <a:pt x="4206240" y="0"/>
                  </a:lnTo>
                  <a:lnTo>
                    <a:pt x="420624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0048" r="0" b="-90048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19050"/>
              <a:ext cx="4206240" cy="6042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Technology Stack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678656" y="3078956"/>
            <a:ext cx="5432108" cy="2414588"/>
            <a:chOff x="0" y="0"/>
            <a:chExt cx="7242810" cy="321945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7242810" cy="3219450"/>
            </a:xfrm>
            <a:custGeom>
              <a:avLst/>
              <a:gdLst/>
              <a:ahLst/>
              <a:cxnLst/>
              <a:rect r="r" b="b" t="t" l="l"/>
              <a:pathLst>
                <a:path h="3219450" w="7242810">
                  <a:moveTo>
                    <a:pt x="0" y="0"/>
                  </a:moveTo>
                  <a:lnTo>
                    <a:pt x="7242810" y="0"/>
                  </a:lnTo>
                  <a:lnTo>
                    <a:pt x="7242810" y="3219450"/>
                  </a:lnTo>
                  <a:lnTo>
                    <a:pt x="0" y="3219450"/>
                  </a:lnTo>
                  <a:close/>
                </a:path>
              </a:pathLst>
            </a:custGeom>
            <a:solidFill>
              <a:srgbClr val="F7EDEA"/>
            </a:solidFill>
            <a:ln w="14288" cap="sq">
              <a:solidFill>
                <a:srgbClr val="E3CFC9"/>
              </a:solidFill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882015" y="3282315"/>
            <a:ext cx="430530" cy="430530"/>
            <a:chOff x="0" y="0"/>
            <a:chExt cx="574040" cy="57404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574040" cy="574040"/>
            </a:xfrm>
            <a:custGeom>
              <a:avLst/>
              <a:gdLst/>
              <a:ahLst/>
              <a:cxnLst/>
              <a:rect r="r" b="b" t="t" l="l"/>
              <a:pathLst>
                <a:path h="574040" w="574040">
                  <a:moveTo>
                    <a:pt x="0" y="287020"/>
                  </a:moveTo>
                  <a:cubicBezTo>
                    <a:pt x="0" y="128524"/>
                    <a:pt x="128524" y="0"/>
                    <a:pt x="287020" y="0"/>
                  </a:cubicBezTo>
                  <a:cubicBezTo>
                    <a:pt x="445516" y="0"/>
                    <a:pt x="574040" y="128524"/>
                    <a:pt x="574040" y="287020"/>
                  </a:cubicBezTo>
                  <a:cubicBezTo>
                    <a:pt x="574040" y="445516"/>
                    <a:pt x="445516" y="574040"/>
                    <a:pt x="287020" y="574040"/>
                  </a:cubicBezTo>
                  <a:cubicBezTo>
                    <a:pt x="128524" y="574040"/>
                    <a:pt x="0" y="445516"/>
                    <a:pt x="0" y="287020"/>
                  </a:cubicBezTo>
                  <a:close/>
                </a:path>
              </a:pathLst>
            </a:custGeom>
            <a:solidFill>
              <a:srgbClr val="028090"/>
            </a:solidFill>
            <a:ln w="19050" cap="sq">
              <a:solidFill>
                <a:srgbClr val="028090"/>
              </a:solidFill>
              <a:prstDash val="solid"/>
              <a:miter/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1481328" y="3264408"/>
            <a:ext cx="4389120" cy="466344"/>
            <a:chOff x="0" y="0"/>
            <a:chExt cx="5852160" cy="621792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852160" cy="621792"/>
            </a:xfrm>
            <a:custGeom>
              <a:avLst/>
              <a:gdLst/>
              <a:ahLst/>
              <a:cxnLst/>
              <a:rect r="r" b="b" t="t" l="l"/>
              <a:pathLst>
                <a:path h="621792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3388" r="0" b="-133388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19050"/>
              <a:ext cx="5852160" cy="6408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2B2B2B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Frontend</a:t>
              </a: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960120" y="3821430"/>
            <a:ext cx="4869180" cy="904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2B2B2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React.js</a:t>
            </a:r>
          </a:p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2B2B2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Vite</a:t>
            </a:r>
          </a:p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2B2B2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HTML / CSS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6370796" y="3078956"/>
            <a:ext cx="5432108" cy="2414588"/>
            <a:chOff x="0" y="0"/>
            <a:chExt cx="7242810" cy="321945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7242810" cy="3219450"/>
            </a:xfrm>
            <a:custGeom>
              <a:avLst/>
              <a:gdLst/>
              <a:ahLst/>
              <a:cxnLst/>
              <a:rect r="r" b="b" t="t" l="l"/>
              <a:pathLst>
                <a:path h="3219450" w="7242810">
                  <a:moveTo>
                    <a:pt x="0" y="0"/>
                  </a:moveTo>
                  <a:lnTo>
                    <a:pt x="7242810" y="0"/>
                  </a:lnTo>
                  <a:lnTo>
                    <a:pt x="7242810" y="3219450"/>
                  </a:lnTo>
                  <a:lnTo>
                    <a:pt x="0" y="3219450"/>
                  </a:lnTo>
                  <a:close/>
                </a:path>
              </a:pathLst>
            </a:custGeom>
            <a:solidFill>
              <a:srgbClr val="F7EDEA"/>
            </a:solidFill>
            <a:ln w="14288" cap="sq">
              <a:solidFill>
                <a:srgbClr val="E3CFC9"/>
              </a:solidFill>
              <a:prstDash val="solid"/>
              <a:miter/>
            </a:ln>
          </p:spPr>
        </p:sp>
      </p:grpSp>
      <p:grpSp>
        <p:nvGrpSpPr>
          <p:cNvPr name="Group 33" id="33"/>
          <p:cNvGrpSpPr/>
          <p:nvPr/>
        </p:nvGrpSpPr>
        <p:grpSpPr>
          <a:xfrm rot="0">
            <a:off x="6574155" y="3282315"/>
            <a:ext cx="430530" cy="430530"/>
            <a:chOff x="0" y="0"/>
            <a:chExt cx="574040" cy="57404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574040" cy="574040"/>
            </a:xfrm>
            <a:custGeom>
              <a:avLst/>
              <a:gdLst/>
              <a:ahLst/>
              <a:cxnLst/>
              <a:rect r="r" b="b" t="t" l="l"/>
              <a:pathLst>
                <a:path h="574040" w="574040">
                  <a:moveTo>
                    <a:pt x="0" y="287020"/>
                  </a:moveTo>
                  <a:cubicBezTo>
                    <a:pt x="0" y="128524"/>
                    <a:pt x="128524" y="0"/>
                    <a:pt x="287020" y="0"/>
                  </a:cubicBezTo>
                  <a:cubicBezTo>
                    <a:pt x="445516" y="0"/>
                    <a:pt x="574040" y="128524"/>
                    <a:pt x="574040" y="287020"/>
                  </a:cubicBezTo>
                  <a:cubicBezTo>
                    <a:pt x="574040" y="445516"/>
                    <a:pt x="445516" y="574040"/>
                    <a:pt x="287020" y="574040"/>
                  </a:cubicBezTo>
                  <a:cubicBezTo>
                    <a:pt x="128524" y="574040"/>
                    <a:pt x="0" y="445516"/>
                    <a:pt x="0" y="287020"/>
                  </a:cubicBezTo>
                  <a:close/>
                </a:path>
              </a:pathLst>
            </a:custGeom>
            <a:solidFill>
              <a:srgbClr val="953734"/>
            </a:solidFill>
            <a:ln w="19050" cap="sq">
              <a:solidFill>
                <a:srgbClr val="953734"/>
              </a:solidFill>
              <a:prstDash val="solid"/>
              <a:miter/>
            </a:ln>
          </p:spPr>
        </p:sp>
      </p:grpSp>
      <p:grpSp>
        <p:nvGrpSpPr>
          <p:cNvPr name="Group 35" id="35"/>
          <p:cNvGrpSpPr/>
          <p:nvPr/>
        </p:nvGrpSpPr>
        <p:grpSpPr>
          <a:xfrm rot="0">
            <a:off x="7173468" y="3264408"/>
            <a:ext cx="4389120" cy="466344"/>
            <a:chOff x="0" y="0"/>
            <a:chExt cx="5852160" cy="621792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5852160" cy="621792"/>
            </a:xfrm>
            <a:custGeom>
              <a:avLst/>
              <a:gdLst/>
              <a:ahLst/>
              <a:cxnLst/>
              <a:rect r="r" b="b" t="t" l="l"/>
              <a:pathLst>
                <a:path h="621792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3388" r="0" b="-133388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19050"/>
              <a:ext cx="5852160" cy="6408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2B2B2B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Backend</a:t>
              </a:r>
            </a:p>
          </p:txBody>
        </p:sp>
      </p:grpSp>
      <p:sp>
        <p:nvSpPr>
          <p:cNvPr name="TextBox 38" id="38"/>
          <p:cNvSpPr txBox="true"/>
          <p:nvPr/>
        </p:nvSpPr>
        <p:spPr>
          <a:xfrm rot="0">
            <a:off x="6652260" y="3821430"/>
            <a:ext cx="4869180" cy="1527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2B2B2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Node.js</a:t>
            </a:r>
          </a:p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2B2B2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Express.js</a:t>
            </a:r>
          </a:p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2B2B2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JWT Authentication</a:t>
            </a:r>
          </a:p>
        </p:txBody>
      </p:sp>
      <p:grpSp>
        <p:nvGrpSpPr>
          <p:cNvPr name="Group 39" id="39"/>
          <p:cNvGrpSpPr/>
          <p:nvPr/>
        </p:nvGrpSpPr>
        <p:grpSpPr>
          <a:xfrm rot="0">
            <a:off x="12062936" y="3078956"/>
            <a:ext cx="5432108" cy="2414588"/>
            <a:chOff x="0" y="0"/>
            <a:chExt cx="7242810" cy="321945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7242810" cy="3219450"/>
            </a:xfrm>
            <a:custGeom>
              <a:avLst/>
              <a:gdLst/>
              <a:ahLst/>
              <a:cxnLst/>
              <a:rect r="r" b="b" t="t" l="l"/>
              <a:pathLst>
                <a:path h="3219450" w="7242810">
                  <a:moveTo>
                    <a:pt x="0" y="0"/>
                  </a:moveTo>
                  <a:lnTo>
                    <a:pt x="7242810" y="0"/>
                  </a:lnTo>
                  <a:lnTo>
                    <a:pt x="7242810" y="3219450"/>
                  </a:lnTo>
                  <a:lnTo>
                    <a:pt x="0" y="3219450"/>
                  </a:lnTo>
                  <a:close/>
                </a:path>
              </a:pathLst>
            </a:custGeom>
            <a:solidFill>
              <a:srgbClr val="F7EDEA"/>
            </a:solidFill>
            <a:ln w="14288" cap="sq">
              <a:solidFill>
                <a:srgbClr val="E3CFC9"/>
              </a:solidFill>
              <a:prstDash val="solid"/>
              <a:miter/>
            </a:ln>
          </p:spPr>
        </p:sp>
      </p:grpSp>
      <p:grpSp>
        <p:nvGrpSpPr>
          <p:cNvPr name="Group 41" id="41"/>
          <p:cNvGrpSpPr/>
          <p:nvPr/>
        </p:nvGrpSpPr>
        <p:grpSpPr>
          <a:xfrm rot="0">
            <a:off x="12266295" y="3282315"/>
            <a:ext cx="430530" cy="430530"/>
            <a:chOff x="0" y="0"/>
            <a:chExt cx="574040" cy="57404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574040" cy="574040"/>
            </a:xfrm>
            <a:custGeom>
              <a:avLst/>
              <a:gdLst/>
              <a:ahLst/>
              <a:cxnLst/>
              <a:rect r="r" b="b" t="t" l="l"/>
              <a:pathLst>
                <a:path h="574040" w="574040">
                  <a:moveTo>
                    <a:pt x="0" y="287020"/>
                  </a:moveTo>
                  <a:cubicBezTo>
                    <a:pt x="0" y="128524"/>
                    <a:pt x="128524" y="0"/>
                    <a:pt x="287020" y="0"/>
                  </a:cubicBezTo>
                  <a:cubicBezTo>
                    <a:pt x="445516" y="0"/>
                    <a:pt x="574040" y="128524"/>
                    <a:pt x="574040" y="287020"/>
                  </a:cubicBezTo>
                  <a:cubicBezTo>
                    <a:pt x="574040" y="445516"/>
                    <a:pt x="445516" y="574040"/>
                    <a:pt x="287020" y="574040"/>
                  </a:cubicBezTo>
                  <a:cubicBezTo>
                    <a:pt x="128524" y="574040"/>
                    <a:pt x="0" y="445516"/>
                    <a:pt x="0" y="287020"/>
                  </a:cubicBezTo>
                  <a:close/>
                </a:path>
              </a:pathLst>
            </a:custGeom>
            <a:solidFill>
              <a:srgbClr val="C98A2C"/>
            </a:solidFill>
            <a:ln w="19050" cap="sq">
              <a:solidFill>
                <a:srgbClr val="C98A2C"/>
              </a:solidFill>
              <a:prstDash val="solid"/>
              <a:miter/>
            </a:ln>
          </p:spPr>
        </p:sp>
      </p:grpSp>
      <p:grpSp>
        <p:nvGrpSpPr>
          <p:cNvPr name="Group 43" id="43"/>
          <p:cNvGrpSpPr/>
          <p:nvPr/>
        </p:nvGrpSpPr>
        <p:grpSpPr>
          <a:xfrm rot="0">
            <a:off x="12865608" y="3264408"/>
            <a:ext cx="4389120" cy="466344"/>
            <a:chOff x="0" y="0"/>
            <a:chExt cx="5852160" cy="621792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5852160" cy="621792"/>
            </a:xfrm>
            <a:custGeom>
              <a:avLst/>
              <a:gdLst/>
              <a:ahLst/>
              <a:cxnLst/>
              <a:rect r="r" b="b" t="t" l="l"/>
              <a:pathLst>
                <a:path h="621792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3388" r="0" b="-133388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19050"/>
              <a:ext cx="5852160" cy="6408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2B2B2B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Database &amp; Contact</a:t>
              </a:r>
            </a:p>
          </p:txBody>
        </p:sp>
      </p:grpSp>
      <p:sp>
        <p:nvSpPr>
          <p:cNvPr name="TextBox 46" id="46"/>
          <p:cNvSpPr txBox="true"/>
          <p:nvPr/>
        </p:nvSpPr>
        <p:spPr>
          <a:xfrm rot="0">
            <a:off x="12344400" y="3821430"/>
            <a:ext cx="4869180" cy="60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2B2B2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PostgreSQL (Neon)</a:t>
            </a:r>
          </a:p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2B2B2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tel: / WhatsApp links</a:t>
            </a:r>
          </a:p>
        </p:txBody>
      </p:sp>
      <p:grpSp>
        <p:nvGrpSpPr>
          <p:cNvPr name="Group 47" id="47"/>
          <p:cNvGrpSpPr/>
          <p:nvPr/>
        </p:nvGrpSpPr>
        <p:grpSpPr>
          <a:xfrm rot="0">
            <a:off x="678656" y="5753576"/>
            <a:ext cx="3306128" cy="453200"/>
            <a:chOff x="0" y="0"/>
            <a:chExt cx="4408170" cy="604266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4408170" cy="604266"/>
            </a:xfrm>
            <a:custGeom>
              <a:avLst/>
              <a:gdLst/>
              <a:ahLst/>
              <a:cxnLst/>
              <a:rect r="r" b="b" t="t" l="l"/>
              <a:pathLst>
                <a:path h="604266" w="4408170">
                  <a:moveTo>
                    <a:pt x="0" y="0"/>
                  </a:moveTo>
                  <a:lnTo>
                    <a:pt x="4408170" y="0"/>
                  </a:lnTo>
                  <a:lnTo>
                    <a:pt x="4408170" y="604266"/>
                  </a:lnTo>
                  <a:lnTo>
                    <a:pt x="0" y="604266"/>
                  </a:lnTo>
                  <a:close/>
                </a:path>
              </a:pathLst>
            </a:custGeom>
            <a:solidFill>
              <a:srgbClr val="953734"/>
            </a:solidFill>
            <a:ln w="14288" cap="sq">
              <a:solidFill>
                <a:srgbClr val="953734"/>
              </a:solidFill>
              <a:prstDash val="solid"/>
              <a:miter/>
            </a:ln>
          </p:spPr>
        </p:sp>
      </p:grpSp>
      <p:grpSp>
        <p:nvGrpSpPr>
          <p:cNvPr name="Group 49" id="49"/>
          <p:cNvGrpSpPr/>
          <p:nvPr/>
        </p:nvGrpSpPr>
        <p:grpSpPr>
          <a:xfrm rot="0">
            <a:off x="754380" y="5760720"/>
            <a:ext cx="3154680" cy="438912"/>
            <a:chOff x="0" y="0"/>
            <a:chExt cx="4206240" cy="585216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4206240" cy="585216"/>
            </a:xfrm>
            <a:custGeom>
              <a:avLst/>
              <a:gdLst/>
              <a:ahLst/>
              <a:cxnLst/>
              <a:rect r="r" b="b" t="t" l="l"/>
              <a:pathLst>
                <a:path h="585216" w="4206240">
                  <a:moveTo>
                    <a:pt x="0" y="0"/>
                  </a:moveTo>
                  <a:lnTo>
                    <a:pt x="4206240" y="0"/>
                  </a:lnTo>
                  <a:lnTo>
                    <a:pt x="420624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0048" r="0" b="-90048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19050"/>
              <a:ext cx="4206240" cy="6042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Core Concept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678656" y="6370796"/>
            <a:ext cx="3580447" cy="1042988"/>
            <a:chOff x="0" y="0"/>
            <a:chExt cx="4773930" cy="139065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4773930" cy="1390650"/>
            </a:xfrm>
            <a:custGeom>
              <a:avLst/>
              <a:gdLst/>
              <a:ahLst/>
              <a:cxnLst/>
              <a:rect r="r" b="b" t="t" l="l"/>
              <a:pathLst>
                <a:path h="1390650" w="4773930">
                  <a:moveTo>
                    <a:pt x="0" y="0"/>
                  </a:moveTo>
                  <a:lnTo>
                    <a:pt x="4773930" y="0"/>
                  </a:lnTo>
                  <a:lnTo>
                    <a:pt x="4773930" y="1390650"/>
                  </a:lnTo>
                  <a:lnTo>
                    <a:pt x="0" y="1390650"/>
                  </a:lnTo>
                  <a:close/>
                </a:path>
              </a:pathLst>
            </a:custGeom>
            <a:solidFill>
              <a:srgbClr val="028090"/>
            </a:solidFill>
            <a:ln w="14288" cap="sq">
              <a:solidFill>
                <a:srgbClr val="028090"/>
              </a:solidFill>
              <a:prstDash val="solid"/>
              <a:miter/>
            </a:ln>
          </p:spPr>
        </p:sp>
      </p:grpSp>
      <p:grpSp>
        <p:nvGrpSpPr>
          <p:cNvPr name="Group 54" id="54"/>
          <p:cNvGrpSpPr/>
          <p:nvPr/>
        </p:nvGrpSpPr>
        <p:grpSpPr>
          <a:xfrm rot="0">
            <a:off x="754380" y="6377940"/>
            <a:ext cx="3429000" cy="1028700"/>
            <a:chOff x="0" y="0"/>
            <a:chExt cx="4572000" cy="137160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45720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4572000">
                  <a:moveTo>
                    <a:pt x="0" y="0"/>
                  </a:moveTo>
                  <a:lnTo>
                    <a:pt x="4572000" y="0"/>
                  </a:lnTo>
                  <a:lnTo>
                    <a:pt x="457200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950" r="0" b="-14950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9525"/>
              <a:ext cx="4572000" cy="13811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Register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4411790" y="6716078"/>
            <a:ext cx="393573" cy="338709"/>
            <a:chOff x="0" y="0"/>
            <a:chExt cx="524764" cy="451612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524764" cy="451612"/>
            </a:xfrm>
            <a:custGeom>
              <a:avLst/>
              <a:gdLst/>
              <a:ahLst/>
              <a:cxnLst/>
              <a:rect r="r" b="b" t="t" l="l"/>
              <a:pathLst>
                <a:path h="451612" w="524764">
                  <a:moveTo>
                    <a:pt x="0" y="112903"/>
                  </a:moveTo>
                  <a:lnTo>
                    <a:pt x="298958" y="112903"/>
                  </a:lnTo>
                  <a:lnTo>
                    <a:pt x="298958" y="0"/>
                  </a:lnTo>
                  <a:lnTo>
                    <a:pt x="524764" y="225806"/>
                  </a:lnTo>
                  <a:lnTo>
                    <a:pt x="298958" y="451612"/>
                  </a:lnTo>
                  <a:lnTo>
                    <a:pt x="298958" y="338709"/>
                  </a:lnTo>
                  <a:lnTo>
                    <a:pt x="0" y="338709"/>
                  </a:lnTo>
                  <a:close/>
                </a:path>
              </a:pathLst>
            </a:custGeom>
            <a:solidFill>
              <a:srgbClr val="C98A2C"/>
            </a:solidFill>
            <a:ln w="9525" cap="sq">
              <a:solidFill>
                <a:srgbClr val="C98A2C"/>
              </a:solidFill>
              <a:prstDash val="solid"/>
              <a:miter/>
            </a:ln>
          </p:spPr>
        </p:sp>
      </p:grpSp>
      <p:grpSp>
        <p:nvGrpSpPr>
          <p:cNvPr name="Group 59" id="59"/>
          <p:cNvGrpSpPr/>
          <p:nvPr/>
        </p:nvGrpSpPr>
        <p:grpSpPr>
          <a:xfrm rot="0">
            <a:off x="4930616" y="6370796"/>
            <a:ext cx="3580447" cy="1042988"/>
            <a:chOff x="0" y="0"/>
            <a:chExt cx="4773930" cy="139065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4773930" cy="1390650"/>
            </a:xfrm>
            <a:custGeom>
              <a:avLst/>
              <a:gdLst/>
              <a:ahLst/>
              <a:cxnLst/>
              <a:rect r="r" b="b" t="t" l="l"/>
              <a:pathLst>
                <a:path h="1390650" w="4773930">
                  <a:moveTo>
                    <a:pt x="0" y="0"/>
                  </a:moveTo>
                  <a:lnTo>
                    <a:pt x="4773930" y="0"/>
                  </a:lnTo>
                  <a:lnTo>
                    <a:pt x="4773930" y="1390650"/>
                  </a:lnTo>
                  <a:lnTo>
                    <a:pt x="0" y="1390650"/>
                  </a:lnTo>
                  <a:close/>
                </a:path>
              </a:pathLst>
            </a:custGeom>
            <a:solidFill>
              <a:srgbClr val="953734"/>
            </a:solidFill>
            <a:ln w="14288" cap="sq">
              <a:solidFill>
                <a:srgbClr val="953734"/>
              </a:solidFill>
              <a:prstDash val="solid"/>
              <a:miter/>
            </a:ln>
          </p:spPr>
        </p:sp>
      </p:grpSp>
      <p:grpSp>
        <p:nvGrpSpPr>
          <p:cNvPr name="Group 61" id="61"/>
          <p:cNvGrpSpPr/>
          <p:nvPr/>
        </p:nvGrpSpPr>
        <p:grpSpPr>
          <a:xfrm rot="0">
            <a:off x="5006340" y="6377940"/>
            <a:ext cx="3429000" cy="1028700"/>
            <a:chOff x="0" y="0"/>
            <a:chExt cx="4572000" cy="137160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45720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4572000">
                  <a:moveTo>
                    <a:pt x="0" y="0"/>
                  </a:moveTo>
                  <a:lnTo>
                    <a:pt x="4572000" y="0"/>
                  </a:lnTo>
                  <a:lnTo>
                    <a:pt x="457200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950" r="0" b="-14950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9525"/>
              <a:ext cx="4572000" cy="13811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Broadcast SOS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8663750" y="6716078"/>
            <a:ext cx="393573" cy="338709"/>
            <a:chOff x="0" y="0"/>
            <a:chExt cx="524764" cy="451612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524764" cy="451612"/>
            </a:xfrm>
            <a:custGeom>
              <a:avLst/>
              <a:gdLst/>
              <a:ahLst/>
              <a:cxnLst/>
              <a:rect r="r" b="b" t="t" l="l"/>
              <a:pathLst>
                <a:path h="451612" w="524764">
                  <a:moveTo>
                    <a:pt x="0" y="112903"/>
                  </a:moveTo>
                  <a:lnTo>
                    <a:pt x="298958" y="112903"/>
                  </a:lnTo>
                  <a:lnTo>
                    <a:pt x="298958" y="0"/>
                  </a:lnTo>
                  <a:lnTo>
                    <a:pt x="524764" y="225806"/>
                  </a:lnTo>
                  <a:lnTo>
                    <a:pt x="298958" y="451612"/>
                  </a:lnTo>
                  <a:lnTo>
                    <a:pt x="298958" y="338709"/>
                  </a:lnTo>
                  <a:lnTo>
                    <a:pt x="0" y="338709"/>
                  </a:lnTo>
                  <a:close/>
                </a:path>
              </a:pathLst>
            </a:custGeom>
            <a:solidFill>
              <a:srgbClr val="C98A2C"/>
            </a:solidFill>
            <a:ln w="9525" cap="sq">
              <a:solidFill>
                <a:srgbClr val="C98A2C"/>
              </a:solidFill>
              <a:prstDash val="solid"/>
              <a:miter/>
            </a:ln>
          </p:spPr>
        </p:sp>
      </p:grpSp>
      <p:grpSp>
        <p:nvGrpSpPr>
          <p:cNvPr name="Group 66" id="66"/>
          <p:cNvGrpSpPr/>
          <p:nvPr/>
        </p:nvGrpSpPr>
        <p:grpSpPr>
          <a:xfrm rot="0">
            <a:off x="9182576" y="6370796"/>
            <a:ext cx="3580447" cy="1042988"/>
            <a:chOff x="0" y="0"/>
            <a:chExt cx="4773930" cy="139065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4773930" cy="1390650"/>
            </a:xfrm>
            <a:custGeom>
              <a:avLst/>
              <a:gdLst/>
              <a:ahLst/>
              <a:cxnLst/>
              <a:rect r="r" b="b" t="t" l="l"/>
              <a:pathLst>
                <a:path h="1390650" w="4773930">
                  <a:moveTo>
                    <a:pt x="0" y="0"/>
                  </a:moveTo>
                  <a:lnTo>
                    <a:pt x="4773930" y="0"/>
                  </a:lnTo>
                  <a:lnTo>
                    <a:pt x="4773930" y="1390650"/>
                  </a:lnTo>
                  <a:lnTo>
                    <a:pt x="0" y="1390650"/>
                  </a:lnTo>
                  <a:close/>
                </a:path>
              </a:pathLst>
            </a:custGeom>
            <a:solidFill>
              <a:srgbClr val="C98A2C"/>
            </a:solidFill>
            <a:ln w="14288" cap="sq">
              <a:solidFill>
                <a:srgbClr val="C98A2C"/>
              </a:solidFill>
              <a:prstDash val="solid"/>
              <a:miter/>
            </a:ln>
          </p:spPr>
        </p:sp>
      </p:grpSp>
      <p:grpSp>
        <p:nvGrpSpPr>
          <p:cNvPr name="Group 68" id="68"/>
          <p:cNvGrpSpPr/>
          <p:nvPr/>
        </p:nvGrpSpPr>
        <p:grpSpPr>
          <a:xfrm rot="0">
            <a:off x="9258300" y="6377940"/>
            <a:ext cx="3429000" cy="1028700"/>
            <a:chOff x="0" y="0"/>
            <a:chExt cx="4572000" cy="137160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45720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4572000">
                  <a:moveTo>
                    <a:pt x="0" y="0"/>
                  </a:moveTo>
                  <a:lnTo>
                    <a:pt x="4572000" y="0"/>
                  </a:lnTo>
                  <a:lnTo>
                    <a:pt x="457200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950" r="0" b="-14950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9525"/>
              <a:ext cx="4572000" cy="13811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Match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12915710" y="6716078"/>
            <a:ext cx="393573" cy="338709"/>
            <a:chOff x="0" y="0"/>
            <a:chExt cx="524764" cy="451612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524764" cy="451612"/>
            </a:xfrm>
            <a:custGeom>
              <a:avLst/>
              <a:gdLst/>
              <a:ahLst/>
              <a:cxnLst/>
              <a:rect r="r" b="b" t="t" l="l"/>
              <a:pathLst>
                <a:path h="451612" w="524764">
                  <a:moveTo>
                    <a:pt x="0" y="112903"/>
                  </a:moveTo>
                  <a:lnTo>
                    <a:pt x="298958" y="112903"/>
                  </a:lnTo>
                  <a:lnTo>
                    <a:pt x="298958" y="0"/>
                  </a:lnTo>
                  <a:lnTo>
                    <a:pt x="524764" y="225806"/>
                  </a:lnTo>
                  <a:lnTo>
                    <a:pt x="298958" y="451612"/>
                  </a:lnTo>
                  <a:lnTo>
                    <a:pt x="298958" y="338709"/>
                  </a:lnTo>
                  <a:lnTo>
                    <a:pt x="0" y="338709"/>
                  </a:lnTo>
                  <a:close/>
                </a:path>
              </a:pathLst>
            </a:custGeom>
            <a:solidFill>
              <a:srgbClr val="C98A2C"/>
            </a:solidFill>
            <a:ln w="9525" cap="sq">
              <a:solidFill>
                <a:srgbClr val="C98A2C"/>
              </a:solidFill>
              <a:prstDash val="solid"/>
              <a:miter/>
            </a:ln>
          </p:spPr>
        </p:sp>
      </p:grpSp>
      <p:grpSp>
        <p:nvGrpSpPr>
          <p:cNvPr name="Group 73" id="73"/>
          <p:cNvGrpSpPr/>
          <p:nvPr/>
        </p:nvGrpSpPr>
        <p:grpSpPr>
          <a:xfrm rot="0">
            <a:off x="13434536" y="6370796"/>
            <a:ext cx="3580447" cy="1042988"/>
            <a:chOff x="0" y="0"/>
            <a:chExt cx="4773930" cy="1390650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4773930" cy="1390650"/>
            </a:xfrm>
            <a:custGeom>
              <a:avLst/>
              <a:gdLst/>
              <a:ahLst/>
              <a:cxnLst/>
              <a:rect r="r" b="b" t="t" l="l"/>
              <a:pathLst>
                <a:path h="1390650" w="4773930">
                  <a:moveTo>
                    <a:pt x="0" y="0"/>
                  </a:moveTo>
                  <a:lnTo>
                    <a:pt x="4773930" y="0"/>
                  </a:lnTo>
                  <a:lnTo>
                    <a:pt x="4773930" y="1390650"/>
                  </a:lnTo>
                  <a:lnTo>
                    <a:pt x="0" y="1390650"/>
                  </a:lnTo>
                  <a:close/>
                </a:path>
              </a:pathLst>
            </a:custGeom>
            <a:solidFill>
              <a:srgbClr val="6E2723"/>
            </a:solidFill>
            <a:ln w="14288" cap="sq">
              <a:solidFill>
                <a:srgbClr val="6E2723"/>
              </a:solidFill>
              <a:prstDash val="solid"/>
              <a:miter/>
            </a:ln>
          </p:spPr>
        </p:sp>
      </p:grpSp>
      <p:grpSp>
        <p:nvGrpSpPr>
          <p:cNvPr name="Group 75" id="75"/>
          <p:cNvGrpSpPr/>
          <p:nvPr/>
        </p:nvGrpSpPr>
        <p:grpSpPr>
          <a:xfrm rot="0">
            <a:off x="13510260" y="6377940"/>
            <a:ext cx="3429000" cy="1028700"/>
            <a:chOff x="0" y="0"/>
            <a:chExt cx="4572000" cy="1371600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45720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4572000">
                  <a:moveTo>
                    <a:pt x="0" y="0"/>
                  </a:moveTo>
                  <a:lnTo>
                    <a:pt x="4572000" y="0"/>
                  </a:lnTo>
                  <a:lnTo>
                    <a:pt x="457200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950" r="0" b="-14950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-9525"/>
              <a:ext cx="4572000" cy="13811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Contact</a:t>
              </a: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1097280" y="7886700"/>
            <a:ext cx="16047720" cy="1234440"/>
            <a:chOff x="0" y="0"/>
            <a:chExt cx="21396960" cy="1645920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21396961" cy="1645920"/>
            </a:xfrm>
            <a:custGeom>
              <a:avLst/>
              <a:gdLst/>
              <a:ahLst/>
              <a:cxnLst/>
              <a:rect r="r" b="b" t="t" l="l"/>
              <a:pathLst>
                <a:path h="1645920" w="21396961">
                  <a:moveTo>
                    <a:pt x="0" y="0"/>
                  </a:moveTo>
                  <a:lnTo>
                    <a:pt x="21396961" y="0"/>
                  </a:lnTo>
                  <a:lnTo>
                    <a:pt x="21396961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3305" r="0" b="-203305"/>
              </a:stretch>
            </a:blipFill>
          </p:spPr>
        </p:sp>
        <p:sp>
          <p:nvSpPr>
            <p:cNvPr name="TextBox 80" id="80"/>
            <p:cNvSpPr txBox="true"/>
            <p:nvPr/>
          </p:nvSpPr>
          <p:spPr>
            <a:xfrm>
              <a:off x="0" y="-19050"/>
              <a:ext cx="21396960" cy="16649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4A4A4A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Volunteers register by blood group and locality; when an emergency arises, an SOS is posted on a shared board so that matching, available donors in the same neighbourhood can be reached with a single click.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7144" y="102584"/>
            <a:ext cx="18301830" cy="864680"/>
            <a:chOff x="0" y="0"/>
            <a:chExt cx="24402440" cy="115290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152906"/>
            </a:xfrm>
            <a:custGeom>
              <a:avLst/>
              <a:gdLst/>
              <a:ahLst/>
              <a:cxnLst/>
              <a:rect r="r" b="b" t="t" l="l"/>
              <a:pathLst>
                <a:path h="1152906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152906"/>
                  </a:lnTo>
                  <a:lnTo>
                    <a:pt x="0" y="1152906"/>
                  </a:lnTo>
                  <a:close/>
                </a:path>
              </a:pathLst>
            </a:custGeom>
            <a:solidFill>
              <a:srgbClr val="953734"/>
            </a:solidFill>
            <a:ln w="14288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411480" y="109728"/>
            <a:ext cx="17464583" cy="850392"/>
            <a:chOff x="0" y="0"/>
            <a:chExt cx="23286110" cy="113385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3286110" cy="1133856"/>
            </a:xfrm>
            <a:custGeom>
              <a:avLst/>
              <a:gdLst/>
              <a:ahLst/>
              <a:cxnLst/>
              <a:rect r="r" b="b" t="t" l="l"/>
              <a:pathLst>
                <a:path h="1133856" w="23286110">
                  <a:moveTo>
                    <a:pt x="0" y="0"/>
                  </a:moveTo>
                  <a:lnTo>
                    <a:pt x="23286110" y="0"/>
                  </a:lnTo>
                  <a:lnTo>
                    <a:pt x="2328611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0166" r="0" b="-35016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23286110" cy="11529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60"/>
                </a:lnSpc>
              </a:pPr>
              <a:r>
                <a:rPr lang="en-US" sz="3300" b="true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Abstract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7323308" y="9738360"/>
            <a:ext cx="685800" cy="411480"/>
            <a:chOff x="0" y="0"/>
            <a:chExt cx="914400" cy="5486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91440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99999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2</a:t>
              </a: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685800" y="1146810"/>
            <a:ext cx="16870680" cy="1459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2B2B2B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During medical emergencies, families lose precious time searching for a matching blood donor through scattered phone calls and messaging groups. This project provides a neighbourhood-level web directory where volunteers register by blood group and locality, requesters broadcast urgent SOS alerts, and matching donors can be contacted instantly.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678656" y="2736056"/>
            <a:ext cx="3854767" cy="453200"/>
            <a:chOff x="0" y="0"/>
            <a:chExt cx="5139690" cy="60426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139690" cy="604266"/>
            </a:xfrm>
            <a:custGeom>
              <a:avLst/>
              <a:gdLst/>
              <a:ahLst/>
              <a:cxnLst/>
              <a:rect r="r" b="b" t="t" l="l"/>
              <a:pathLst>
                <a:path h="604266" w="5139690">
                  <a:moveTo>
                    <a:pt x="0" y="0"/>
                  </a:moveTo>
                  <a:lnTo>
                    <a:pt x="5139690" y="0"/>
                  </a:lnTo>
                  <a:lnTo>
                    <a:pt x="5139690" y="604266"/>
                  </a:lnTo>
                  <a:lnTo>
                    <a:pt x="0" y="604266"/>
                  </a:lnTo>
                  <a:close/>
                </a:path>
              </a:pathLst>
            </a:custGeom>
            <a:solidFill>
              <a:srgbClr val="028090"/>
            </a:solidFill>
            <a:ln w="14288" cap="sq">
              <a:solidFill>
                <a:srgbClr val="028090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754380" y="2743200"/>
            <a:ext cx="3703320" cy="438912"/>
            <a:chOff x="0" y="0"/>
            <a:chExt cx="4937760" cy="58521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937760" cy="585216"/>
            </a:xfrm>
            <a:custGeom>
              <a:avLst/>
              <a:gdLst/>
              <a:ahLst/>
              <a:cxnLst/>
              <a:rect r="r" b="b" t="t" l="l"/>
              <a:pathLst>
                <a:path h="585216" w="4937760">
                  <a:moveTo>
                    <a:pt x="0" y="0"/>
                  </a:moveTo>
                  <a:lnTo>
                    <a:pt x="4937760" y="0"/>
                  </a:lnTo>
                  <a:lnTo>
                    <a:pt x="493776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4405" r="0" b="-114405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19050"/>
              <a:ext cx="4937760" cy="6042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Four Major Features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678656" y="3312128"/>
            <a:ext cx="4060508" cy="2140267"/>
            <a:chOff x="0" y="0"/>
            <a:chExt cx="5414010" cy="285369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414010" cy="2853690"/>
            </a:xfrm>
            <a:custGeom>
              <a:avLst/>
              <a:gdLst/>
              <a:ahLst/>
              <a:cxnLst/>
              <a:rect r="r" b="b" t="t" l="l"/>
              <a:pathLst>
                <a:path h="2853690" w="5414010">
                  <a:moveTo>
                    <a:pt x="0" y="0"/>
                  </a:moveTo>
                  <a:lnTo>
                    <a:pt x="5414010" y="0"/>
                  </a:lnTo>
                  <a:lnTo>
                    <a:pt x="5414010" y="2853690"/>
                  </a:lnTo>
                  <a:lnTo>
                    <a:pt x="0" y="2853690"/>
                  </a:lnTo>
                  <a:close/>
                </a:path>
              </a:pathLst>
            </a:custGeom>
            <a:solidFill>
              <a:srgbClr val="F7EDEA"/>
            </a:solidFill>
            <a:ln w="14288" cap="sq">
              <a:solidFill>
                <a:srgbClr val="E3CFC9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886777" y="3520250"/>
            <a:ext cx="475869" cy="475869"/>
            <a:chOff x="0" y="0"/>
            <a:chExt cx="634492" cy="634492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34492" cy="634492"/>
            </a:xfrm>
            <a:custGeom>
              <a:avLst/>
              <a:gdLst/>
              <a:ahLst/>
              <a:cxnLst/>
              <a:rect r="r" b="b" t="t" l="l"/>
              <a:pathLst>
                <a:path h="634492" w="634492">
                  <a:moveTo>
                    <a:pt x="0" y="317246"/>
                  </a:moveTo>
                  <a:cubicBezTo>
                    <a:pt x="0" y="141986"/>
                    <a:pt x="141986" y="0"/>
                    <a:pt x="317246" y="0"/>
                  </a:cubicBezTo>
                  <a:cubicBezTo>
                    <a:pt x="492506" y="0"/>
                    <a:pt x="634492" y="141986"/>
                    <a:pt x="634492" y="317246"/>
                  </a:cubicBezTo>
                  <a:cubicBezTo>
                    <a:pt x="634492" y="492506"/>
                    <a:pt x="492506" y="634492"/>
                    <a:pt x="317246" y="634492"/>
                  </a:cubicBezTo>
                  <a:cubicBezTo>
                    <a:pt x="141986" y="634492"/>
                    <a:pt x="0" y="492506"/>
                    <a:pt x="0" y="317246"/>
                  </a:cubicBezTo>
                  <a:close/>
                </a:path>
              </a:pathLst>
            </a:custGeom>
            <a:solidFill>
              <a:srgbClr val="028090"/>
            </a:solidFill>
            <a:ln w="9525" cap="sq">
              <a:solidFill>
                <a:srgbClr val="028090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891540" y="3525012"/>
            <a:ext cx="466344" cy="466344"/>
            <a:chOff x="0" y="0"/>
            <a:chExt cx="621792" cy="62179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21792" cy="621792"/>
            </a:xfrm>
            <a:custGeom>
              <a:avLst/>
              <a:gdLst/>
              <a:ahLst/>
              <a:cxnLst/>
              <a:rect r="r" b="b" t="t" l="l"/>
              <a:pathLst>
                <a:path h="621792" w="621792">
                  <a:moveTo>
                    <a:pt x="0" y="0"/>
                  </a:moveTo>
                  <a:lnTo>
                    <a:pt x="621792" y="0"/>
                  </a:lnTo>
                  <a:lnTo>
                    <a:pt x="621792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19050"/>
              <a:ext cx="621792" cy="6408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1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508760" y="3483864"/>
            <a:ext cx="3017520" cy="548640"/>
            <a:chOff x="0" y="0"/>
            <a:chExt cx="4023360" cy="73152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023360" cy="731520"/>
            </a:xfrm>
            <a:custGeom>
              <a:avLst/>
              <a:gdLst/>
              <a:ahLst/>
              <a:cxnLst/>
              <a:rect r="r" b="b" t="t" l="l"/>
              <a:pathLst>
                <a:path h="731520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7167" r="0" b="-57167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19050"/>
              <a:ext cx="402336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2B2B2B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Volunteer Registration</a:t>
              </a: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960120" y="4095750"/>
            <a:ext cx="3497580" cy="1184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4A4A4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Donors sign up with blood group and locality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4930616" y="3312128"/>
            <a:ext cx="4060508" cy="2140267"/>
            <a:chOff x="0" y="0"/>
            <a:chExt cx="5414010" cy="285369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414010" cy="2853690"/>
            </a:xfrm>
            <a:custGeom>
              <a:avLst/>
              <a:gdLst/>
              <a:ahLst/>
              <a:cxnLst/>
              <a:rect r="r" b="b" t="t" l="l"/>
              <a:pathLst>
                <a:path h="2853690" w="5414010">
                  <a:moveTo>
                    <a:pt x="0" y="0"/>
                  </a:moveTo>
                  <a:lnTo>
                    <a:pt x="5414010" y="0"/>
                  </a:lnTo>
                  <a:lnTo>
                    <a:pt x="5414010" y="2853690"/>
                  </a:lnTo>
                  <a:lnTo>
                    <a:pt x="0" y="2853690"/>
                  </a:lnTo>
                  <a:close/>
                </a:path>
              </a:pathLst>
            </a:custGeom>
            <a:solidFill>
              <a:srgbClr val="F7EDEA"/>
            </a:solidFill>
            <a:ln w="14288" cap="sq">
              <a:solidFill>
                <a:srgbClr val="E3CFC9"/>
              </a:solidFill>
              <a:prstDash val="solid"/>
              <a:miter/>
            </a:ln>
          </p:spPr>
        </p:sp>
      </p:grpSp>
      <p:grpSp>
        <p:nvGrpSpPr>
          <p:cNvPr name="Group 29" id="29"/>
          <p:cNvGrpSpPr/>
          <p:nvPr/>
        </p:nvGrpSpPr>
        <p:grpSpPr>
          <a:xfrm rot="0">
            <a:off x="5138738" y="3520250"/>
            <a:ext cx="475869" cy="475869"/>
            <a:chOff x="0" y="0"/>
            <a:chExt cx="634492" cy="634492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634492" cy="634492"/>
            </a:xfrm>
            <a:custGeom>
              <a:avLst/>
              <a:gdLst/>
              <a:ahLst/>
              <a:cxnLst/>
              <a:rect r="r" b="b" t="t" l="l"/>
              <a:pathLst>
                <a:path h="634492" w="634492">
                  <a:moveTo>
                    <a:pt x="0" y="317246"/>
                  </a:moveTo>
                  <a:cubicBezTo>
                    <a:pt x="0" y="141986"/>
                    <a:pt x="141986" y="0"/>
                    <a:pt x="317246" y="0"/>
                  </a:cubicBezTo>
                  <a:cubicBezTo>
                    <a:pt x="492506" y="0"/>
                    <a:pt x="634492" y="141986"/>
                    <a:pt x="634492" y="317246"/>
                  </a:cubicBezTo>
                  <a:cubicBezTo>
                    <a:pt x="634492" y="492506"/>
                    <a:pt x="492506" y="634492"/>
                    <a:pt x="317246" y="634492"/>
                  </a:cubicBezTo>
                  <a:cubicBezTo>
                    <a:pt x="141986" y="634492"/>
                    <a:pt x="0" y="492506"/>
                    <a:pt x="0" y="317246"/>
                  </a:cubicBezTo>
                  <a:close/>
                </a:path>
              </a:pathLst>
            </a:custGeom>
            <a:solidFill>
              <a:srgbClr val="953734"/>
            </a:solidFill>
            <a:ln w="9525" cap="sq">
              <a:solidFill>
                <a:srgbClr val="953734"/>
              </a:solidFill>
              <a:prstDash val="solid"/>
              <a:miter/>
            </a:ln>
          </p:spPr>
        </p:sp>
      </p:grpSp>
      <p:grpSp>
        <p:nvGrpSpPr>
          <p:cNvPr name="Group 31" id="31"/>
          <p:cNvGrpSpPr/>
          <p:nvPr/>
        </p:nvGrpSpPr>
        <p:grpSpPr>
          <a:xfrm rot="0">
            <a:off x="5143500" y="3525012"/>
            <a:ext cx="466344" cy="466344"/>
            <a:chOff x="0" y="0"/>
            <a:chExt cx="621792" cy="621792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621792" cy="621792"/>
            </a:xfrm>
            <a:custGeom>
              <a:avLst/>
              <a:gdLst/>
              <a:ahLst/>
              <a:cxnLst/>
              <a:rect r="r" b="b" t="t" l="l"/>
              <a:pathLst>
                <a:path h="621792" w="621792">
                  <a:moveTo>
                    <a:pt x="0" y="0"/>
                  </a:moveTo>
                  <a:lnTo>
                    <a:pt x="621792" y="0"/>
                  </a:lnTo>
                  <a:lnTo>
                    <a:pt x="621792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19050"/>
              <a:ext cx="621792" cy="6408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2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5760720" y="3483864"/>
            <a:ext cx="3017520" cy="548640"/>
            <a:chOff x="0" y="0"/>
            <a:chExt cx="4023360" cy="73152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4023360" cy="731520"/>
            </a:xfrm>
            <a:custGeom>
              <a:avLst/>
              <a:gdLst/>
              <a:ahLst/>
              <a:cxnLst/>
              <a:rect r="r" b="b" t="t" l="l"/>
              <a:pathLst>
                <a:path h="731520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7167" r="0" b="-57167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19050"/>
              <a:ext cx="402336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2B2B2B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SOS Request Board</a:t>
              </a:r>
            </a:p>
          </p:txBody>
        </p:sp>
      </p:grpSp>
      <p:sp>
        <p:nvSpPr>
          <p:cNvPr name="TextBox 37" id="37"/>
          <p:cNvSpPr txBox="true"/>
          <p:nvPr/>
        </p:nvSpPr>
        <p:spPr>
          <a:xfrm rot="0">
            <a:off x="5212080" y="4095750"/>
            <a:ext cx="3497580" cy="1184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4A4A4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Urgent requests broadcast to the whole network</a:t>
            </a:r>
          </a:p>
        </p:txBody>
      </p:sp>
      <p:grpSp>
        <p:nvGrpSpPr>
          <p:cNvPr name="Group 38" id="38"/>
          <p:cNvGrpSpPr/>
          <p:nvPr/>
        </p:nvGrpSpPr>
        <p:grpSpPr>
          <a:xfrm rot="0">
            <a:off x="9182576" y="3312128"/>
            <a:ext cx="4060508" cy="2140267"/>
            <a:chOff x="0" y="0"/>
            <a:chExt cx="5414010" cy="285369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5414010" cy="2853690"/>
            </a:xfrm>
            <a:custGeom>
              <a:avLst/>
              <a:gdLst/>
              <a:ahLst/>
              <a:cxnLst/>
              <a:rect r="r" b="b" t="t" l="l"/>
              <a:pathLst>
                <a:path h="2853690" w="5414010">
                  <a:moveTo>
                    <a:pt x="0" y="0"/>
                  </a:moveTo>
                  <a:lnTo>
                    <a:pt x="5414010" y="0"/>
                  </a:lnTo>
                  <a:lnTo>
                    <a:pt x="5414010" y="2853690"/>
                  </a:lnTo>
                  <a:lnTo>
                    <a:pt x="0" y="2853690"/>
                  </a:lnTo>
                  <a:close/>
                </a:path>
              </a:pathLst>
            </a:custGeom>
            <a:solidFill>
              <a:srgbClr val="F7EDEA"/>
            </a:solidFill>
            <a:ln w="14288" cap="sq">
              <a:solidFill>
                <a:srgbClr val="E3CFC9"/>
              </a:solidFill>
              <a:prstDash val="solid"/>
              <a:miter/>
            </a:ln>
          </p:spPr>
        </p:sp>
      </p:grpSp>
      <p:grpSp>
        <p:nvGrpSpPr>
          <p:cNvPr name="Group 40" id="40"/>
          <p:cNvGrpSpPr/>
          <p:nvPr/>
        </p:nvGrpSpPr>
        <p:grpSpPr>
          <a:xfrm rot="0">
            <a:off x="9390698" y="3520250"/>
            <a:ext cx="475869" cy="475869"/>
            <a:chOff x="0" y="0"/>
            <a:chExt cx="634492" cy="634492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634492" cy="634492"/>
            </a:xfrm>
            <a:custGeom>
              <a:avLst/>
              <a:gdLst/>
              <a:ahLst/>
              <a:cxnLst/>
              <a:rect r="r" b="b" t="t" l="l"/>
              <a:pathLst>
                <a:path h="634492" w="634492">
                  <a:moveTo>
                    <a:pt x="0" y="317246"/>
                  </a:moveTo>
                  <a:cubicBezTo>
                    <a:pt x="0" y="141986"/>
                    <a:pt x="141986" y="0"/>
                    <a:pt x="317246" y="0"/>
                  </a:cubicBezTo>
                  <a:cubicBezTo>
                    <a:pt x="492506" y="0"/>
                    <a:pt x="634492" y="141986"/>
                    <a:pt x="634492" y="317246"/>
                  </a:cubicBezTo>
                  <a:cubicBezTo>
                    <a:pt x="634492" y="492506"/>
                    <a:pt x="492506" y="634492"/>
                    <a:pt x="317246" y="634492"/>
                  </a:cubicBezTo>
                  <a:cubicBezTo>
                    <a:pt x="141986" y="634492"/>
                    <a:pt x="0" y="492506"/>
                    <a:pt x="0" y="317246"/>
                  </a:cubicBezTo>
                  <a:close/>
                </a:path>
              </a:pathLst>
            </a:custGeom>
            <a:solidFill>
              <a:srgbClr val="C98A2C"/>
            </a:solidFill>
            <a:ln w="9525" cap="sq">
              <a:solidFill>
                <a:srgbClr val="C98A2C"/>
              </a:solidFill>
              <a:prstDash val="solid"/>
              <a:miter/>
            </a:ln>
          </p:spPr>
        </p:sp>
      </p:grpSp>
      <p:grpSp>
        <p:nvGrpSpPr>
          <p:cNvPr name="Group 42" id="42"/>
          <p:cNvGrpSpPr/>
          <p:nvPr/>
        </p:nvGrpSpPr>
        <p:grpSpPr>
          <a:xfrm rot="0">
            <a:off x="9395460" y="3525012"/>
            <a:ext cx="466344" cy="466344"/>
            <a:chOff x="0" y="0"/>
            <a:chExt cx="621792" cy="621792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621792" cy="621792"/>
            </a:xfrm>
            <a:custGeom>
              <a:avLst/>
              <a:gdLst/>
              <a:ahLst/>
              <a:cxnLst/>
              <a:rect r="r" b="b" t="t" l="l"/>
              <a:pathLst>
                <a:path h="621792" w="621792">
                  <a:moveTo>
                    <a:pt x="0" y="0"/>
                  </a:moveTo>
                  <a:lnTo>
                    <a:pt x="621792" y="0"/>
                  </a:lnTo>
                  <a:lnTo>
                    <a:pt x="621792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19050"/>
              <a:ext cx="621792" cy="6408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3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0012680" y="3483864"/>
            <a:ext cx="3017520" cy="548640"/>
            <a:chOff x="0" y="0"/>
            <a:chExt cx="4023360" cy="73152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4023360" cy="731520"/>
            </a:xfrm>
            <a:custGeom>
              <a:avLst/>
              <a:gdLst/>
              <a:ahLst/>
              <a:cxnLst/>
              <a:rect r="r" b="b" t="t" l="l"/>
              <a:pathLst>
                <a:path h="731520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7167" r="0" b="-57167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19050"/>
              <a:ext cx="402336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2B2B2B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One-Click Contact</a:t>
              </a:r>
            </a:p>
          </p:txBody>
        </p:sp>
      </p:grpSp>
      <p:sp>
        <p:nvSpPr>
          <p:cNvPr name="TextBox 48" id="48"/>
          <p:cNvSpPr txBox="true"/>
          <p:nvPr/>
        </p:nvSpPr>
        <p:spPr>
          <a:xfrm rot="0">
            <a:off x="9464040" y="4095750"/>
            <a:ext cx="3497580" cy="1184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4A4A4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Direct call / WhatsApp link to the donor</a:t>
            </a:r>
          </a:p>
        </p:txBody>
      </p:sp>
      <p:grpSp>
        <p:nvGrpSpPr>
          <p:cNvPr name="Group 49" id="49"/>
          <p:cNvGrpSpPr/>
          <p:nvPr/>
        </p:nvGrpSpPr>
        <p:grpSpPr>
          <a:xfrm rot="0">
            <a:off x="13434536" y="3312128"/>
            <a:ext cx="4060508" cy="2140267"/>
            <a:chOff x="0" y="0"/>
            <a:chExt cx="5414010" cy="285369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5414010" cy="2853690"/>
            </a:xfrm>
            <a:custGeom>
              <a:avLst/>
              <a:gdLst/>
              <a:ahLst/>
              <a:cxnLst/>
              <a:rect r="r" b="b" t="t" l="l"/>
              <a:pathLst>
                <a:path h="2853690" w="5414010">
                  <a:moveTo>
                    <a:pt x="0" y="0"/>
                  </a:moveTo>
                  <a:lnTo>
                    <a:pt x="5414010" y="0"/>
                  </a:lnTo>
                  <a:lnTo>
                    <a:pt x="5414010" y="2853690"/>
                  </a:lnTo>
                  <a:lnTo>
                    <a:pt x="0" y="2853690"/>
                  </a:lnTo>
                  <a:close/>
                </a:path>
              </a:pathLst>
            </a:custGeom>
            <a:solidFill>
              <a:srgbClr val="F7EDEA"/>
            </a:solidFill>
            <a:ln w="14288" cap="sq">
              <a:solidFill>
                <a:srgbClr val="E3CFC9"/>
              </a:solidFill>
              <a:prstDash val="solid"/>
              <a:miter/>
            </a:ln>
          </p:spPr>
        </p:sp>
      </p:grpSp>
      <p:grpSp>
        <p:nvGrpSpPr>
          <p:cNvPr name="Group 51" id="51"/>
          <p:cNvGrpSpPr/>
          <p:nvPr/>
        </p:nvGrpSpPr>
        <p:grpSpPr>
          <a:xfrm rot="0">
            <a:off x="13642657" y="3520250"/>
            <a:ext cx="475869" cy="475869"/>
            <a:chOff x="0" y="0"/>
            <a:chExt cx="634492" cy="634492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634492" cy="634492"/>
            </a:xfrm>
            <a:custGeom>
              <a:avLst/>
              <a:gdLst/>
              <a:ahLst/>
              <a:cxnLst/>
              <a:rect r="r" b="b" t="t" l="l"/>
              <a:pathLst>
                <a:path h="634492" w="634492">
                  <a:moveTo>
                    <a:pt x="0" y="317246"/>
                  </a:moveTo>
                  <a:cubicBezTo>
                    <a:pt x="0" y="141986"/>
                    <a:pt x="141986" y="0"/>
                    <a:pt x="317246" y="0"/>
                  </a:cubicBezTo>
                  <a:cubicBezTo>
                    <a:pt x="492506" y="0"/>
                    <a:pt x="634492" y="141986"/>
                    <a:pt x="634492" y="317246"/>
                  </a:cubicBezTo>
                  <a:cubicBezTo>
                    <a:pt x="634492" y="492506"/>
                    <a:pt x="492506" y="634492"/>
                    <a:pt x="317246" y="634492"/>
                  </a:cubicBezTo>
                  <a:cubicBezTo>
                    <a:pt x="141986" y="634492"/>
                    <a:pt x="0" y="492506"/>
                    <a:pt x="0" y="317246"/>
                  </a:cubicBezTo>
                  <a:close/>
                </a:path>
              </a:pathLst>
            </a:custGeom>
            <a:solidFill>
              <a:srgbClr val="6E2723"/>
            </a:solidFill>
            <a:ln w="9525" cap="sq">
              <a:solidFill>
                <a:srgbClr val="6E2723"/>
              </a:solidFill>
              <a:prstDash val="solid"/>
              <a:miter/>
            </a:ln>
          </p:spPr>
        </p:sp>
      </p:grpSp>
      <p:grpSp>
        <p:nvGrpSpPr>
          <p:cNvPr name="Group 53" id="53"/>
          <p:cNvGrpSpPr/>
          <p:nvPr/>
        </p:nvGrpSpPr>
        <p:grpSpPr>
          <a:xfrm rot="0">
            <a:off x="13647420" y="3525012"/>
            <a:ext cx="466344" cy="466344"/>
            <a:chOff x="0" y="0"/>
            <a:chExt cx="621792" cy="621792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621792" cy="621792"/>
            </a:xfrm>
            <a:custGeom>
              <a:avLst/>
              <a:gdLst/>
              <a:ahLst/>
              <a:cxnLst/>
              <a:rect r="r" b="b" t="t" l="l"/>
              <a:pathLst>
                <a:path h="621792" w="621792">
                  <a:moveTo>
                    <a:pt x="0" y="0"/>
                  </a:moveTo>
                  <a:lnTo>
                    <a:pt x="621792" y="0"/>
                  </a:lnTo>
                  <a:lnTo>
                    <a:pt x="621792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19050"/>
              <a:ext cx="621792" cy="6408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4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4264640" y="3483864"/>
            <a:ext cx="3017520" cy="548640"/>
            <a:chOff x="0" y="0"/>
            <a:chExt cx="4023360" cy="73152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4023360" cy="731520"/>
            </a:xfrm>
            <a:custGeom>
              <a:avLst/>
              <a:gdLst/>
              <a:ahLst/>
              <a:cxnLst/>
              <a:rect r="r" b="b" t="t" l="l"/>
              <a:pathLst>
                <a:path h="731520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7167" r="0" b="-57167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19050"/>
              <a:ext cx="402336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2B2B2B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Availability Toggle</a:t>
              </a:r>
            </a:p>
          </p:txBody>
        </p:sp>
      </p:grpSp>
      <p:sp>
        <p:nvSpPr>
          <p:cNvPr name="TextBox 59" id="59"/>
          <p:cNvSpPr txBox="true"/>
          <p:nvPr/>
        </p:nvSpPr>
        <p:spPr>
          <a:xfrm rot="0">
            <a:off x="13716000" y="4095750"/>
            <a:ext cx="3497580" cy="1184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4A4A4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Donors switch themselves on or off</a:t>
            </a:r>
          </a:p>
        </p:txBody>
      </p:sp>
      <p:grpSp>
        <p:nvGrpSpPr>
          <p:cNvPr name="Group 60" id="60"/>
          <p:cNvGrpSpPr/>
          <p:nvPr/>
        </p:nvGrpSpPr>
        <p:grpSpPr>
          <a:xfrm rot="0">
            <a:off x="678656" y="5684996"/>
            <a:ext cx="3854767" cy="453200"/>
            <a:chOff x="0" y="0"/>
            <a:chExt cx="5139690" cy="604266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5139690" cy="604266"/>
            </a:xfrm>
            <a:custGeom>
              <a:avLst/>
              <a:gdLst/>
              <a:ahLst/>
              <a:cxnLst/>
              <a:rect r="r" b="b" t="t" l="l"/>
              <a:pathLst>
                <a:path h="604266" w="5139690">
                  <a:moveTo>
                    <a:pt x="0" y="0"/>
                  </a:moveTo>
                  <a:lnTo>
                    <a:pt x="5139690" y="0"/>
                  </a:lnTo>
                  <a:lnTo>
                    <a:pt x="5139690" y="604266"/>
                  </a:lnTo>
                  <a:lnTo>
                    <a:pt x="0" y="604266"/>
                  </a:lnTo>
                  <a:close/>
                </a:path>
              </a:pathLst>
            </a:custGeom>
            <a:solidFill>
              <a:srgbClr val="444444"/>
            </a:solidFill>
            <a:ln w="14288" cap="sq">
              <a:solidFill>
                <a:srgbClr val="444444"/>
              </a:solidFill>
              <a:prstDash val="solid"/>
              <a:miter/>
            </a:ln>
          </p:spPr>
        </p:sp>
      </p:grpSp>
      <p:grpSp>
        <p:nvGrpSpPr>
          <p:cNvPr name="Group 62" id="62"/>
          <p:cNvGrpSpPr/>
          <p:nvPr/>
        </p:nvGrpSpPr>
        <p:grpSpPr>
          <a:xfrm rot="0">
            <a:off x="754380" y="5692140"/>
            <a:ext cx="3703320" cy="438912"/>
            <a:chOff x="0" y="0"/>
            <a:chExt cx="4937760" cy="585216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4937760" cy="585216"/>
            </a:xfrm>
            <a:custGeom>
              <a:avLst/>
              <a:gdLst/>
              <a:ahLst/>
              <a:cxnLst/>
              <a:rect r="r" b="b" t="t" l="l"/>
              <a:pathLst>
                <a:path h="585216" w="4937760">
                  <a:moveTo>
                    <a:pt x="0" y="0"/>
                  </a:moveTo>
                  <a:lnTo>
                    <a:pt x="4937760" y="0"/>
                  </a:lnTo>
                  <a:lnTo>
                    <a:pt x="493776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4405" r="0" b="-114405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19050"/>
              <a:ext cx="4937760" cy="6042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Additional Support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678656" y="6233636"/>
            <a:ext cx="5432108" cy="700088"/>
            <a:chOff x="0" y="0"/>
            <a:chExt cx="7242810" cy="93345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7242810" cy="933450"/>
            </a:xfrm>
            <a:custGeom>
              <a:avLst/>
              <a:gdLst/>
              <a:ahLst/>
              <a:cxnLst/>
              <a:rect r="r" b="b" t="t" l="l"/>
              <a:pathLst>
                <a:path h="933450" w="7242810">
                  <a:moveTo>
                    <a:pt x="0" y="0"/>
                  </a:moveTo>
                  <a:lnTo>
                    <a:pt x="7242810" y="0"/>
                  </a:lnTo>
                  <a:lnTo>
                    <a:pt x="7242810" y="933450"/>
                  </a:lnTo>
                  <a:lnTo>
                    <a:pt x="0" y="933450"/>
                  </a:lnTo>
                  <a:close/>
                </a:path>
              </a:pathLst>
            </a:custGeom>
            <a:solidFill>
              <a:srgbClr val="444444"/>
            </a:solidFill>
            <a:ln w="14288" cap="sq">
              <a:solidFill>
                <a:srgbClr val="444444"/>
              </a:solidFill>
              <a:prstDash val="solid"/>
              <a:miter/>
            </a:ln>
          </p:spPr>
        </p:sp>
      </p:grpSp>
      <p:grpSp>
        <p:nvGrpSpPr>
          <p:cNvPr name="Group 67" id="67"/>
          <p:cNvGrpSpPr/>
          <p:nvPr/>
        </p:nvGrpSpPr>
        <p:grpSpPr>
          <a:xfrm rot="0">
            <a:off x="754380" y="6240780"/>
            <a:ext cx="5280660" cy="685800"/>
            <a:chOff x="0" y="0"/>
            <a:chExt cx="7040880" cy="91440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7040880" cy="914400"/>
            </a:xfrm>
            <a:custGeom>
              <a:avLst/>
              <a:gdLst/>
              <a:ahLst/>
              <a:cxnLst/>
              <a:rect r="r" b="b" t="t" l="l"/>
              <a:pathLst>
                <a:path h="914400" w="7040880">
                  <a:moveTo>
                    <a:pt x="0" y="0"/>
                  </a:moveTo>
                  <a:lnTo>
                    <a:pt x="7040880" y="0"/>
                  </a:lnTo>
                  <a:lnTo>
                    <a:pt x="704088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0034" r="0" b="-100034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19050"/>
              <a:ext cx="7040880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Blood-Group Filter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6370796" y="6233636"/>
            <a:ext cx="5432108" cy="700088"/>
            <a:chOff x="0" y="0"/>
            <a:chExt cx="7242810" cy="93345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7242810" cy="933450"/>
            </a:xfrm>
            <a:custGeom>
              <a:avLst/>
              <a:gdLst/>
              <a:ahLst/>
              <a:cxnLst/>
              <a:rect r="r" b="b" t="t" l="l"/>
              <a:pathLst>
                <a:path h="933450" w="7242810">
                  <a:moveTo>
                    <a:pt x="0" y="0"/>
                  </a:moveTo>
                  <a:lnTo>
                    <a:pt x="7242810" y="0"/>
                  </a:lnTo>
                  <a:lnTo>
                    <a:pt x="7242810" y="933450"/>
                  </a:lnTo>
                  <a:lnTo>
                    <a:pt x="0" y="933450"/>
                  </a:lnTo>
                  <a:close/>
                </a:path>
              </a:pathLst>
            </a:custGeom>
            <a:solidFill>
              <a:srgbClr val="444444"/>
            </a:solidFill>
            <a:ln w="14288" cap="sq">
              <a:solidFill>
                <a:srgbClr val="444444"/>
              </a:solidFill>
              <a:prstDash val="solid"/>
              <a:miter/>
            </a:ln>
          </p:spPr>
        </p:sp>
      </p:grpSp>
      <p:grpSp>
        <p:nvGrpSpPr>
          <p:cNvPr name="Group 72" id="72"/>
          <p:cNvGrpSpPr/>
          <p:nvPr/>
        </p:nvGrpSpPr>
        <p:grpSpPr>
          <a:xfrm rot="0">
            <a:off x="6446520" y="6240780"/>
            <a:ext cx="5280660" cy="685800"/>
            <a:chOff x="0" y="0"/>
            <a:chExt cx="7040880" cy="91440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7040880" cy="914400"/>
            </a:xfrm>
            <a:custGeom>
              <a:avLst/>
              <a:gdLst/>
              <a:ahLst/>
              <a:cxnLst/>
              <a:rect r="r" b="b" t="t" l="l"/>
              <a:pathLst>
                <a:path h="914400" w="7040880">
                  <a:moveTo>
                    <a:pt x="0" y="0"/>
                  </a:moveTo>
                  <a:lnTo>
                    <a:pt x="7040880" y="0"/>
                  </a:lnTo>
                  <a:lnTo>
                    <a:pt x="704088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0034" r="0" b="-100034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19050"/>
              <a:ext cx="7040880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Locality Filter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12062936" y="6233636"/>
            <a:ext cx="5432108" cy="700088"/>
            <a:chOff x="0" y="0"/>
            <a:chExt cx="7242810" cy="933450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7242810" cy="933450"/>
            </a:xfrm>
            <a:custGeom>
              <a:avLst/>
              <a:gdLst/>
              <a:ahLst/>
              <a:cxnLst/>
              <a:rect r="r" b="b" t="t" l="l"/>
              <a:pathLst>
                <a:path h="933450" w="7242810">
                  <a:moveTo>
                    <a:pt x="0" y="0"/>
                  </a:moveTo>
                  <a:lnTo>
                    <a:pt x="7242810" y="0"/>
                  </a:lnTo>
                  <a:lnTo>
                    <a:pt x="7242810" y="933450"/>
                  </a:lnTo>
                  <a:lnTo>
                    <a:pt x="0" y="933450"/>
                  </a:lnTo>
                  <a:close/>
                </a:path>
              </a:pathLst>
            </a:custGeom>
            <a:solidFill>
              <a:srgbClr val="444444"/>
            </a:solidFill>
            <a:ln w="14288" cap="sq">
              <a:solidFill>
                <a:srgbClr val="444444"/>
              </a:solidFill>
              <a:prstDash val="solid"/>
              <a:miter/>
            </a:ln>
          </p:spPr>
        </p:sp>
      </p:grpSp>
      <p:grpSp>
        <p:nvGrpSpPr>
          <p:cNvPr name="Group 77" id="77"/>
          <p:cNvGrpSpPr/>
          <p:nvPr/>
        </p:nvGrpSpPr>
        <p:grpSpPr>
          <a:xfrm rot="0">
            <a:off x="12138660" y="6240780"/>
            <a:ext cx="5280660" cy="685800"/>
            <a:chOff x="0" y="0"/>
            <a:chExt cx="7040880" cy="91440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7040880" cy="914400"/>
            </a:xfrm>
            <a:custGeom>
              <a:avLst/>
              <a:gdLst/>
              <a:ahLst/>
              <a:cxnLst/>
              <a:rect r="r" b="b" t="t" l="l"/>
              <a:pathLst>
                <a:path h="914400" w="7040880">
                  <a:moveTo>
                    <a:pt x="0" y="0"/>
                  </a:moveTo>
                  <a:lnTo>
                    <a:pt x="7040880" y="0"/>
                  </a:lnTo>
                  <a:lnTo>
                    <a:pt x="704088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0034" r="0" b="-100034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19050"/>
              <a:ext cx="7040880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Urgency Levels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678656" y="7125176"/>
            <a:ext cx="2757488" cy="453200"/>
            <a:chOff x="0" y="0"/>
            <a:chExt cx="3676650" cy="604266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3676650" cy="604266"/>
            </a:xfrm>
            <a:custGeom>
              <a:avLst/>
              <a:gdLst/>
              <a:ahLst/>
              <a:cxnLst/>
              <a:rect r="r" b="b" t="t" l="l"/>
              <a:pathLst>
                <a:path h="604266" w="3676650">
                  <a:moveTo>
                    <a:pt x="0" y="0"/>
                  </a:moveTo>
                  <a:lnTo>
                    <a:pt x="3676650" y="0"/>
                  </a:lnTo>
                  <a:lnTo>
                    <a:pt x="3676650" y="604266"/>
                  </a:lnTo>
                  <a:lnTo>
                    <a:pt x="0" y="604266"/>
                  </a:lnTo>
                  <a:close/>
                </a:path>
              </a:pathLst>
            </a:custGeom>
            <a:solidFill>
              <a:srgbClr val="953734"/>
            </a:solidFill>
            <a:ln w="14288" cap="sq">
              <a:solidFill>
                <a:srgbClr val="953734"/>
              </a:solidFill>
              <a:prstDash val="solid"/>
              <a:miter/>
            </a:ln>
          </p:spPr>
        </p:sp>
      </p:grpSp>
      <p:grpSp>
        <p:nvGrpSpPr>
          <p:cNvPr name="Group 82" id="82"/>
          <p:cNvGrpSpPr/>
          <p:nvPr/>
        </p:nvGrpSpPr>
        <p:grpSpPr>
          <a:xfrm rot="0">
            <a:off x="754380" y="7132320"/>
            <a:ext cx="2606040" cy="438912"/>
            <a:chOff x="0" y="0"/>
            <a:chExt cx="3474720" cy="585216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3474720" cy="585216"/>
            </a:xfrm>
            <a:custGeom>
              <a:avLst/>
              <a:gdLst/>
              <a:ahLst/>
              <a:cxnLst/>
              <a:rect r="r" b="b" t="t" l="l"/>
              <a:pathLst>
                <a:path h="585216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5692" r="0" b="-65692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-19050"/>
              <a:ext cx="3474720" cy="6042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Output</a:t>
              </a:r>
            </a:p>
          </p:txBody>
        </p:sp>
      </p:grpSp>
      <p:grpSp>
        <p:nvGrpSpPr>
          <p:cNvPr name="Group 85" id="85"/>
          <p:cNvGrpSpPr/>
          <p:nvPr/>
        </p:nvGrpSpPr>
        <p:grpSpPr>
          <a:xfrm rot="0">
            <a:off x="678656" y="7673816"/>
            <a:ext cx="3580447" cy="700088"/>
            <a:chOff x="0" y="0"/>
            <a:chExt cx="4773930" cy="933450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4773930" cy="933450"/>
            </a:xfrm>
            <a:custGeom>
              <a:avLst/>
              <a:gdLst/>
              <a:ahLst/>
              <a:cxnLst/>
              <a:rect r="r" b="b" t="t" l="l"/>
              <a:pathLst>
                <a:path h="933450" w="4773930">
                  <a:moveTo>
                    <a:pt x="0" y="0"/>
                  </a:moveTo>
                  <a:lnTo>
                    <a:pt x="4773930" y="0"/>
                  </a:lnTo>
                  <a:lnTo>
                    <a:pt x="4773930" y="933450"/>
                  </a:lnTo>
                  <a:lnTo>
                    <a:pt x="0" y="933450"/>
                  </a:lnTo>
                  <a:close/>
                </a:path>
              </a:pathLst>
            </a:custGeom>
            <a:solidFill>
              <a:srgbClr val="028090"/>
            </a:solidFill>
            <a:ln w="14288" cap="sq">
              <a:solidFill>
                <a:srgbClr val="028090"/>
              </a:solidFill>
              <a:prstDash val="solid"/>
              <a:miter/>
            </a:ln>
          </p:spPr>
        </p:sp>
      </p:grpSp>
      <p:grpSp>
        <p:nvGrpSpPr>
          <p:cNvPr name="Group 87" id="87"/>
          <p:cNvGrpSpPr/>
          <p:nvPr/>
        </p:nvGrpSpPr>
        <p:grpSpPr>
          <a:xfrm rot="0">
            <a:off x="754380" y="7680960"/>
            <a:ext cx="3429000" cy="685800"/>
            <a:chOff x="0" y="0"/>
            <a:chExt cx="4572000" cy="914400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4572000" cy="914400"/>
            </a:xfrm>
            <a:custGeom>
              <a:avLst/>
              <a:gdLst/>
              <a:ahLst/>
              <a:cxnLst/>
              <a:rect r="r" b="b" t="t" l="l"/>
              <a:pathLst>
                <a:path h="914400" w="4572000">
                  <a:moveTo>
                    <a:pt x="0" y="0"/>
                  </a:moveTo>
                  <a:lnTo>
                    <a:pt x="4572000" y="0"/>
                  </a:lnTo>
                  <a:lnTo>
                    <a:pt x="45720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89" id="89"/>
            <p:cNvSpPr txBox="true"/>
            <p:nvPr/>
          </p:nvSpPr>
          <p:spPr>
            <a:xfrm>
              <a:off x="0" y="-19050"/>
              <a:ext cx="4572000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SOS Posted</a:t>
              </a:r>
            </a:p>
          </p:txBody>
        </p:sp>
      </p:grpSp>
      <p:grpSp>
        <p:nvGrpSpPr>
          <p:cNvPr name="Group 90" id="90"/>
          <p:cNvGrpSpPr/>
          <p:nvPr/>
        </p:nvGrpSpPr>
        <p:grpSpPr>
          <a:xfrm rot="0">
            <a:off x="4411790" y="7840790"/>
            <a:ext cx="393573" cy="338709"/>
            <a:chOff x="0" y="0"/>
            <a:chExt cx="524764" cy="451612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524764" cy="451612"/>
            </a:xfrm>
            <a:custGeom>
              <a:avLst/>
              <a:gdLst/>
              <a:ahLst/>
              <a:cxnLst/>
              <a:rect r="r" b="b" t="t" l="l"/>
              <a:pathLst>
                <a:path h="451612" w="524764">
                  <a:moveTo>
                    <a:pt x="0" y="112903"/>
                  </a:moveTo>
                  <a:lnTo>
                    <a:pt x="298958" y="112903"/>
                  </a:lnTo>
                  <a:lnTo>
                    <a:pt x="298958" y="0"/>
                  </a:lnTo>
                  <a:lnTo>
                    <a:pt x="524764" y="225806"/>
                  </a:lnTo>
                  <a:lnTo>
                    <a:pt x="298958" y="451612"/>
                  </a:lnTo>
                  <a:lnTo>
                    <a:pt x="298958" y="338709"/>
                  </a:lnTo>
                  <a:lnTo>
                    <a:pt x="0" y="338709"/>
                  </a:lnTo>
                  <a:close/>
                </a:path>
              </a:pathLst>
            </a:custGeom>
            <a:solidFill>
              <a:srgbClr val="C98A2C"/>
            </a:solidFill>
            <a:ln w="9525" cap="sq">
              <a:solidFill>
                <a:srgbClr val="C98A2C"/>
              </a:solidFill>
              <a:prstDash val="solid"/>
              <a:miter/>
            </a:ln>
          </p:spPr>
        </p:sp>
      </p:grpSp>
      <p:grpSp>
        <p:nvGrpSpPr>
          <p:cNvPr name="Group 92" id="92"/>
          <p:cNvGrpSpPr/>
          <p:nvPr/>
        </p:nvGrpSpPr>
        <p:grpSpPr>
          <a:xfrm rot="0">
            <a:off x="4930616" y="7673816"/>
            <a:ext cx="3580447" cy="700088"/>
            <a:chOff x="0" y="0"/>
            <a:chExt cx="4773930" cy="933450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4773930" cy="933450"/>
            </a:xfrm>
            <a:custGeom>
              <a:avLst/>
              <a:gdLst/>
              <a:ahLst/>
              <a:cxnLst/>
              <a:rect r="r" b="b" t="t" l="l"/>
              <a:pathLst>
                <a:path h="933450" w="4773930">
                  <a:moveTo>
                    <a:pt x="0" y="0"/>
                  </a:moveTo>
                  <a:lnTo>
                    <a:pt x="4773930" y="0"/>
                  </a:lnTo>
                  <a:lnTo>
                    <a:pt x="4773930" y="933450"/>
                  </a:lnTo>
                  <a:lnTo>
                    <a:pt x="0" y="933450"/>
                  </a:lnTo>
                  <a:close/>
                </a:path>
              </a:pathLst>
            </a:custGeom>
            <a:solidFill>
              <a:srgbClr val="953734"/>
            </a:solidFill>
            <a:ln w="14288" cap="sq">
              <a:solidFill>
                <a:srgbClr val="953734"/>
              </a:solidFill>
              <a:prstDash val="solid"/>
              <a:miter/>
            </a:ln>
          </p:spPr>
        </p:sp>
      </p:grpSp>
      <p:grpSp>
        <p:nvGrpSpPr>
          <p:cNvPr name="Group 94" id="94"/>
          <p:cNvGrpSpPr/>
          <p:nvPr/>
        </p:nvGrpSpPr>
        <p:grpSpPr>
          <a:xfrm rot="0">
            <a:off x="5006340" y="7680960"/>
            <a:ext cx="3429000" cy="685800"/>
            <a:chOff x="0" y="0"/>
            <a:chExt cx="4572000" cy="914400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4572000" cy="914400"/>
            </a:xfrm>
            <a:custGeom>
              <a:avLst/>
              <a:gdLst/>
              <a:ahLst/>
              <a:cxnLst/>
              <a:rect r="r" b="b" t="t" l="l"/>
              <a:pathLst>
                <a:path h="914400" w="4572000">
                  <a:moveTo>
                    <a:pt x="0" y="0"/>
                  </a:moveTo>
                  <a:lnTo>
                    <a:pt x="4572000" y="0"/>
                  </a:lnTo>
                  <a:lnTo>
                    <a:pt x="45720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96" id="96"/>
            <p:cNvSpPr txBox="true"/>
            <p:nvPr/>
          </p:nvSpPr>
          <p:spPr>
            <a:xfrm>
              <a:off x="0" y="-19050"/>
              <a:ext cx="4572000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Donors Matched</a:t>
              </a:r>
            </a:p>
          </p:txBody>
        </p:sp>
      </p:grpSp>
      <p:grpSp>
        <p:nvGrpSpPr>
          <p:cNvPr name="Group 97" id="97"/>
          <p:cNvGrpSpPr/>
          <p:nvPr/>
        </p:nvGrpSpPr>
        <p:grpSpPr>
          <a:xfrm rot="0">
            <a:off x="8663750" y="7840790"/>
            <a:ext cx="393573" cy="338709"/>
            <a:chOff x="0" y="0"/>
            <a:chExt cx="524764" cy="451612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524764" cy="451612"/>
            </a:xfrm>
            <a:custGeom>
              <a:avLst/>
              <a:gdLst/>
              <a:ahLst/>
              <a:cxnLst/>
              <a:rect r="r" b="b" t="t" l="l"/>
              <a:pathLst>
                <a:path h="451612" w="524764">
                  <a:moveTo>
                    <a:pt x="0" y="112903"/>
                  </a:moveTo>
                  <a:lnTo>
                    <a:pt x="298958" y="112903"/>
                  </a:lnTo>
                  <a:lnTo>
                    <a:pt x="298958" y="0"/>
                  </a:lnTo>
                  <a:lnTo>
                    <a:pt x="524764" y="225806"/>
                  </a:lnTo>
                  <a:lnTo>
                    <a:pt x="298958" y="451612"/>
                  </a:lnTo>
                  <a:lnTo>
                    <a:pt x="298958" y="338709"/>
                  </a:lnTo>
                  <a:lnTo>
                    <a:pt x="0" y="338709"/>
                  </a:lnTo>
                  <a:close/>
                </a:path>
              </a:pathLst>
            </a:custGeom>
            <a:solidFill>
              <a:srgbClr val="C98A2C"/>
            </a:solidFill>
            <a:ln w="9525" cap="sq">
              <a:solidFill>
                <a:srgbClr val="C98A2C"/>
              </a:solidFill>
              <a:prstDash val="solid"/>
              <a:miter/>
            </a:ln>
          </p:spPr>
        </p:sp>
      </p:grpSp>
      <p:grpSp>
        <p:nvGrpSpPr>
          <p:cNvPr name="Group 99" id="99"/>
          <p:cNvGrpSpPr/>
          <p:nvPr/>
        </p:nvGrpSpPr>
        <p:grpSpPr>
          <a:xfrm rot="0">
            <a:off x="9182576" y="7673816"/>
            <a:ext cx="3580447" cy="700088"/>
            <a:chOff x="0" y="0"/>
            <a:chExt cx="4773930" cy="933450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4773930" cy="933450"/>
            </a:xfrm>
            <a:custGeom>
              <a:avLst/>
              <a:gdLst/>
              <a:ahLst/>
              <a:cxnLst/>
              <a:rect r="r" b="b" t="t" l="l"/>
              <a:pathLst>
                <a:path h="933450" w="4773930">
                  <a:moveTo>
                    <a:pt x="0" y="0"/>
                  </a:moveTo>
                  <a:lnTo>
                    <a:pt x="4773930" y="0"/>
                  </a:lnTo>
                  <a:lnTo>
                    <a:pt x="4773930" y="933450"/>
                  </a:lnTo>
                  <a:lnTo>
                    <a:pt x="0" y="933450"/>
                  </a:lnTo>
                  <a:close/>
                </a:path>
              </a:pathLst>
            </a:custGeom>
            <a:solidFill>
              <a:srgbClr val="C98A2C"/>
            </a:solidFill>
            <a:ln w="14288" cap="sq">
              <a:solidFill>
                <a:srgbClr val="C98A2C"/>
              </a:solidFill>
              <a:prstDash val="solid"/>
              <a:miter/>
            </a:ln>
          </p:spPr>
        </p:sp>
      </p:grpSp>
      <p:grpSp>
        <p:nvGrpSpPr>
          <p:cNvPr name="Group 101" id="101"/>
          <p:cNvGrpSpPr/>
          <p:nvPr/>
        </p:nvGrpSpPr>
        <p:grpSpPr>
          <a:xfrm rot="0">
            <a:off x="9258300" y="7680960"/>
            <a:ext cx="3429000" cy="685800"/>
            <a:chOff x="0" y="0"/>
            <a:chExt cx="4572000" cy="914400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4572000" cy="914400"/>
            </a:xfrm>
            <a:custGeom>
              <a:avLst/>
              <a:gdLst/>
              <a:ahLst/>
              <a:cxnLst/>
              <a:rect r="r" b="b" t="t" l="l"/>
              <a:pathLst>
                <a:path h="914400" w="4572000">
                  <a:moveTo>
                    <a:pt x="0" y="0"/>
                  </a:moveTo>
                  <a:lnTo>
                    <a:pt x="4572000" y="0"/>
                  </a:lnTo>
                  <a:lnTo>
                    <a:pt x="45720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103" id="103"/>
            <p:cNvSpPr txBox="true"/>
            <p:nvPr/>
          </p:nvSpPr>
          <p:spPr>
            <a:xfrm>
              <a:off x="0" y="-19050"/>
              <a:ext cx="4572000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Donor Contacted</a:t>
              </a:r>
            </a:p>
          </p:txBody>
        </p:sp>
      </p:grpSp>
      <p:grpSp>
        <p:nvGrpSpPr>
          <p:cNvPr name="Group 104" id="104"/>
          <p:cNvGrpSpPr/>
          <p:nvPr/>
        </p:nvGrpSpPr>
        <p:grpSpPr>
          <a:xfrm rot="0">
            <a:off x="12915710" y="7840790"/>
            <a:ext cx="393573" cy="338709"/>
            <a:chOff x="0" y="0"/>
            <a:chExt cx="524764" cy="451612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524764" cy="451612"/>
            </a:xfrm>
            <a:custGeom>
              <a:avLst/>
              <a:gdLst/>
              <a:ahLst/>
              <a:cxnLst/>
              <a:rect r="r" b="b" t="t" l="l"/>
              <a:pathLst>
                <a:path h="451612" w="524764">
                  <a:moveTo>
                    <a:pt x="0" y="112903"/>
                  </a:moveTo>
                  <a:lnTo>
                    <a:pt x="298958" y="112903"/>
                  </a:lnTo>
                  <a:lnTo>
                    <a:pt x="298958" y="0"/>
                  </a:lnTo>
                  <a:lnTo>
                    <a:pt x="524764" y="225806"/>
                  </a:lnTo>
                  <a:lnTo>
                    <a:pt x="298958" y="451612"/>
                  </a:lnTo>
                  <a:lnTo>
                    <a:pt x="298958" y="338709"/>
                  </a:lnTo>
                  <a:lnTo>
                    <a:pt x="0" y="338709"/>
                  </a:lnTo>
                  <a:close/>
                </a:path>
              </a:pathLst>
            </a:custGeom>
            <a:solidFill>
              <a:srgbClr val="C98A2C"/>
            </a:solidFill>
            <a:ln w="9525" cap="sq">
              <a:solidFill>
                <a:srgbClr val="C98A2C"/>
              </a:solidFill>
              <a:prstDash val="solid"/>
              <a:miter/>
            </a:ln>
          </p:spPr>
        </p:sp>
      </p:grpSp>
      <p:grpSp>
        <p:nvGrpSpPr>
          <p:cNvPr name="Group 106" id="106"/>
          <p:cNvGrpSpPr/>
          <p:nvPr/>
        </p:nvGrpSpPr>
        <p:grpSpPr>
          <a:xfrm rot="0">
            <a:off x="13434536" y="7673816"/>
            <a:ext cx="3580447" cy="700088"/>
            <a:chOff x="0" y="0"/>
            <a:chExt cx="4773930" cy="933450"/>
          </a:xfrm>
        </p:grpSpPr>
        <p:sp>
          <p:nvSpPr>
            <p:cNvPr name="Freeform 107" id="107"/>
            <p:cNvSpPr/>
            <p:nvPr/>
          </p:nvSpPr>
          <p:spPr>
            <a:xfrm flipH="false" flipV="false" rot="0">
              <a:off x="0" y="0"/>
              <a:ext cx="4773930" cy="933450"/>
            </a:xfrm>
            <a:custGeom>
              <a:avLst/>
              <a:gdLst/>
              <a:ahLst/>
              <a:cxnLst/>
              <a:rect r="r" b="b" t="t" l="l"/>
              <a:pathLst>
                <a:path h="933450" w="4773930">
                  <a:moveTo>
                    <a:pt x="0" y="0"/>
                  </a:moveTo>
                  <a:lnTo>
                    <a:pt x="4773930" y="0"/>
                  </a:lnTo>
                  <a:lnTo>
                    <a:pt x="4773930" y="933450"/>
                  </a:lnTo>
                  <a:lnTo>
                    <a:pt x="0" y="933450"/>
                  </a:lnTo>
                  <a:close/>
                </a:path>
              </a:pathLst>
            </a:custGeom>
            <a:solidFill>
              <a:srgbClr val="6E2723"/>
            </a:solidFill>
            <a:ln w="14288" cap="sq">
              <a:solidFill>
                <a:srgbClr val="6E2723"/>
              </a:solidFill>
              <a:prstDash val="solid"/>
              <a:miter/>
            </a:ln>
          </p:spPr>
        </p:sp>
      </p:grpSp>
      <p:grpSp>
        <p:nvGrpSpPr>
          <p:cNvPr name="Group 108" id="108"/>
          <p:cNvGrpSpPr/>
          <p:nvPr/>
        </p:nvGrpSpPr>
        <p:grpSpPr>
          <a:xfrm rot="0">
            <a:off x="13510260" y="7680960"/>
            <a:ext cx="3429000" cy="685800"/>
            <a:chOff x="0" y="0"/>
            <a:chExt cx="4572000" cy="914400"/>
          </a:xfrm>
        </p:grpSpPr>
        <p:sp>
          <p:nvSpPr>
            <p:cNvPr name="Freeform 109" id="109"/>
            <p:cNvSpPr/>
            <p:nvPr/>
          </p:nvSpPr>
          <p:spPr>
            <a:xfrm flipH="false" flipV="false" rot="0">
              <a:off x="0" y="0"/>
              <a:ext cx="4572000" cy="914400"/>
            </a:xfrm>
            <a:custGeom>
              <a:avLst/>
              <a:gdLst/>
              <a:ahLst/>
              <a:cxnLst/>
              <a:rect r="r" b="b" t="t" l="l"/>
              <a:pathLst>
                <a:path h="914400" w="4572000">
                  <a:moveTo>
                    <a:pt x="0" y="0"/>
                  </a:moveTo>
                  <a:lnTo>
                    <a:pt x="4572000" y="0"/>
                  </a:lnTo>
                  <a:lnTo>
                    <a:pt x="45720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110" id="110"/>
            <p:cNvSpPr txBox="true"/>
            <p:nvPr/>
          </p:nvSpPr>
          <p:spPr>
            <a:xfrm>
              <a:off x="0" y="-19050"/>
              <a:ext cx="4572000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Request Fulfilled</a:t>
              </a:r>
            </a:p>
          </p:txBody>
        </p:sp>
      </p:grpSp>
      <p:grpSp>
        <p:nvGrpSpPr>
          <p:cNvPr name="Group 111" id="111"/>
          <p:cNvGrpSpPr/>
          <p:nvPr/>
        </p:nvGrpSpPr>
        <p:grpSpPr>
          <a:xfrm rot="0">
            <a:off x="685800" y="8778240"/>
            <a:ext cx="16870680" cy="685800"/>
            <a:chOff x="0" y="0"/>
            <a:chExt cx="22494240" cy="914400"/>
          </a:xfrm>
        </p:grpSpPr>
        <p:sp>
          <p:nvSpPr>
            <p:cNvPr name="Freeform 112" id="112"/>
            <p:cNvSpPr/>
            <p:nvPr/>
          </p:nvSpPr>
          <p:spPr>
            <a:xfrm flipH="false" flipV="false" rot="0">
              <a:off x="0" y="0"/>
              <a:ext cx="22494239" cy="914400"/>
            </a:xfrm>
            <a:custGeom>
              <a:avLst/>
              <a:gdLst/>
              <a:ahLst/>
              <a:cxnLst/>
              <a:rect r="r" b="b" t="t" l="l"/>
              <a:pathLst>
                <a:path h="914400" w="22494239">
                  <a:moveTo>
                    <a:pt x="0" y="0"/>
                  </a:moveTo>
                  <a:lnTo>
                    <a:pt x="22494239" y="0"/>
                  </a:lnTo>
                  <a:lnTo>
                    <a:pt x="22494239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29331" r="0" b="-429331"/>
              </a:stretch>
            </a:blipFill>
          </p:spPr>
        </p:sp>
        <p:sp>
          <p:nvSpPr>
            <p:cNvPr name="TextBox 113" id="113"/>
            <p:cNvSpPr txBox="true"/>
            <p:nvPr/>
          </p:nvSpPr>
          <p:spPr>
            <a:xfrm>
              <a:off x="0" y="-19050"/>
              <a:ext cx="22494240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4A4A4A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The result is a fast, trusted, community-driven alert system built on a full stack web application.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7144" y="102584"/>
            <a:ext cx="18301830" cy="864680"/>
            <a:chOff x="0" y="0"/>
            <a:chExt cx="24402440" cy="115290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152906"/>
            </a:xfrm>
            <a:custGeom>
              <a:avLst/>
              <a:gdLst/>
              <a:ahLst/>
              <a:cxnLst/>
              <a:rect r="r" b="b" t="t" l="l"/>
              <a:pathLst>
                <a:path h="1152906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152906"/>
                  </a:lnTo>
                  <a:lnTo>
                    <a:pt x="0" y="1152906"/>
                  </a:lnTo>
                  <a:close/>
                </a:path>
              </a:pathLst>
            </a:custGeom>
            <a:solidFill>
              <a:srgbClr val="953734"/>
            </a:solidFill>
            <a:ln w="14288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411480" y="109728"/>
            <a:ext cx="17464583" cy="850392"/>
            <a:chOff x="0" y="0"/>
            <a:chExt cx="23286110" cy="113385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3286110" cy="1133856"/>
            </a:xfrm>
            <a:custGeom>
              <a:avLst/>
              <a:gdLst/>
              <a:ahLst/>
              <a:cxnLst/>
              <a:rect r="r" b="b" t="t" l="l"/>
              <a:pathLst>
                <a:path h="1133856" w="23286110">
                  <a:moveTo>
                    <a:pt x="0" y="0"/>
                  </a:moveTo>
                  <a:lnTo>
                    <a:pt x="23286110" y="0"/>
                  </a:lnTo>
                  <a:lnTo>
                    <a:pt x="2328611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0166" r="0" b="-35016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23286110" cy="11529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60"/>
                </a:lnSpc>
              </a:pPr>
              <a:r>
                <a:rPr lang="en-US" sz="3300" b="true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Introduction &amp; Importance of Quick Blood Access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7323308" y="9738360"/>
            <a:ext cx="685800" cy="411480"/>
            <a:chOff x="0" y="0"/>
            <a:chExt cx="914400" cy="5486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91440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99999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3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78656" y="1295876"/>
            <a:ext cx="8106728" cy="480632"/>
            <a:chOff x="0" y="0"/>
            <a:chExt cx="10808970" cy="64084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808970" cy="640842"/>
            </a:xfrm>
            <a:custGeom>
              <a:avLst/>
              <a:gdLst/>
              <a:ahLst/>
              <a:cxnLst/>
              <a:rect r="r" b="b" t="t" l="l"/>
              <a:pathLst>
                <a:path h="640842" w="10808970">
                  <a:moveTo>
                    <a:pt x="0" y="0"/>
                  </a:moveTo>
                  <a:lnTo>
                    <a:pt x="10808970" y="0"/>
                  </a:lnTo>
                  <a:lnTo>
                    <a:pt x="10808970" y="640842"/>
                  </a:lnTo>
                  <a:lnTo>
                    <a:pt x="0" y="640842"/>
                  </a:lnTo>
                  <a:close/>
                </a:path>
              </a:pathLst>
            </a:custGeom>
            <a:solidFill>
              <a:srgbClr val="953734"/>
            </a:solidFill>
            <a:ln w="14288" cap="sq">
              <a:solidFill>
                <a:srgbClr val="953734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754380" y="1303020"/>
            <a:ext cx="7955280" cy="466344"/>
            <a:chOff x="0" y="0"/>
            <a:chExt cx="10607040" cy="62179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607040" cy="621792"/>
            </a:xfrm>
            <a:custGeom>
              <a:avLst/>
              <a:gdLst/>
              <a:ahLst/>
              <a:cxnLst/>
              <a:rect r="r" b="b" t="t" l="l"/>
              <a:pathLst>
                <a:path h="621792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2391" r="0" b="-282391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19050"/>
              <a:ext cx="10607040" cy="6408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What is the Directory?</a:t>
              </a: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685800" y="1901190"/>
            <a:ext cx="8092440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2B2B2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web platform that connects people who urgently need blood with willing donors living in the same locality or housing society.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678656" y="3147536"/>
            <a:ext cx="3991928" cy="1317308"/>
            <a:chOff x="0" y="0"/>
            <a:chExt cx="5322570" cy="175641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322570" cy="1756410"/>
            </a:xfrm>
            <a:custGeom>
              <a:avLst/>
              <a:gdLst/>
              <a:ahLst/>
              <a:cxnLst/>
              <a:rect r="r" b="b" t="t" l="l"/>
              <a:pathLst>
                <a:path h="1756410" w="5322570">
                  <a:moveTo>
                    <a:pt x="0" y="0"/>
                  </a:moveTo>
                  <a:lnTo>
                    <a:pt x="5322570" y="0"/>
                  </a:lnTo>
                  <a:lnTo>
                    <a:pt x="5322570" y="1756410"/>
                  </a:lnTo>
                  <a:lnTo>
                    <a:pt x="0" y="1756410"/>
                  </a:lnTo>
                  <a:close/>
                </a:path>
              </a:pathLst>
            </a:custGeom>
            <a:solidFill>
              <a:srgbClr val="F7EDEA"/>
            </a:solidFill>
            <a:ln w="14288" cap="sq">
              <a:solidFill>
                <a:srgbClr val="E3CFC9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840867" y="3309747"/>
            <a:ext cx="403098" cy="403098"/>
            <a:chOff x="0" y="0"/>
            <a:chExt cx="537464" cy="537464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37464" cy="537464"/>
            </a:xfrm>
            <a:custGeom>
              <a:avLst/>
              <a:gdLst/>
              <a:ahLst/>
              <a:cxnLst/>
              <a:rect r="r" b="b" t="t" l="l"/>
              <a:pathLst>
                <a:path h="537464" w="537464">
                  <a:moveTo>
                    <a:pt x="0" y="268732"/>
                  </a:moveTo>
                  <a:cubicBezTo>
                    <a:pt x="0" y="120269"/>
                    <a:pt x="120269" y="0"/>
                    <a:pt x="268732" y="0"/>
                  </a:cubicBezTo>
                  <a:cubicBezTo>
                    <a:pt x="417195" y="0"/>
                    <a:pt x="537464" y="120269"/>
                    <a:pt x="537464" y="268732"/>
                  </a:cubicBezTo>
                  <a:cubicBezTo>
                    <a:pt x="537464" y="417195"/>
                    <a:pt x="417195" y="537464"/>
                    <a:pt x="268732" y="537464"/>
                  </a:cubicBezTo>
                  <a:cubicBezTo>
                    <a:pt x="120269" y="537464"/>
                    <a:pt x="0" y="417195"/>
                    <a:pt x="0" y="268732"/>
                  </a:cubicBezTo>
                  <a:close/>
                </a:path>
              </a:pathLst>
            </a:custGeom>
            <a:solidFill>
              <a:srgbClr val="028090"/>
            </a:solidFill>
            <a:ln w="19050" cap="sq">
              <a:solidFill>
                <a:srgbClr val="028090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1371600" y="3291840"/>
            <a:ext cx="3154680" cy="438912"/>
            <a:chOff x="0" y="0"/>
            <a:chExt cx="4206240" cy="58521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206240" cy="585216"/>
            </a:xfrm>
            <a:custGeom>
              <a:avLst/>
              <a:gdLst/>
              <a:ahLst/>
              <a:cxnLst/>
              <a:rect r="r" b="b" t="t" l="l"/>
              <a:pathLst>
                <a:path h="585216" w="4206240">
                  <a:moveTo>
                    <a:pt x="0" y="0"/>
                  </a:moveTo>
                  <a:lnTo>
                    <a:pt x="4206240" y="0"/>
                  </a:lnTo>
                  <a:lnTo>
                    <a:pt x="420624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0048" r="0" b="-90048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19050"/>
              <a:ext cx="4206240" cy="6042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2B2B2B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Register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891540" y="3840480"/>
            <a:ext cx="3634740" cy="548640"/>
            <a:chOff x="0" y="0"/>
            <a:chExt cx="4846320" cy="73152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846320" cy="731520"/>
            </a:xfrm>
            <a:custGeom>
              <a:avLst/>
              <a:gdLst/>
              <a:ahLst/>
              <a:cxnLst/>
              <a:rect r="r" b="b" t="t" l="l"/>
              <a:pathLst>
                <a:path h="731520" w="4846320">
                  <a:moveTo>
                    <a:pt x="0" y="0"/>
                  </a:moveTo>
                  <a:lnTo>
                    <a:pt x="4846320" y="0"/>
                  </a:lnTo>
                  <a:lnTo>
                    <a:pt x="48463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9088" r="0" b="-79088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19050"/>
              <a:ext cx="484632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4A4A4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Join as a volunteer donor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4793456" y="3147536"/>
            <a:ext cx="3991928" cy="1317308"/>
            <a:chOff x="0" y="0"/>
            <a:chExt cx="5322570" cy="175641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322570" cy="1756410"/>
            </a:xfrm>
            <a:custGeom>
              <a:avLst/>
              <a:gdLst/>
              <a:ahLst/>
              <a:cxnLst/>
              <a:rect r="r" b="b" t="t" l="l"/>
              <a:pathLst>
                <a:path h="1756410" w="5322570">
                  <a:moveTo>
                    <a:pt x="0" y="0"/>
                  </a:moveTo>
                  <a:lnTo>
                    <a:pt x="5322570" y="0"/>
                  </a:lnTo>
                  <a:lnTo>
                    <a:pt x="5322570" y="1756410"/>
                  </a:lnTo>
                  <a:lnTo>
                    <a:pt x="0" y="1756410"/>
                  </a:lnTo>
                  <a:close/>
                </a:path>
              </a:pathLst>
            </a:custGeom>
            <a:solidFill>
              <a:srgbClr val="F7EDEA"/>
            </a:solidFill>
            <a:ln w="14288" cap="sq">
              <a:solidFill>
                <a:srgbClr val="E3CFC9"/>
              </a:solidFill>
              <a:prstDash val="solid"/>
              <a:miter/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4955667" y="3309747"/>
            <a:ext cx="403098" cy="403098"/>
            <a:chOff x="0" y="0"/>
            <a:chExt cx="537464" cy="537464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537464" cy="537464"/>
            </a:xfrm>
            <a:custGeom>
              <a:avLst/>
              <a:gdLst/>
              <a:ahLst/>
              <a:cxnLst/>
              <a:rect r="r" b="b" t="t" l="l"/>
              <a:pathLst>
                <a:path h="537464" w="537464">
                  <a:moveTo>
                    <a:pt x="0" y="268732"/>
                  </a:moveTo>
                  <a:cubicBezTo>
                    <a:pt x="0" y="120269"/>
                    <a:pt x="120269" y="0"/>
                    <a:pt x="268732" y="0"/>
                  </a:cubicBezTo>
                  <a:cubicBezTo>
                    <a:pt x="417195" y="0"/>
                    <a:pt x="537464" y="120269"/>
                    <a:pt x="537464" y="268732"/>
                  </a:cubicBezTo>
                  <a:cubicBezTo>
                    <a:pt x="537464" y="417195"/>
                    <a:pt x="417195" y="537464"/>
                    <a:pt x="268732" y="537464"/>
                  </a:cubicBezTo>
                  <a:cubicBezTo>
                    <a:pt x="120269" y="537464"/>
                    <a:pt x="0" y="417195"/>
                    <a:pt x="0" y="268732"/>
                  </a:cubicBezTo>
                  <a:close/>
                </a:path>
              </a:pathLst>
            </a:custGeom>
            <a:solidFill>
              <a:srgbClr val="953734"/>
            </a:solidFill>
            <a:ln w="19050" cap="sq">
              <a:solidFill>
                <a:srgbClr val="953734"/>
              </a:solidFill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5486400" y="3291840"/>
            <a:ext cx="3154680" cy="438912"/>
            <a:chOff x="0" y="0"/>
            <a:chExt cx="4206240" cy="585216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4206240" cy="585216"/>
            </a:xfrm>
            <a:custGeom>
              <a:avLst/>
              <a:gdLst/>
              <a:ahLst/>
              <a:cxnLst/>
              <a:rect r="r" b="b" t="t" l="l"/>
              <a:pathLst>
                <a:path h="585216" w="4206240">
                  <a:moveTo>
                    <a:pt x="0" y="0"/>
                  </a:moveTo>
                  <a:lnTo>
                    <a:pt x="4206240" y="0"/>
                  </a:lnTo>
                  <a:lnTo>
                    <a:pt x="420624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0048" r="0" b="-90048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19050"/>
              <a:ext cx="4206240" cy="6042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2B2B2B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Post SOS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5006340" y="3840480"/>
            <a:ext cx="3634740" cy="548640"/>
            <a:chOff x="0" y="0"/>
            <a:chExt cx="4846320" cy="73152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4846320" cy="731520"/>
            </a:xfrm>
            <a:custGeom>
              <a:avLst/>
              <a:gdLst/>
              <a:ahLst/>
              <a:cxnLst/>
              <a:rect r="r" b="b" t="t" l="l"/>
              <a:pathLst>
                <a:path h="731520" w="4846320">
                  <a:moveTo>
                    <a:pt x="0" y="0"/>
                  </a:moveTo>
                  <a:lnTo>
                    <a:pt x="4846320" y="0"/>
                  </a:lnTo>
                  <a:lnTo>
                    <a:pt x="48463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9088" r="0" b="-79088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19050"/>
              <a:ext cx="484632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4A4A4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Raise an urgent request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678656" y="4587716"/>
            <a:ext cx="3991928" cy="1317308"/>
            <a:chOff x="0" y="0"/>
            <a:chExt cx="5322570" cy="175641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5322570" cy="1756410"/>
            </a:xfrm>
            <a:custGeom>
              <a:avLst/>
              <a:gdLst/>
              <a:ahLst/>
              <a:cxnLst/>
              <a:rect r="r" b="b" t="t" l="l"/>
              <a:pathLst>
                <a:path h="1756410" w="5322570">
                  <a:moveTo>
                    <a:pt x="0" y="0"/>
                  </a:moveTo>
                  <a:lnTo>
                    <a:pt x="5322570" y="0"/>
                  </a:lnTo>
                  <a:lnTo>
                    <a:pt x="5322570" y="1756410"/>
                  </a:lnTo>
                  <a:lnTo>
                    <a:pt x="0" y="1756410"/>
                  </a:lnTo>
                  <a:close/>
                </a:path>
              </a:pathLst>
            </a:custGeom>
            <a:solidFill>
              <a:srgbClr val="F7EDEA"/>
            </a:solidFill>
            <a:ln w="14288" cap="sq">
              <a:solidFill>
                <a:srgbClr val="E3CFC9"/>
              </a:solidFill>
              <a:prstDash val="solid"/>
              <a:miter/>
            </a:ln>
          </p:spPr>
        </p:sp>
      </p:grpSp>
      <p:grpSp>
        <p:nvGrpSpPr>
          <p:cNvPr name="Group 38" id="38"/>
          <p:cNvGrpSpPr/>
          <p:nvPr/>
        </p:nvGrpSpPr>
        <p:grpSpPr>
          <a:xfrm rot="0">
            <a:off x="840867" y="4749927"/>
            <a:ext cx="403098" cy="403098"/>
            <a:chOff x="0" y="0"/>
            <a:chExt cx="537464" cy="537464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537464" cy="537464"/>
            </a:xfrm>
            <a:custGeom>
              <a:avLst/>
              <a:gdLst/>
              <a:ahLst/>
              <a:cxnLst/>
              <a:rect r="r" b="b" t="t" l="l"/>
              <a:pathLst>
                <a:path h="537464" w="537464">
                  <a:moveTo>
                    <a:pt x="0" y="268732"/>
                  </a:moveTo>
                  <a:cubicBezTo>
                    <a:pt x="0" y="120269"/>
                    <a:pt x="120269" y="0"/>
                    <a:pt x="268732" y="0"/>
                  </a:cubicBezTo>
                  <a:cubicBezTo>
                    <a:pt x="417195" y="0"/>
                    <a:pt x="537464" y="120269"/>
                    <a:pt x="537464" y="268732"/>
                  </a:cubicBezTo>
                  <a:cubicBezTo>
                    <a:pt x="537464" y="417195"/>
                    <a:pt x="417195" y="537464"/>
                    <a:pt x="268732" y="537464"/>
                  </a:cubicBezTo>
                  <a:cubicBezTo>
                    <a:pt x="120269" y="537464"/>
                    <a:pt x="0" y="417195"/>
                    <a:pt x="0" y="268732"/>
                  </a:cubicBezTo>
                  <a:close/>
                </a:path>
              </a:pathLst>
            </a:custGeom>
            <a:solidFill>
              <a:srgbClr val="C98A2C"/>
            </a:solidFill>
            <a:ln w="19050" cap="sq">
              <a:solidFill>
                <a:srgbClr val="C98A2C"/>
              </a:solidFill>
              <a:prstDash val="solid"/>
              <a:miter/>
            </a:ln>
          </p:spPr>
        </p:sp>
      </p:grpSp>
      <p:grpSp>
        <p:nvGrpSpPr>
          <p:cNvPr name="Group 40" id="40"/>
          <p:cNvGrpSpPr/>
          <p:nvPr/>
        </p:nvGrpSpPr>
        <p:grpSpPr>
          <a:xfrm rot="0">
            <a:off x="1371600" y="4732020"/>
            <a:ext cx="3154680" cy="438912"/>
            <a:chOff x="0" y="0"/>
            <a:chExt cx="4206240" cy="585216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4206240" cy="585216"/>
            </a:xfrm>
            <a:custGeom>
              <a:avLst/>
              <a:gdLst/>
              <a:ahLst/>
              <a:cxnLst/>
              <a:rect r="r" b="b" t="t" l="l"/>
              <a:pathLst>
                <a:path h="585216" w="4206240">
                  <a:moveTo>
                    <a:pt x="0" y="0"/>
                  </a:moveTo>
                  <a:lnTo>
                    <a:pt x="4206240" y="0"/>
                  </a:lnTo>
                  <a:lnTo>
                    <a:pt x="420624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0048" r="0" b="-90048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19050"/>
              <a:ext cx="4206240" cy="6042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2B2B2B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Search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891540" y="5280660"/>
            <a:ext cx="3634740" cy="548640"/>
            <a:chOff x="0" y="0"/>
            <a:chExt cx="4846320" cy="73152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4846320" cy="731520"/>
            </a:xfrm>
            <a:custGeom>
              <a:avLst/>
              <a:gdLst/>
              <a:ahLst/>
              <a:cxnLst/>
              <a:rect r="r" b="b" t="t" l="l"/>
              <a:pathLst>
                <a:path h="731520" w="4846320">
                  <a:moveTo>
                    <a:pt x="0" y="0"/>
                  </a:moveTo>
                  <a:lnTo>
                    <a:pt x="4846320" y="0"/>
                  </a:lnTo>
                  <a:lnTo>
                    <a:pt x="48463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9088" r="0" b="-79088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19050"/>
              <a:ext cx="484632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4A4A4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Filter by group &amp; locality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4793456" y="4587716"/>
            <a:ext cx="3991928" cy="1317308"/>
            <a:chOff x="0" y="0"/>
            <a:chExt cx="5322570" cy="175641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5322570" cy="1756410"/>
            </a:xfrm>
            <a:custGeom>
              <a:avLst/>
              <a:gdLst/>
              <a:ahLst/>
              <a:cxnLst/>
              <a:rect r="r" b="b" t="t" l="l"/>
              <a:pathLst>
                <a:path h="1756410" w="5322570">
                  <a:moveTo>
                    <a:pt x="0" y="0"/>
                  </a:moveTo>
                  <a:lnTo>
                    <a:pt x="5322570" y="0"/>
                  </a:lnTo>
                  <a:lnTo>
                    <a:pt x="5322570" y="1756410"/>
                  </a:lnTo>
                  <a:lnTo>
                    <a:pt x="0" y="1756410"/>
                  </a:lnTo>
                  <a:close/>
                </a:path>
              </a:pathLst>
            </a:custGeom>
            <a:solidFill>
              <a:srgbClr val="F7EDEA"/>
            </a:solidFill>
            <a:ln w="14288" cap="sq">
              <a:solidFill>
                <a:srgbClr val="E3CFC9"/>
              </a:solidFill>
              <a:prstDash val="solid"/>
              <a:miter/>
            </a:ln>
          </p:spPr>
        </p:sp>
      </p:grpSp>
      <p:grpSp>
        <p:nvGrpSpPr>
          <p:cNvPr name="Group 48" id="48"/>
          <p:cNvGrpSpPr/>
          <p:nvPr/>
        </p:nvGrpSpPr>
        <p:grpSpPr>
          <a:xfrm rot="0">
            <a:off x="4955667" y="4749927"/>
            <a:ext cx="403098" cy="403098"/>
            <a:chOff x="0" y="0"/>
            <a:chExt cx="537464" cy="537464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537464" cy="537464"/>
            </a:xfrm>
            <a:custGeom>
              <a:avLst/>
              <a:gdLst/>
              <a:ahLst/>
              <a:cxnLst/>
              <a:rect r="r" b="b" t="t" l="l"/>
              <a:pathLst>
                <a:path h="537464" w="537464">
                  <a:moveTo>
                    <a:pt x="0" y="268732"/>
                  </a:moveTo>
                  <a:cubicBezTo>
                    <a:pt x="0" y="120269"/>
                    <a:pt x="120269" y="0"/>
                    <a:pt x="268732" y="0"/>
                  </a:cubicBezTo>
                  <a:cubicBezTo>
                    <a:pt x="417195" y="0"/>
                    <a:pt x="537464" y="120269"/>
                    <a:pt x="537464" y="268732"/>
                  </a:cubicBezTo>
                  <a:cubicBezTo>
                    <a:pt x="537464" y="417195"/>
                    <a:pt x="417195" y="537464"/>
                    <a:pt x="268732" y="537464"/>
                  </a:cubicBezTo>
                  <a:cubicBezTo>
                    <a:pt x="120269" y="537464"/>
                    <a:pt x="0" y="417195"/>
                    <a:pt x="0" y="268732"/>
                  </a:cubicBezTo>
                  <a:close/>
                </a:path>
              </a:pathLst>
            </a:custGeom>
            <a:solidFill>
              <a:srgbClr val="6E2723"/>
            </a:solidFill>
            <a:ln w="19050" cap="sq">
              <a:solidFill>
                <a:srgbClr val="6E2723"/>
              </a:solidFill>
              <a:prstDash val="solid"/>
              <a:miter/>
            </a:ln>
          </p:spPr>
        </p:sp>
      </p:grpSp>
      <p:grpSp>
        <p:nvGrpSpPr>
          <p:cNvPr name="Group 50" id="50"/>
          <p:cNvGrpSpPr/>
          <p:nvPr/>
        </p:nvGrpSpPr>
        <p:grpSpPr>
          <a:xfrm rot="0">
            <a:off x="5486400" y="4732020"/>
            <a:ext cx="3154680" cy="438912"/>
            <a:chOff x="0" y="0"/>
            <a:chExt cx="4206240" cy="585216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4206240" cy="585216"/>
            </a:xfrm>
            <a:custGeom>
              <a:avLst/>
              <a:gdLst/>
              <a:ahLst/>
              <a:cxnLst/>
              <a:rect r="r" b="b" t="t" l="l"/>
              <a:pathLst>
                <a:path h="585216" w="4206240">
                  <a:moveTo>
                    <a:pt x="0" y="0"/>
                  </a:moveTo>
                  <a:lnTo>
                    <a:pt x="4206240" y="0"/>
                  </a:lnTo>
                  <a:lnTo>
                    <a:pt x="420624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0048" r="0" b="-90048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19050"/>
              <a:ext cx="4206240" cy="6042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2B2B2B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Contact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5006340" y="5280660"/>
            <a:ext cx="3634740" cy="548640"/>
            <a:chOff x="0" y="0"/>
            <a:chExt cx="4846320" cy="73152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4846320" cy="731520"/>
            </a:xfrm>
            <a:custGeom>
              <a:avLst/>
              <a:gdLst/>
              <a:ahLst/>
              <a:cxnLst/>
              <a:rect r="r" b="b" t="t" l="l"/>
              <a:pathLst>
                <a:path h="731520" w="4846320">
                  <a:moveTo>
                    <a:pt x="0" y="0"/>
                  </a:moveTo>
                  <a:lnTo>
                    <a:pt x="4846320" y="0"/>
                  </a:lnTo>
                  <a:lnTo>
                    <a:pt x="48463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9088" r="0" b="-79088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19050"/>
              <a:ext cx="484632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4A4A4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One-click call / chat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678656" y="6165056"/>
            <a:ext cx="8106728" cy="480632"/>
            <a:chOff x="0" y="0"/>
            <a:chExt cx="10808970" cy="640842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0808970" cy="640842"/>
            </a:xfrm>
            <a:custGeom>
              <a:avLst/>
              <a:gdLst/>
              <a:ahLst/>
              <a:cxnLst/>
              <a:rect r="r" b="b" t="t" l="l"/>
              <a:pathLst>
                <a:path h="640842" w="10808970">
                  <a:moveTo>
                    <a:pt x="0" y="0"/>
                  </a:moveTo>
                  <a:lnTo>
                    <a:pt x="10808970" y="0"/>
                  </a:lnTo>
                  <a:lnTo>
                    <a:pt x="10808970" y="640842"/>
                  </a:lnTo>
                  <a:lnTo>
                    <a:pt x="0" y="640842"/>
                  </a:lnTo>
                  <a:close/>
                </a:path>
              </a:pathLst>
            </a:custGeom>
            <a:solidFill>
              <a:srgbClr val="6E2723"/>
            </a:solidFill>
            <a:ln w="14288" cap="sq">
              <a:solidFill>
                <a:srgbClr val="6E2723"/>
              </a:solidFill>
              <a:prstDash val="solid"/>
              <a:miter/>
            </a:ln>
          </p:spPr>
        </p:sp>
      </p:grpSp>
      <p:grpSp>
        <p:nvGrpSpPr>
          <p:cNvPr name="Group 58" id="58"/>
          <p:cNvGrpSpPr/>
          <p:nvPr/>
        </p:nvGrpSpPr>
        <p:grpSpPr>
          <a:xfrm rot="0">
            <a:off x="754380" y="6172200"/>
            <a:ext cx="7955280" cy="466344"/>
            <a:chOff x="0" y="0"/>
            <a:chExt cx="10607040" cy="621792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10607040" cy="621792"/>
            </a:xfrm>
            <a:custGeom>
              <a:avLst/>
              <a:gdLst/>
              <a:ahLst/>
              <a:cxnLst/>
              <a:rect r="r" b="b" t="t" l="l"/>
              <a:pathLst>
                <a:path h="621792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2391" r="0" b="-282391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19050"/>
              <a:ext cx="10607040" cy="6408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Why Quick Access Matters</a:t>
              </a:r>
            </a:p>
          </p:txBody>
        </p:sp>
      </p:grpSp>
      <p:sp>
        <p:nvSpPr>
          <p:cNvPr name="TextBox 61" id="61"/>
          <p:cNvSpPr txBox="true"/>
          <p:nvPr/>
        </p:nvSpPr>
        <p:spPr>
          <a:xfrm rot="0">
            <a:off x="822960" y="6770370"/>
            <a:ext cx="7955280" cy="2625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52901" indent="-176451" lvl="1">
              <a:lnSpc>
                <a:spcPts val="2340"/>
              </a:lnSpc>
              <a:buFont typeface="Arial"/>
              <a:buChar char="•"/>
            </a:pPr>
            <a:r>
              <a:rPr lang="en-US" sz="1950">
                <a:solidFill>
                  <a:srgbClr val="2B2B2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Blood cannot be manufactured — it depends on donors</a:t>
            </a:r>
          </a:p>
          <a:p>
            <a:pPr algn="l" marL="352901" indent="-176451" lvl="1">
              <a:lnSpc>
                <a:spcPts val="2340"/>
              </a:lnSpc>
              <a:buFont typeface="Arial"/>
              <a:buChar char="•"/>
            </a:pPr>
            <a:r>
              <a:rPr lang="en-US" sz="1950">
                <a:solidFill>
                  <a:srgbClr val="2B2B2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Emergencies, accidents and surgeries are unplanned</a:t>
            </a:r>
          </a:p>
          <a:p>
            <a:pPr algn="l" marL="352901" indent="-176451" lvl="1">
              <a:lnSpc>
                <a:spcPts val="2340"/>
              </a:lnSpc>
              <a:buFont typeface="Arial"/>
              <a:buChar char="•"/>
            </a:pPr>
            <a:r>
              <a:rPr lang="en-US" sz="1950">
                <a:solidFill>
                  <a:srgbClr val="2B2B2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Rare blood groups are hard to find at short notice</a:t>
            </a:r>
          </a:p>
          <a:p>
            <a:pPr algn="l" marL="352901" indent="-176451" lvl="1">
              <a:lnSpc>
                <a:spcPts val="2340"/>
              </a:lnSpc>
              <a:buFont typeface="Arial"/>
              <a:buChar char="•"/>
            </a:pPr>
            <a:r>
              <a:rPr lang="en-US" sz="1950">
                <a:solidFill>
                  <a:srgbClr val="2B2B2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Every minute of searching delays treatment</a:t>
            </a:r>
          </a:p>
        </p:txBody>
      </p:sp>
      <p:grpSp>
        <p:nvGrpSpPr>
          <p:cNvPr name="Group 62" id="62"/>
          <p:cNvGrpSpPr/>
          <p:nvPr/>
        </p:nvGrpSpPr>
        <p:grpSpPr>
          <a:xfrm rot="0">
            <a:off x="9319736" y="1295876"/>
            <a:ext cx="8243888" cy="480632"/>
            <a:chOff x="0" y="0"/>
            <a:chExt cx="10991850" cy="640842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10991850" cy="640842"/>
            </a:xfrm>
            <a:custGeom>
              <a:avLst/>
              <a:gdLst/>
              <a:ahLst/>
              <a:cxnLst/>
              <a:rect r="r" b="b" t="t" l="l"/>
              <a:pathLst>
                <a:path h="640842" w="10991850">
                  <a:moveTo>
                    <a:pt x="0" y="0"/>
                  </a:moveTo>
                  <a:lnTo>
                    <a:pt x="10991850" y="0"/>
                  </a:lnTo>
                  <a:lnTo>
                    <a:pt x="10991850" y="640842"/>
                  </a:lnTo>
                  <a:lnTo>
                    <a:pt x="0" y="640842"/>
                  </a:lnTo>
                  <a:close/>
                </a:path>
              </a:pathLst>
            </a:custGeom>
            <a:solidFill>
              <a:srgbClr val="444444"/>
            </a:solidFill>
            <a:ln w="14288" cap="sq">
              <a:solidFill>
                <a:srgbClr val="444444"/>
              </a:solidFill>
              <a:prstDash val="solid"/>
              <a:miter/>
            </a:ln>
          </p:spPr>
        </p:sp>
      </p:grpSp>
      <p:grpSp>
        <p:nvGrpSpPr>
          <p:cNvPr name="Group 64" id="64"/>
          <p:cNvGrpSpPr/>
          <p:nvPr/>
        </p:nvGrpSpPr>
        <p:grpSpPr>
          <a:xfrm rot="0">
            <a:off x="9395460" y="1303020"/>
            <a:ext cx="8092440" cy="466344"/>
            <a:chOff x="0" y="0"/>
            <a:chExt cx="10789920" cy="621792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10789920" cy="621792"/>
            </a:xfrm>
            <a:custGeom>
              <a:avLst/>
              <a:gdLst/>
              <a:ahLst/>
              <a:cxnLst/>
              <a:rect r="r" b="b" t="t" l="l"/>
              <a:pathLst>
                <a:path h="621792" w="10789920">
                  <a:moveTo>
                    <a:pt x="0" y="0"/>
                  </a:moveTo>
                  <a:lnTo>
                    <a:pt x="10789920" y="0"/>
                  </a:lnTo>
                  <a:lnTo>
                    <a:pt x="1078992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8122" r="0" b="-288122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19050"/>
              <a:ext cx="10789920" cy="6408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Example Flow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9319736" y="1981676"/>
            <a:ext cx="8243888" cy="672656"/>
            <a:chOff x="0" y="0"/>
            <a:chExt cx="10991850" cy="896874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10991850" cy="896874"/>
            </a:xfrm>
            <a:custGeom>
              <a:avLst/>
              <a:gdLst/>
              <a:ahLst/>
              <a:cxnLst/>
              <a:rect r="r" b="b" t="t" l="l"/>
              <a:pathLst>
                <a:path h="896874" w="10991850">
                  <a:moveTo>
                    <a:pt x="0" y="0"/>
                  </a:moveTo>
                  <a:lnTo>
                    <a:pt x="10991850" y="0"/>
                  </a:lnTo>
                  <a:lnTo>
                    <a:pt x="10991850" y="896874"/>
                  </a:lnTo>
                  <a:lnTo>
                    <a:pt x="0" y="896874"/>
                  </a:lnTo>
                  <a:close/>
                </a:path>
              </a:pathLst>
            </a:custGeom>
            <a:solidFill>
              <a:srgbClr val="953734"/>
            </a:solidFill>
            <a:ln w="14288" cap="sq">
              <a:solidFill>
                <a:srgbClr val="953734"/>
              </a:solidFill>
              <a:prstDash val="solid"/>
              <a:miter/>
            </a:ln>
          </p:spPr>
        </p:sp>
      </p:grpSp>
      <p:grpSp>
        <p:nvGrpSpPr>
          <p:cNvPr name="Group 69" id="69"/>
          <p:cNvGrpSpPr/>
          <p:nvPr/>
        </p:nvGrpSpPr>
        <p:grpSpPr>
          <a:xfrm rot="0">
            <a:off x="9395460" y="1988820"/>
            <a:ext cx="8092440" cy="658368"/>
            <a:chOff x="0" y="0"/>
            <a:chExt cx="10789920" cy="877824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10789920" cy="877824"/>
            </a:xfrm>
            <a:custGeom>
              <a:avLst/>
              <a:gdLst/>
              <a:ahLst/>
              <a:cxnLst/>
              <a:rect r="r" b="b" t="t" l="l"/>
              <a:pathLst>
                <a:path h="877824" w="10789920">
                  <a:moveTo>
                    <a:pt x="0" y="0"/>
                  </a:moveTo>
                  <a:lnTo>
                    <a:pt x="10789920" y="0"/>
                  </a:lnTo>
                  <a:lnTo>
                    <a:pt x="1078992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9503" r="0" b="-189503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19050"/>
              <a:ext cx="10789920" cy="89687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Family posts SOS: “B+ needed, City Hospital”</a:t>
              </a: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13272326" y="2669858"/>
            <a:ext cx="338709" cy="256413"/>
            <a:chOff x="0" y="0"/>
            <a:chExt cx="451612" cy="341884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451612" cy="341884"/>
            </a:xfrm>
            <a:custGeom>
              <a:avLst/>
              <a:gdLst/>
              <a:ahLst/>
              <a:cxnLst/>
              <a:rect r="r" b="b" t="t" l="l"/>
              <a:pathLst>
                <a:path h="341884" w="451612">
                  <a:moveTo>
                    <a:pt x="0" y="170942"/>
                  </a:moveTo>
                  <a:lnTo>
                    <a:pt x="112903" y="170942"/>
                  </a:lnTo>
                  <a:lnTo>
                    <a:pt x="112903" y="0"/>
                  </a:lnTo>
                  <a:lnTo>
                    <a:pt x="338709" y="0"/>
                  </a:lnTo>
                  <a:lnTo>
                    <a:pt x="338709" y="170942"/>
                  </a:lnTo>
                  <a:lnTo>
                    <a:pt x="451612" y="170942"/>
                  </a:lnTo>
                  <a:lnTo>
                    <a:pt x="225806" y="341884"/>
                  </a:lnTo>
                  <a:close/>
                </a:path>
              </a:pathLst>
            </a:custGeom>
            <a:solidFill>
              <a:srgbClr val="C98A2C"/>
            </a:solidFill>
            <a:ln w="9525" cap="sq">
              <a:solidFill>
                <a:srgbClr val="C98A2C"/>
              </a:solidFill>
              <a:prstDash val="solid"/>
              <a:miter/>
            </a:ln>
          </p:spPr>
        </p:sp>
      </p:grpSp>
      <p:grpSp>
        <p:nvGrpSpPr>
          <p:cNvPr name="Group 74" id="74"/>
          <p:cNvGrpSpPr/>
          <p:nvPr/>
        </p:nvGrpSpPr>
        <p:grpSpPr>
          <a:xfrm rot="0">
            <a:off x="9319736" y="2914364"/>
            <a:ext cx="8243888" cy="672656"/>
            <a:chOff x="0" y="0"/>
            <a:chExt cx="10991850" cy="896874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10991850" cy="896874"/>
            </a:xfrm>
            <a:custGeom>
              <a:avLst/>
              <a:gdLst/>
              <a:ahLst/>
              <a:cxnLst/>
              <a:rect r="r" b="b" t="t" l="l"/>
              <a:pathLst>
                <a:path h="896874" w="10991850">
                  <a:moveTo>
                    <a:pt x="0" y="0"/>
                  </a:moveTo>
                  <a:lnTo>
                    <a:pt x="10991850" y="0"/>
                  </a:lnTo>
                  <a:lnTo>
                    <a:pt x="10991850" y="896874"/>
                  </a:lnTo>
                  <a:lnTo>
                    <a:pt x="0" y="896874"/>
                  </a:lnTo>
                  <a:close/>
                </a:path>
              </a:pathLst>
            </a:custGeom>
            <a:solidFill>
              <a:srgbClr val="028090"/>
            </a:solidFill>
            <a:ln w="14288" cap="sq">
              <a:solidFill>
                <a:srgbClr val="028090"/>
              </a:solidFill>
              <a:prstDash val="solid"/>
              <a:miter/>
            </a:ln>
          </p:spPr>
        </p:sp>
      </p:grpSp>
      <p:grpSp>
        <p:nvGrpSpPr>
          <p:cNvPr name="Group 76" id="76"/>
          <p:cNvGrpSpPr/>
          <p:nvPr/>
        </p:nvGrpSpPr>
        <p:grpSpPr>
          <a:xfrm rot="0">
            <a:off x="9395460" y="2921508"/>
            <a:ext cx="8092440" cy="658368"/>
            <a:chOff x="0" y="0"/>
            <a:chExt cx="10789920" cy="877824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10789920" cy="877824"/>
            </a:xfrm>
            <a:custGeom>
              <a:avLst/>
              <a:gdLst/>
              <a:ahLst/>
              <a:cxnLst/>
              <a:rect r="r" b="b" t="t" l="l"/>
              <a:pathLst>
                <a:path h="877824" w="10789920">
                  <a:moveTo>
                    <a:pt x="0" y="0"/>
                  </a:moveTo>
                  <a:lnTo>
                    <a:pt x="10789920" y="0"/>
                  </a:lnTo>
                  <a:lnTo>
                    <a:pt x="1078992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9503" r="0" b="-189503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-19050"/>
              <a:ext cx="10789920" cy="89687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SOS appears on the neighbourhood board</a:t>
              </a:r>
            </a:p>
          </p:txBody>
        </p:sp>
      </p:grpSp>
      <p:grpSp>
        <p:nvGrpSpPr>
          <p:cNvPr name="Group 79" id="79"/>
          <p:cNvGrpSpPr/>
          <p:nvPr/>
        </p:nvGrpSpPr>
        <p:grpSpPr>
          <a:xfrm rot="0">
            <a:off x="13272326" y="3602546"/>
            <a:ext cx="338709" cy="256413"/>
            <a:chOff x="0" y="0"/>
            <a:chExt cx="451612" cy="341884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451612" cy="341884"/>
            </a:xfrm>
            <a:custGeom>
              <a:avLst/>
              <a:gdLst/>
              <a:ahLst/>
              <a:cxnLst/>
              <a:rect r="r" b="b" t="t" l="l"/>
              <a:pathLst>
                <a:path h="341884" w="451612">
                  <a:moveTo>
                    <a:pt x="0" y="170942"/>
                  </a:moveTo>
                  <a:lnTo>
                    <a:pt x="112903" y="170942"/>
                  </a:lnTo>
                  <a:lnTo>
                    <a:pt x="112903" y="0"/>
                  </a:lnTo>
                  <a:lnTo>
                    <a:pt x="338709" y="0"/>
                  </a:lnTo>
                  <a:lnTo>
                    <a:pt x="338709" y="170942"/>
                  </a:lnTo>
                  <a:lnTo>
                    <a:pt x="451612" y="170942"/>
                  </a:lnTo>
                  <a:lnTo>
                    <a:pt x="225806" y="341884"/>
                  </a:lnTo>
                  <a:close/>
                </a:path>
              </a:pathLst>
            </a:custGeom>
            <a:solidFill>
              <a:srgbClr val="C98A2C"/>
            </a:solidFill>
            <a:ln w="9525" cap="sq">
              <a:solidFill>
                <a:srgbClr val="C98A2C"/>
              </a:solidFill>
              <a:prstDash val="solid"/>
              <a:miter/>
            </a:ln>
          </p:spPr>
        </p:sp>
      </p:grpSp>
      <p:grpSp>
        <p:nvGrpSpPr>
          <p:cNvPr name="Group 81" id="81"/>
          <p:cNvGrpSpPr/>
          <p:nvPr/>
        </p:nvGrpSpPr>
        <p:grpSpPr>
          <a:xfrm rot="0">
            <a:off x="9319736" y="3847052"/>
            <a:ext cx="8243888" cy="672656"/>
            <a:chOff x="0" y="0"/>
            <a:chExt cx="10991850" cy="896874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10991850" cy="896874"/>
            </a:xfrm>
            <a:custGeom>
              <a:avLst/>
              <a:gdLst/>
              <a:ahLst/>
              <a:cxnLst/>
              <a:rect r="r" b="b" t="t" l="l"/>
              <a:pathLst>
                <a:path h="896874" w="10991850">
                  <a:moveTo>
                    <a:pt x="0" y="0"/>
                  </a:moveTo>
                  <a:lnTo>
                    <a:pt x="10991850" y="0"/>
                  </a:lnTo>
                  <a:lnTo>
                    <a:pt x="10991850" y="896874"/>
                  </a:lnTo>
                  <a:lnTo>
                    <a:pt x="0" y="896874"/>
                  </a:lnTo>
                  <a:close/>
                </a:path>
              </a:pathLst>
            </a:custGeom>
            <a:solidFill>
              <a:srgbClr val="C98A2C"/>
            </a:solidFill>
            <a:ln w="14288" cap="sq">
              <a:solidFill>
                <a:srgbClr val="C98A2C"/>
              </a:solidFill>
              <a:prstDash val="solid"/>
              <a:miter/>
            </a:ln>
          </p:spPr>
        </p:sp>
      </p:grpSp>
      <p:grpSp>
        <p:nvGrpSpPr>
          <p:cNvPr name="Group 83" id="83"/>
          <p:cNvGrpSpPr/>
          <p:nvPr/>
        </p:nvGrpSpPr>
        <p:grpSpPr>
          <a:xfrm rot="0">
            <a:off x="9395460" y="3854196"/>
            <a:ext cx="8092440" cy="658368"/>
            <a:chOff x="0" y="0"/>
            <a:chExt cx="10789920" cy="877824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10789920" cy="877824"/>
            </a:xfrm>
            <a:custGeom>
              <a:avLst/>
              <a:gdLst/>
              <a:ahLst/>
              <a:cxnLst/>
              <a:rect r="r" b="b" t="t" l="l"/>
              <a:pathLst>
                <a:path h="877824" w="10789920">
                  <a:moveTo>
                    <a:pt x="0" y="0"/>
                  </a:moveTo>
                  <a:lnTo>
                    <a:pt x="10789920" y="0"/>
                  </a:lnTo>
                  <a:lnTo>
                    <a:pt x="1078992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9503" r="0" b="-189503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-19050"/>
              <a:ext cx="10789920" cy="89687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Available B+ donors nearby are listed</a:t>
              </a:r>
            </a:p>
          </p:txBody>
        </p:sp>
      </p:grpSp>
      <p:grpSp>
        <p:nvGrpSpPr>
          <p:cNvPr name="Group 86" id="86"/>
          <p:cNvGrpSpPr/>
          <p:nvPr/>
        </p:nvGrpSpPr>
        <p:grpSpPr>
          <a:xfrm rot="0">
            <a:off x="13272326" y="4535234"/>
            <a:ext cx="338709" cy="256413"/>
            <a:chOff x="0" y="0"/>
            <a:chExt cx="451612" cy="341884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451612" cy="341884"/>
            </a:xfrm>
            <a:custGeom>
              <a:avLst/>
              <a:gdLst/>
              <a:ahLst/>
              <a:cxnLst/>
              <a:rect r="r" b="b" t="t" l="l"/>
              <a:pathLst>
                <a:path h="341884" w="451612">
                  <a:moveTo>
                    <a:pt x="0" y="170942"/>
                  </a:moveTo>
                  <a:lnTo>
                    <a:pt x="112903" y="170942"/>
                  </a:lnTo>
                  <a:lnTo>
                    <a:pt x="112903" y="0"/>
                  </a:lnTo>
                  <a:lnTo>
                    <a:pt x="338709" y="0"/>
                  </a:lnTo>
                  <a:lnTo>
                    <a:pt x="338709" y="170942"/>
                  </a:lnTo>
                  <a:lnTo>
                    <a:pt x="451612" y="170942"/>
                  </a:lnTo>
                  <a:lnTo>
                    <a:pt x="225806" y="341884"/>
                  </a:lnTo>
                  <a:close/>
                </a:path>
              </a:pathLst>
            </a:custGeom>
            <a:solidFill>
              <a:srgbClr val="C98A2C"/>
            </a:solidFill>
            <a:ln w="9525" cap="sq">
              <a:solidFill>
                <a:srgbClr val="C98A2C"/>
              </a:solidFill>
              <a:prstDash val="solid"/>
              <a:miter/>
            </a:ln>
          </p:spPr>
        </p:sp>
      </p:grpSp>
      <p:grpSp>
        <p:nvGrpSpPr>
          <p:cNvPr name="Group 88" id="88"/>
          <p:cNvGrpSpPr/>
          <p:nvPr/>
        </p:nvGrpSpPr>
        <p:grpSpPr>
          <a:xfrm rot="0">
            <a:off x="9319736" y="4779740"/>
            <a:ext cx="8243888" cy="672656"/>
            <a:chOff x="0" y="0"/>
            <a:chExt cx="10991850" cy="896874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10991850" cy="896874"/>
            </a:xfrm>
            <a:custGeom>
              <a:avLst/>
              <a:gdLst/>
              <a:ahLst/>
              <a:cxnLst/>
              <a:rect r="r" b="b" t="t" l="l"/>
              <a:pathLst>
                <a:path h="896874" w="10991850">
                  <a:moveTo>
                    <a:pt x="0" y="0"/>
                  </a:moveTo>
                  <a:lnTo>
                    <a:pt x="10991850" y="0"/>
                  </a:lnTo>
                  <a:lnTo>
                    <a:pt x="10991850" y="896874"/>
                  </a:lnTo>
                  <a:lnTo>
                    <a:pt x="0" y="896874"/>
                  </a:lnTo>
                  <a:close/>
                </a:path>
              </a:pathLst>
            </a:custGeom>
            <a:solidFill>
              <a:srgbClr val="6E2723"/>
            </a:solidFill>
            <a:ln w="14288" cap="sq">
              <a:solidFill>
                <a:srgbClr val="6E2723"/>
              </a:solidFill>
              <a:prstDash val="solid"/>
              <a:miter/>
            </a:ln>
          </p:spPr>
        </p:sp>
      </p:grpSp>
      <p:grpSp>
        <p:nvGrpSpPr>
          <p:cNvPr name="Group 90" id="90"/>
          <p:cNvGrpSpPr/>
          <p:nvPr/>
        </p:nvGrpSpPr>
        <p:grpSpPr>
          <a:xfrm rot="0">
            <a:off x="9395460" y="4786884"/>
            <a:ext cx="8092440" cy="658368"/>
            <a:chOff x="0" y="0"/>
            <a:chExt cx="10789920" cy="877824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10789920" cy="877824"/>
            </a:xfrm>
            <a:custGeom>
              <a:avLst/>
              <a:gdLst/>
              <a:ahLst/>
              <a:cxnLst/>
              <a:rect r="r" b="b" t="t" l="l"/>
              <a:pathLst>
                <a:path h="877824" w="10789920">
                  <a:moveTo>
                    <a:pt x="0" y="0"/>
                  </a:moveTo>
                  <a:lnTo>
                    <a:pt x="10789920" y="0"/>
                  </a:lnTo>
                  <a:lnTo>
                    <a:pt x="1078992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9503" r="0" b="-189503"/>
              </a:stretch>
            </a:blipFill>
          </p:spPr>
        </p:sp>
        <p:sp>
          <p:nvSpPr>
            <p:cNvPr name="TextBox 92" id="92"/>
            <p:cNvSpPr txBox="true"/>
            <p:nvPr/>
          </p:nvSpPr>
          <p:spPr>
            <a:xfrm>
              <a:off x="0" y="-19050"/>
              <a:ext cx="10789920" cy="89687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Requester taps Call / WhatsApp</a:t>
              </a:r>
            </a:p>
          </p:txBody>
        </p:sp>
      </p:grpSp>
      <p:grpSp>
        <p:nvGrpSpPr>
          <p:cNvPr name="Group 93" id="93"/>
          <p:cNvGrpSpPr/>
          <p:nvPr/>
        </p:nvGrpSpPr>
        <p:grpSpPr>
          <a:xfrm rot="0">
            <a:off x="9319736" y="5890736"/>
            <a:ext cx="8243888" cy="480632"/>
            <a:chOff x="0" y="0"/>
            <a:chExt cx="10991850" cy="640842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10991850" cy="640842"/>
            </a:xfrm>
            <a:custGeom>
              <a:avLst/>
              <a:gdLst/>
              <a:ahLst/>
              <a:cxnLst/>
              <a:rect r="r" b="b" t="t" l="l"/>
              <a:pathLst>
                <a:path h="640842" w="10991850">
                  <a:moveTo>
                    <a:pt x="0" y="0"/>
                  </a:moveTo>
                  <a:lnTo>
                    <a:pt x="10991850" y="0"/>
                  </a:lnTo>
                  <a:lnTo>
                    <a:pt x="10991850" y="640842"/>
                  </a:lnTo>
                  <a:lnTo>
                    <a:pt x="0" y="640842"/>
                  </a:lnTo>
                  <a:close/>
                </a:path>
              </a:pathLst>
            </a:custGeom>
            <a:solidFill>
              <a:srgbClr val="953734"/>
            </a:solidFill>
            <a:ln w="14288" cap="sq">
              <a:solidFill>
                <a:srgbClr val="953734"/>
              </a:solidFill>
              <a:prstDash val="solid"/>
              <a:miter/>
            </a:ln>
          </p:spPr>
        </p:sp>
      </p:grpSp>
      <p:grpSp>
        <p:nvGrpSpPr>
          <p:cNvPr name="Group 95" id="95"/>
          <p:cNvGrpSpPr/>
          <p:nvPr/>
        </p:nvGrpSpPr>
        <p:grpSpPr>
          <a:xfrm rot="0">
            <a:off x="9395460" y="5897880"/>
            <a:ext cx="8092440" cy="466344"/>
            <a:chOff x="0" y="0"/>
            <a:chExt cx="10789920" cy="621792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10789920" cy="621792"/>
            </a:xfrm>
            <a:custGeom>
              <a:avLst/>
              <a:gdLst/>
              <a:ahLst/>
              <a:cxnLst/>
              <a:rect r="r" b="b" t="t" l="l"/>
              <a:pathLst>
                <a:path h="621792" w="10789920">
                  <a:moveTo>
                    <a:pt x="0" y="0"/>
                  </a:moveTo>
                  <a:lnTo>
                    <a:pt x="10789920" y="0"/>
                  </a:lnTo>
                  <a:lnTo>
                    <a:pt x="1078992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8122" r="0" b="-288122"/>
              </a:stretch>
            </a:blipFill>
          </p:spPr>
        </p:sp>
        <p:sp>
          <p:nvSpPr>
            <p:cNvPr name="TextBox 97" id="97"/>
            <p:cNvSpPr txBox="true"/>
            <p:nvPr/>
          </p:nvSpPr>
          <p:spPr>
            <a:xfrm>
              <a:off x="0" y="-19050"/>
              <a:ext cx="10789920" cy="6408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Motivation</a:t>
              </a:r>
            </a:p>
          </p:txBody>
        </p:sp>
      </p:grpSp>
      <p:grpSp>
        <p:nvGrpSpPr>
          <p:cNvPr name="Group 98" id="98"/>
          <p:cNvGrpSpPr/>
          <p:nvPr/>
        </p:nvGrpSpPr>
        <p:grpSpPr>
          <a:xfrm rot="0">
            <a:off x="9319736" y="6439376"/>
            <a:ext cx="8243888" cy="2894648"/>
            <a:chOff x="0" y="0"/>
            <a:chExt cx="10991850" cy="3859530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10991850" cy="3859530"/>
            </a:xfrm>
            <a:custGeom>
              <a:avLst/>
              <a:gdLst/>
              <a:ahLst/>
              <a:cxnLst/>
              <a:rect r="r" b="b" t="t" l="l"/>
              <a:pathLst>
                <a:path h="3859530" w="10991850">
                  <a:moveTo>
                    <a:pt x="0" y="0"/>
                  </a:moveTo>
                  <a:lnTo>
                    <a:pt x="10991850" y="0"/>
                  </a:lnTo>
                  <a:lnTo>
                    <a:pt x="10991850" y="3859530"/>
                  </a:lnTo>
                  <a:lnTo>
                    <a:pt x="0" y="3859530"/>
                  </a:lnTo>
                  <a:close/>
                </a:path>
              </a:pathLst>
            </a:custGeom>
            <a:solidFill>
              <a:srgbClr val="F7EDEA"/>
            </a:solidFill>
            <a:ln w="14288" cap="sq">
              <a:solidFill>
                <a:srgbClr val="E3CFC9"/>
              </a:solidFill>
              <a:prstDash val="solid"/>
              <a:miter/>
            </a:ln>
          </p:spPr>
        </p:sp>
      </p:grpSp>
      <p:sp>
        <p:nvSpPr>
          <p:cNvPr name="TextBox 100" id="100"/>
          <p:cNvSpPr txBox="true"/>
          <p:nvPr/>
        </p:nvSpPr>
        <p:spPr>
          <a:xfrm rot="0">
            <a:off x="9532620" y="6537198"/>
            <a:ext cx="7818120" cy="2693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2B2B2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Existing methods rely on forwarded messages and personal contacts, which are slow, unstructured and hard to verify.</a:t>
            </a:r>
          </a:p>
          <a:p>
            <a:pPr algn="l">
              <a:lnSpc>
                <a:spcPts val="2340"/>
              </a:lnSpc>
            </a:pPr>
          </a:p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2B2B2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project gives every neighbourhood one organised place to find help quickly.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7144" y="102584"/>
            <a:ext cx="18301830" cy="864680"/>
            <a:chOff x="0" y="0"/>
            <a:chExt cx="24402440" cy="115290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152906"/>
            </a:xfrm>
            <a:custGeom>
              <a:avLst/>
              <a:gdLst/>
              <a:ahLst/>
              <a:cxnLst/>
              <a:rect r="r" b="b" t="t" l="l"/>
              <a:pathLst>
                <a:path h="1152906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152906"/>
                  </a:lnTo>
                  <a:lnTo>
                    <a:pt x="0" y="1152906"/>
                  </a:lnTo>
                  <a:close/>
                </a:path>
              </a:pathLst>
            </a:custGeom>
            <a:solidFill>
              <a:srgbClr val="953734"/>
            </a:solidFill>
            <a:ln w="14288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411480" y="109728"/>
            <a:ext cx="17464583" cy="850392"/>
            <a:chOff x="0" y="0"/>
            <a:chExt cx="23286110" cy="113385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3286110" cy="1133856"/>
            </a:xfrm>
            <a:custGeom>
              <a:avLst/>
              <a:gdLst/>
              <a:ahLst/>
              <a:cxnLst/>
              <a:rect r="r" b="b" t="t" l="l"/>
              <a:pathLst>
                <a:path h="1133856" w="23286110">
                  <a:moveTo>
                    <a:pt x="0" y="0"/>
                  </a:moveTo>
                  <a:lnTo>
                    <a:pt x="23286110" y="0"/>
                  </a:lnTo>
                  <a:lnTo>
                    <a:pt x="2328611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0166" r="0" b="-35016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23286110" cy="11529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60"/>
                </a:lnSpc>
              </a:pPr>
              <a:r>
                <a:rPr lang="en-US" sz="3300" b="true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Why a Neighbourhood Blood Network?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7323308" y="9738360"/>
            <a:ext cx="685800" cy="411480"/>
            <a:chOff x="0" y="0"/>
            <a:chExt cx="914400" cy="5486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91440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99999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4</a:t>
              </a: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685800" y="1146810"/>
            <a:ext cx="16870680" cy="842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2B2B2B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 hospital may have a blood bank, but during an emergency the nearest willing donor is often a neighbour who simply does not know help is needed.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678656" y="2187416"/>
            <a:ext cx="8243888" cy="480632"/>
            <a:chOff x="0" y="0"/>
            <a:chExt cx="10991850" cy="64084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991850" cy="640842"/>
            </a:xfrm>
            <a:custGeom>
              <a:avLst/>
              <a:gdLst/>
              <a:ahLst/>
              <a:cxnLst/>
              <a:rect r="r" b="b" t="t" l="l"/>
              <a:pathLst>
                <a:path h="640842" w="10991850">
                  <a:moveTo>
                    <a:pt x="0" y="0"/>
                  </a:moveTo>
                  <a:lnTo>
                    <a:pt x="10991850" y="0"/>
                  </a:lnTo>
                  <a:lnTo>
                    <a:pt x="10991850" y="640842"/>
                  </a:lnTo>
                  <a:lnTo>
                    <a:pt x="0" y="640842"/>
                  </a:lnTo>
                  <a:close/>
                </a:path>
              </a:pathLst>
            </a:custGeom>
            <a:solidFill>
              <a:srgbClr val="028090"/>
            </a:solidFill>
            <a:ln w="14288" cap="sq">
              <a:solidFill>
                <a:srgbClr val="028090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754380" y="2194560"/>
            <a:ext cx="8092440" cy="466344"/>
            <a:chOff x="0" y="0"/>
            <a:chExt cx="10789920" cy="62179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789920" cy="621792"/>
            </a:xfrm>
            <a:custGeom>
              <a:avLst/>
              <a:gdLst/>
              <a:ahLst/>
              <a:cxnLst/>
              <a:rect r="r" b="b" t="t" l="l"/>
              <a:pathLst>
                <a:path h="621792" w="10789920">
                  <a:moveTo>
                    <a:pt x="0" y="0"/>
                  </a:moveTo>
                  <a:lnTo>
                    <a:pt x="10789920" y="0"/>
                  </a:lnTo>
                  <a:lnTo>
                    <a:pt x="1078992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8122" r="0" b="-288122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19050"/>
              <a:ext cx="10789920" cy="6408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Example — Emergency Scenario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678656" y="2804636"/>
            <a:ext cx="8243888" cy="700088"/>
            <a:chOff x="0" y="0"/>
            <a:chExt cx="10991850" cy="93345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991850" cy="933450"/>
            </a:xfrm>
            <a:custGeom>
              <a:avLst/>
              <a:gdLst/>
              <a:ahLst/>
              <a:cxnLst/>
              <a:rect r="r" b="b" t="t" l="l"/>
              <a:pathLst>
                <a:path h="933450" w="10991850">
                  <a:moveTo>
                    <a:pt x="0" y="0"/>
                  </a:moveTo>
                  <a:lnTo>
                    <a:pt x="10991850" y="0"/>
                  </a:lnTo>
                  <a:lnTo>
                    <a:pt x="10991850" y="933450"/>
                  </a:lnTo>
                  <a:lnTo>
                    <a:pt x="0" y="933450"/>
                  </a:lnTo>
                  <a:close/>
                </a:path>
              </a:pathLst>
            </a:custGeom>
            <a:solidFill>
              <a:srgbClr val="028090"/>
            </a:solidFill>
            <a:ln w="14288" cap="sq">
              <a:solidFill>
                <a:srgbClr val="028090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754380" y="2811780"/>
            <a:ext cx="8092440" cy="685800"/>
            <a:chOff x="0" y="0"/>
            <a:chExt cx="10789920" cy="9144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789920" cy="914400"/>
            </a:xfrm>
            <a:custGeom>
              <a:avLst/>
              <a:gdLst/>
              <a:ahLst/>
              <a:cxnLst/>
              <a:rect r="r" b="b" t="t" l="l"/>
              <a:pathLst>
                <a:path h="914400" w="10789920">
                  <a:moveTo>
                    <a:pt x="0" y="0"/>
                  </a:moveTo>
                  <a:lnTo>
                    <a:pt x="10789920" y="0"/>
                  </a:lnTo>
                  <a:lnTo>
                    <a:pt x="1078992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9923" r="0" b="-179923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19050"/>
              <a:ext cx="10789920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Patient needs O− blood urgently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4631246" y="3533966"/>
            <a:ext cx="338709" cy="283845"/>
            <a:chOff x="0" y="0"/>
            <a:chExt cx="451612" cy="37846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451612" cy="378460"/>
            </a:xfrm>
            <a:custGeom>
              <a:avLst/>
              <a:gdLst/>
              <a:ahLst/>
              <a:cxnLst/>
              <a:rect r="r" b="b" t="t" l="l"/>
              <a:pathLst>
                <a:path h="378460" w="451612">
                  <a:moveTo>
                    <a:pt x="0" y="189230"/>
                  </a:moveTo>
                  <a:lnTo>
                    <a:pt x="112903" y="189230"/>
                  </a:lnTo>
                  <a:lnTo>
                    <a:pt x="112903" y="0"/>
                  </a:lnTo>
                  <a:lnTo>
                    <a:pt x="338709" y="0"/>
                  </a:lnTo>
                  <a:lnTo>
                    <a:pt x="338709" y="189230"/>
                  </a:lnTo>
                  <a:lnTo>
                    <a:pt x="451612" y="189230"/>
                  </a:lnTo>
                  <a:lnTo>
                    <a:pt x="225806" y="378460"/>
                  </a:lnTo>
                  <a:close/>
                </a:path>
              </a:pathLst>
            </a:custGeom>
            <a:solidFill>
              <a:srgbClr val="C98A2C"/>
            </a:solidFill>
            <a:ln w="9525" cap="sq">
              <a:solidFill>
                <a:srgbClr val="C98A2C"/>
              </a:solidFill>
              <a:prstDash val="solid"/>
              <a:miter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678656" y="3860768"/>
            <a:ext cx="8243888" cy="700088"/>
            <a:chOff x="0" y="0"/>
            <a:chExt cx="10991850" cy="93345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991850" cy="933450"/>
            </a:xfrm>
            <a:custGeom>
              <a:avLst/>
              <a:gdLst/>
              <a:ahLst/>
              <a:cxnLst/>
              <a:rect r="r" b="b" t="t" l="l"/>
              <a:pathLst>
                <a:path h="933450" w="10991850">
                  <a:moveTo>
                    <a:pt x="0" y="0"/>
                  </a:moveTo>
                  <a:lnTo>
                    <a:pt x="10991850" y="0"/>
                  </a:lnTo>
                  <a:lnTo>
                    <a:pt x="10991850" y="933450"/>
                  </a:lnTo>
                  <a:lnTo>
                    <a:pt x="0" y="933450"/>
                  </a:lnTo>
                  <a:close/>
                </a:path>
              </a:pathLst>
            </a:custGeom>
            <a:solidFill>
              <a:srgbClr val="444444"/>
            </a:solidFill>
            <a:ln w="14288" cap="sq">
              <a:solidFill>
                <a:srgbClr val="444444"/>
              </a:solidFill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754380" y="3867912"/>
            <a:ext cx="8092440" cy="685800"/>
            <a:chOff x="0" y="0"/>
            <a:chExt cx="10789920" cy="9144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0789920" cy="914400"/>
            </a:xfrm>
            <a:custGeom>
              <a:avLst/>
              <a:gdLst/>
              <a:ahLst/>
              <a:cxnLst/>
              <a:rect r="r" b="b" t="t" l="l"/>
              <a:pathLst>
                <a:path h="914400" w="10789920">
                  <a:moveTo>
                    <a:pt x="0" y="0"/>
                  </a:moveTo>
                  <a:lnTo>
                    <a:pt x="10789920" y="0"/>
                  </a:lnTo>
                  <a:lnTo>
                    <a:pt x="1078992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9923" r="0" b="-179923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19050"/>
              <a:ext cx="10789920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Family searches phone contacts and groups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4631246" y="4590097"/>
            <a:ext cx="338709" cy="283845"/>
            <a:chOff x="0" y="0"/>
            <a:chExt cx="451612" cy="37846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451612" cy="378460"/>
            </a:xfrm>
            <a:custGeom>
              <a:avLst/>
              <a:gdLst/>
              <a:ahLst/>
              <a:cxnLst/>
              <a:rect r="r" b="b" t="t" l="l"/>
              <a:pathLst>
                <a:path h="378460" w="451612">
                  <a:moveTo>
                    <a:pt x="0" y="189230"/>
                  </a:moveTo>
                  <a:lnTo>
                    <a:pt x="112903" y="189230"/>
                  </a:lnTo>
                  <a:lnTo>
                    <a:pt x="112903" y="0"/>
                  </a:lnTo>
                  <a:lnTo>
                    <a:pt x="338709" y="0"/>
                  </a:lnTo>
                  <a:lnTo>
                    <a:pt x="338709" y="189230"/>
                  </a:lnTo>
                  <a:lnTo>
                    <a:pt x="451612" y="189230"/>
                  </a:lnTo>
                  <a:lnTo>
                    <a:pt x="225806" y="378460"/>
                  </a:lnTo>
                  <a:close/>
                </a:path>
              </a:pathLst>
            </a:custGeom>
            <a:solidFill>
              <a:srgbClr val="C98A2C"/>
            </a:solidFill>
            <a:ln w="9525" cap="sq">
              <a:solidFill>
                <a:srgbClr val="C98A2C"/>
              </a:solidFill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678656" y="4930616"/>
            <a:ext cx="8243888" cy="700088"/>
            <a:chOff x="0" y="0"/>
            <a:chExt cx="10991850" cy="93345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0991850" cy="933450"/>
            </a:xfrm>
            <a:custGeom>
              <a:avLst/>
              <a:gdLst/>
              <a:ahLst/>
              <a:cxnLst/>
              <a:rect r="r" b="b" t="t" l="l"/>
              <a:pathLst>
                <a:path h="933450" w="10991850">
                  <a:moveTo>
                    <a:pt x="0" y="0"/>
                  </a:moveTo>
                  <a:lnTo>
                    <a:pt x="10991850" y="0"/>
                  </a:lnTo>
                  <a:lnTo>
                    <a:pt x="10991850" y="933450"/>
                  </a:lnTo>
                  <a:lnTo>
                    <a:pt x="0" y="933450"/>
                  </a:lnTo>
                  <a:close/>
                </a:path>
              </a:pathLst>
            </a:custGeom>
            <a:solidFill>
              <a:srgbClr val="953734"/>
            </a:solidFill>
            <a:ln w="14288" cap="sq">
              <a:solidFill>
                <a:srgbClr val="953734"/>
              </a:solidFill>
              <a:prstDash val="solid"/>
              <a:miter/>
            </a:ln>
          </p:spPr>
        </p:sp>
      </p:grpSp>
      <p:grpSp>
        <p:nvGrpSpPr>
          <p:cNvPr name="Group 32" id="32"/>
          <p:cNvGrpSpPr/>
          <p:nvPr/>
        </p:nvGrpSpPr>
        <p:grpSpPr>
          <a:xfrm rot="0">
            <a:off x="754380" y="4937760"/>
            <a:ext cx="8092440" cy="685800"/>
            <a:chOff x="0" y="0"/>
            <a:chExt cx="10789920" cy="9144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0789920" cy="914400"/>
            </a:xfrm>
            <a:custGeom>
              <a:avLst/>
              <a:gdLst/>
              <a:ahLst/>
              <a:cxnLst/>
              <a:rect r="r" b="b" t="t" l="l"/>
              <a:pathLst>
                <a:path h="914400" w="10789920">
                  <a:moveTo>
                    <a:pt x="0" y="0"/>
                  </a:moveTo>
                  <a:lnTo>
                    <a:pt x="10789920" y="0"/>
                  </a:lnTo>
                  <a:lnTo>
                    <a:pt x="1078992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9923" r="0" b="-179923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19050"/>
              <a:ext cx="10789920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Hours lost without a structured donor list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678656" y="5890736"/>
            <a:ext cx="8243888" cy="1660208"/>
            <a:chOff x="0" y="0"/>
            <a:chExt cx="10991850" cy="221361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0991850" cy="2213610"/>
            </a:xfrm>
            <a:custGeom>
              <a:avLst/>
              <a:gdLst/>
              <a:ahLst/>
              <a:cxnLst/>
              <a:rect r="r" b="b" t="t" l="l"/>
              <a:pathLst>
                <a:path h="2213610" w="10991850">
                  <a:moveTo>
                    <a:pt x="0" y="0"/>
                  </a:moveTo>
                  <a:lnTo>
                    <a:pt x="10991850" y="0"/>
                  </a:lnTo>
                  <a:lnTo>
                    <a:pt x="10991850" y="2213610"/>
                  </a:lnTo>
                  <a:lnTo>
                    <a:pt x="0" y="2213610"/>
                  </a:lnTo>
                  <a:close/>
                </a:path>
              </a:pathLst>
            </a:custGeom>
            <a:solidFill>
              <a:srgbClr val="F7EDEA"/>
            </a:solidFill>
            <a:ln w="14288" cap="sq">
              <a:solidFill>
                <a:srgbClr val="E3CFC9"/>
              </a:solidFill>
              <a:prstDash val="solid"/>
              <a:miter/>
            </a:ln>
          </p:spPr>
        </p:sp>
      </p:grpSp>
      <p:grpSp>
        <p:nvGrpSpPr>
          <p:cNvPr name="Group 37" id="37"/>
          <p:cNvGrpSpPr/>
          <p:nvPr/>
        </p:nvGrpSpPr>
        <p:grpSpPr>
          <a:xfrm rot="0">
            <a:off x="891540" y="6007608"/>
            <a:ext cx="7818120" cy="1440180"/>
            <a:chOff x="0" y="0"/>
            <a:chExt cx="10424160" cy="192024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0424160" cy="1920240"/>
            </a:xfrm>
            <a:custGeom>
              <a:avLst/>
              <a:gdLst/>
              <a:ahLst/>
              <a:cxnLst/>
              <a:rect r="r" b="b" t="t" l="l"/>
              <a:pathLst>
                <a:path h="1920240" w="10424160">
                  <a:moveTo>
                    <a:pt x="0" y="0"/>
                  </a:moveTo>
                  <a:lnTo>
                    <a:pt x="10424160" y="0"/>
                  </a:lnTo>
                  <a:lnTo>
                    <a:pt x="10424160" y="1920240"/>
                  </a:lnTo>
                  <a:lnTo>
                    <a:pt x="0" y="1920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5775" r="0" b="-55775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19050"/>
              <a:ext cx="10424160" cy="19392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4A4A4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With the directory, the same request reaches every registered O− donor in the locality in seconds, and each can be contacted directly.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9456896" y="2187416"/>
            <a:ext cx="8106728" cy="480632"/>
            <a:chOff x="0" y="0"/>
            <a:chExt cx="10808970" cy="640842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0808970" cy="640842"/>
            </a:xfrm>
            <a:custGeom>
              <a:avLst/>
              <a:gdLst/>
              <a:ahLst/>
              <a:cxnLst/>
              <a:rect r="r" b="b" t="t" l="l"/>
              <a:pathLst>
                <a:path h="640842" w="10808970">
                  <a:moveTo>
                    <a:pt x="0" y="0"/>
                  </a:moveTo>
                  <a:lnTo>
                    <a:pt x="10808970" y="0"/>
                  </a:lnTo>
                  <a:lnTo>
                    <a:pt x="10808970" y="640842"/>
                  </a:lnTo>
                  <a:lnTo>
                    <a:pt x="0" y="640842"/>
                  </a:lnTo>
                  <a:close/>
                </a:path>
              </a:pathLst>
            </a:custGeom>
            <a:solidFill>
              <a:srgbClr val="444444"/>
            </a:solidFill>
            <a:ln w="14288" cap="sq">
              <a:solidFill>
                <a:srgbClr val="444444"/>
              </a:solidFill>
              <a:prstDash val="solid"/>
              <a:miter/>
            </a:ln>
          </p:spPr>
        </p:sp>
      </p:grpSp>
      <p:grpSp>
        <p:nvGrpSpPr>
          <p:cNvPr name="Group 42" id="42"/>
          <p:cNvGrpSpPr/>
          <p:nvPr/>
        </p:nvGrpSpPr>
        <p:grpSpPr>
          <a:xfrm rot="0">
            <a:off x="9532620" y="2194560"/>
            <a:ext cx="7955280" cy="466344"/>
            <a:chOff x="0" y="0"/>
            <a:chExt cx="10607040" cy="621792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0607040" cy="621792"/>
            </a:xfrm>
            <a:custGeom>
              <a:avLst/>
              <a:gdLst/>
              <a:ahLst/>
              <a:cxnLst/>
              <a:rect r="r" b="b" t="t" l="l"/>
              <a:pathLst>
                <a:path h="621792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2391" r="0" b="-282391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19050"/>
              <a:ext cx="10607040" cy="6408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Key Benefits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9456896" y="2804636"/>
            <a:ext cx="8106728" cy="1385888"/>
            <a:chOff x="0" y="0"/>
            <a:chExt cx="10808970" cy="184785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0808970" cy="1847850"/>
            </a:xfrm>
            <a:custGeom>
              <a:avLst/>
              <a:gdLst/>
              <a:ahLst/>
              <a:cxnLst/>
              <a:rect r="r" b="b" t="t" l="l"/>
              <a:pathLst>
                <a:path h="1847850" w="10808970">
                  <a:moveTo>
                    <a:pt x="0" y="0"/>
                  </a:moveTo>
                  <a:lnTo>
                    <a:pt x="10808970" y="0"/>
                  </a:lnTo>
                  <a:lnTo>
                    <a:pt x="10808970" y="1847850"/>
                  </a:lnTo>
                  <a:lnTo>
                    <a:pt x="0" y="1847850"/>
                  </a:lnTo>
                  <a:close/>
                </a:path>
              </a:pathLst>
            </a:custGeom>
            <a:solidFill>
              <a:srgbClr val="F7EDEA"/>
            </a:solidFill>
            <a:ln w="14288" cap="sq">
              <a:solidFill>
                <a:srgbClr val="E3CFC9"/>
              </a:solidFill>
              <a:prstDash val="solid"/>
              <a:miter/>
            </a:ln>
          </p:spPr>
        </p:sp>
      </p:grpSp>
      <p:grpSp>
        <p:nvGrpSpPr>
          <p:cNvPr name="Group 47" id="47"/>
          <p:cNvGrpSpPr/>
          <p:nvPr/>
        </p:nvGrpSpPr>
        <p:grpSpPr>
          <a:xfrm rot="0">
            <a:off x="9660255" y="3007995"/>
            <a:ext cx="430530" cy="430530"/>
            <a:chOff x="0" y="0"/>
            <a:chExt cx="574040" cy="57404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574040" cy="574040"/>
            </a:xfrm>
            <a:custGeom>
              <a:avLst/>
              <a:gdLst/>
              <a:ahLst/>
              <a:cxnLst/>
              <a:rect r="r" b="b" t="t" l="l"/>
              <a:pathLst>
                <a:path h="574040" w="574040">
                  <a:moveTo>
                    <a:pt x="0" y="287020"/>
                  </a:moveTo>
                  <a:cubicBezTo>
                    <a:pt x="0" y="128524"/>
                    <a:pt x="128524" y="0"/>
                    <a:pt x="287020" y="0"/>
                  </a:cubicBezTo>
                  <a:cubicBezTo>
                    <a:pt x="445516" y="0"/>
                    <a:pt x="574040" y="128524"/>
                    <a:pt x="574040" y="287020"/>
                  </a:cubicBezTo>
                  <a:cubicBezTo>
                    <a:pt x="574040" y="445516"/>
                    <a:pt x="445516" y="574040"/>
                    <a:pt x="287020" y="574040"/>
                  </a:cubicBezTo>
                  <a:cubicBezTo>
                    <a:pt x="128524" y="574040"/>
                    <a:pt x="0" y="445516"/>
                    <a:pt x="0" y="287020"/>
                  </a:cubicBezTo>
                  <a:close/>
                </a:path>
              </a:pathLst>
            </a:custGeom>
            <a:solidFill>
              <a:srgbClr val="028090"/>
            </a:solidFill>
            <a:ln w="19050" cap="sq">
              <a:solidFill>
                <a:srgbClr val="028090"/>
              </a:solidFill>
              <a:prstDash val="solid"/>
              <a:miter/>
            </a:ln>
          </p:spPr>
        </p:sp>
      </p:grpSp>
      <p:grpSp>
        <p:nvGrpSpPr>
          <p:cNvPr name="Group 49" id="49"/>
          <p:cNvGrpSpPr/>
          <p:nvPr/>
        </p:nvGrpSpPr>
        <p:grpSpPr>
          <a:xfrm rot="0">
            <a:off x="10287000" y="2948940"/>
            <a:ext cx="6995160" cy="480060"/>
            <a:chOff x="0" y="0"/>
            <a:chExt cx="9326880" cy="64008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9326880" cy="640080"/>
            </a:xfrm>
            <a:custGeom>
              <a:avLst/>
              <a:gdLst/>
              <a:ahLst/>
              <a:cxnLst/>
              <a:rect r="r" b="b" t="t" l="l"/>
              <a:pathLst>
                <a:path h="640080" w="9326880">
                  <a:moveTo>
                    <a:pt x="0" y="0"/>
                  </a:moveTo>
                  <a:lnTo>
                    <a:pt x="9326880" y="0"/>
                  </a:lnTo>
                  <a:lnTo>
                    <a:pt x="932688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3924" r="0" b="-233924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19050"/>
              <a:ext cx="9326880" cy="6591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2B2B2B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Speed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10287000" y="3497580"/>
            <a:ext cx="6995160" cy="548640"/>
            <a:chOff x="0" y="0"/>
            <a:chExt cx="9326880" cy="73152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9326880" cy="731520"/>
            </a:xfrm>
            <a:custGeom>
              <a:avLst/>
              <a:gdLst/>
              <a:ahLst/>
              <a:cxnLst/>
              <a:rect r="r" b="b" t="t" l="l"/>
              <a:pathLst>
                <a:path h="731520" w="9326880">
                  <a:moveTo>
                    <a:pt x="0" y="0"/>
                  </a:moveTo>
                  <a:lnTo>
                    <a:pt x="9326880" y="0"/>
                  </a:lnTo>
                  <a:lnTo>
                    <a:pt x="93268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8434" r="0" b="-198434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19050"/>
              <a:ext cx="932688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4A4A4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Instant broadcast instead of one-by-one calls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9456896" y="4381976"/>
            <a:ext cx="8106728" cy="1385888"/>
            <a:chOff x="0" y="0"/>
            <a:chExt cx="10808970" cy="184785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10808970" cy="1847850"/>
            </a:xfrm>
            <a:custGeom>
              <a:avLst/>
              <a:gdLst/>
              <a:ahLst/>
              <a:cxnLst/>
              <a:rect r="r" b="b" t="t" l="l"/>
              <a:pathLst>
                <a:path h="1847850" w="10808970">
                  <a:moveTo>
                    <a:pt x="0" y="0"/>
                  </a:moveTo>
                  <a:lnTo>
                    <a:pt x="10808970" y="0"/>
                  </a:lnTo>
                  <a:lnTo>
                    <a:pt x="10808970" y="1847850"/>
                  </a:lnTo>
                  <a:lnTo>
                    <a:pt x="0" y="1847850"/>
                  </a:lnTo>
                  <a:close/>
                </a:path>
              </a:pathLst>
            </a:custGeom>
            <a:solidFill>
              <a:srgbClr val="F7EDEA"/>
            </a:solidFill>
            <a:ln w="14288" cap="sq">
              <a:solidFill>
                <a:srgbClr val="E3CFC9"/>
              </a:solidFill>
              <a:prstDash val="solid"/>
              <a:miter/>
            </a:ln>
          </p:spPr>
        </p:sp>
      </p:grpSp>
      <p:grpSp>
        <p:nvGrpSpPr>
          <p:cNvPr name="Group 57" id="57"/>
          <p:cNvGrpSpPr/>
          <p:nvPr/>
        </p:nvGrpSpPr>
        <p:grpSpPr>
          <a:xfrm rot="0">
            <a:off x="9660255" y="4585335"/>
            <a:ext cx="430530" cy="430530"/>
            <a:chOff x="0" y="0"/>
            <a:chExt cx="574040" cy="57404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574040" cy="574040"/>
            </a:xfrm>
            <a:custGeom>
              <a:avLst/>
              <a:gdLst/>
              <a:ahLst/>
              <a:cxnLst/>
              <a:rect r="r" b="b" t="t" l="l"/>
              <a:pathLst>
                <a:path h="574040" w="574040">
                  <a:moveTo>
                    <a:pt x="0" y="287020"/>
                  </a:moveTo>
                  <a:cubicBezTo>
                    <a:pt x="0" y="128524"/>
                    <a:pt x="128524" y="0"/>
                    <a:pt x="287020" y="0"/>
                  </a:cubicBezTo>
                  <a:cubicBezTo>
                    <a:pt x="445516" y="0"/>
                    <a:pt x="574040" y="128524"/>
                    <a:pt x="574040" y="287020"/>
                  </a:cubicBezTo>
                  <a:cubicBezTo>
                    <a:pt x="574040" y="445516"/>
                    <a:pt x="445516" y="574040"/>
                    <a:pt x="287020" y="574040"/>
                  </a:cubicBezTo>
                  <a:cubicBezTo>
                    <a:pt x="128524" y="574040"/>
                    <a:pt x="0" y="445516"/>
                    <a:pt x="0" y="287020"/>
                  </a:cubicBezTo>
                  <a:close/>
                </a:path>
              </a:pathLst>
            </a:custGeom>
            <a:solidFill>
              <a:srgbClr val="953734"/>
            </a:solidFill>
            <a:ln w="19050" cap="sq">
              <a:solidFill>
                <a:srgbClr val="953734"/>
              </a:solidFill>
              <a:prstDash val="solid"/>
              <a:miter/>
            </a:ln>
          </p:spPr>
        </p:sp>
      </p:grpSp>
      <p:grpSp>
        <p:nvGrpSpPr>
          <p:cNvPr name="Group 59" id="59"/>
          <p:cNvGrpSpPr/>
          <p:nvPr/>
        </p:nvGrpSpPr>
        <p:grpSpPr>
          <a:xfrm rot="0">
            <a:off x="10287000" y="4526280"/>
            <a:ext cx="6995160" cy="480060"/>
            <a:chOff x="0" y="0"/>
            <a:chExt cx="9326880" cy="64008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9326880" cy="640080"/>
            </a:xfrm>
            <a:custGeom>
              <a:avLst/>
              <a:gdLst/>
              <a:ahLst/>
              <a:cxnLst/>
              <a:rect r="r" b="b" t="t" l="l"/>
              <a:pathLst>
                <a:path h="640080" w="9326880">
                  <a:moveTo>
                    <a:pt x="0" y="0"/>
                  </a:moveTo>
                  <a:lnTo>
                    <a:pt x="9326880" y="0"/>
                  </a:lnTo>
                  <a:lnTo>
                    <a:pt x="932688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3924" r="0" b="-233924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19050"/>
              <a:ext cx="9326880" cy="6591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2B2B2B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Local Reach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10287000" y="5074920"/>
            <a:ext cx="6995160" cy="548640"/>
            <a:chOff x="0" y="0"/>
            <a:chExt cx="9326880" cy="73152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9326880" cy="731520"/>
            </a:xfrm>
            <a:custGeom>
              <a:avLst/>
              <a:gdLst/>
              <a:ahLst/>
              <a:cxnLst/>
              <a:rect r="r" b="b" t="t" l="l"/>
              <a:pathLst>
                <a:path h="731520" w="9326880">
                  <a:moveTo>
                    <a:pt x="0" y="0"/>
                  </a:moveTo>
                  <a:lnTo>
                    <a:pt x="9326880" y="0"/>
                  </a:lnTo>
                  <a:lnTo>
                    <a:pt x="93268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8434" r="0" b="-198434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19050"/>
              <a:ext cx="932688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4A4A4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Nearby donors can arrive within minutes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9456896" y="5959316"/>
            <a:ext cx="8106728" cy="1385888"/>
            <a:chOff x="0" y="0"/>
            <a:chExt cx="10808970" cy="184785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10808970" cy="1847850"/>
            </a:xfrm>
            <a:custGeom>
              <a:avLst/>
              <a:gdLst/>
              <a:ahLst/>
              <a:cxnLst/>
              <a:rect r="r" b="b" t="t" l="l"/>
              <a:pathLst>
                <a:path h="1847850" w="10808970">
                  <a:moveTo>
                    <a:pt x="0" y="0"/>
                  </a:moveTo>
                  <a:lnTo>
                    <a:pt x="10808970" y="0"/>
                  </a:lnTo>
                  <a:lnTo>
                    <a:pt x="10808970" y="1847850"/>
                  </a:lnTo>
                  <a:lnTo>
                    <a:pt x="0" y="1847850"/>
                  </a:lnTo>
                  <a:close/>
                </a:path>
              </a:pathLst>
            </a:custGeom>
            <a:solidFill>
              <a:srgbClr val="F7EDEA"/>
            </a:solidFill>
            <a:ln w="14288" cap="sq">
              <a:solidFill>
                <a:srgbClr val="E3CFC9"/>
              </a:solidFill>
              <a:prstDash val="solid"/>
              <a:miter/>
            </a:ln>
          </p:spPr>
        </p:sp>
      </p:grpSp>
      <p:grpSp>
        <p:nvGrpSpPr>
          <p:cNvPr name="Group 67" id="67"/>
          <p:cNvGrpSpPr/>
          <p:nvPr/>
        </p:nvGrpSpPr>
        <p:grpSpPr>
          <a:xfrm rot="0">
            <a:off x="9660255" y="6162675"/>
            <a:ext cx="430530" cy="430530"/>
            <a:chOff x="0" y="0"/>
            <a:chExt cx="574040" cy="57404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574040" cy="574040"/>
            </a:xfrm>
            <a:custGeom>
              <a:avLst/>
              <a:gdLst/>
              <a:ahLst/>
              <a:cxnLst/>
              <a:rect r="r" b="b" t="t" l="l"/>
              <a:pathLst>
                <a:path h="574040" w="574040">
                  <a:moveTo>
                    <a:pt x="0" y="287020"/>
                  </a:moveTo>
                  <a:cubicBezTo>
                    <a:pt x="0" y="128524"/>
                    <a:pt x="128524" y="0"/>
                    <a:pt x="287020" y="0"/>
                  </a:cubicBezTo>
                  <a:cubicBezTo>
                    <a:pt x="445516" y="0"/>
                    <a:pt x="574040" y="128524"/>
                    <a:pt x="574040" y="287020"/>
                  </a:cubicBezTo>
                  <a:cubicBezTo>
                    <a:pt x="574040" y="445516"/>
                    <a:pt x="445516" y="574040"/>
                    <a:pt x="287020" y="574040"/>
                  </a:cubicBezTo>
                  <a:cubicBezTo>
                    <a:pt x="128524" y="574040"/>
                    <a:pt x="0" y="445516"/>
                    <a:pt x="0" y="287020"/>
                  </a:cubicBezTo>
                  <a:close/>
                </a:path>
              </a:pathLst>
            </a:custGeom>
            <a:solidFill>
              <a:srgbClr val="C98A2C"/>
            </a:solidFill>
            <a:ln w="19050" cap="sq">
              <a:solidFill>
                <a:srgbClr val="C98A2C"/>
              </a:solidFill>
              <a:prstDash val="solid"/>
              <a:miter/>
            </a:ln>
          </p:spPr>
        </p:sp>
      </p:grpSp>
      <p:grpSp>
        <p:nvGrpSpPr>
          <p:cNvPr name="Group 69" id="69"/>
          <p:cNvGrpSpPr/>
          <p:nvPr/>
        </p:nvGrpSpPr>
        <p:grpSpPr>
          <a:xfrm rot="0">
            <a:off x="10287000" y="6103620"/>
            <a:ext cx="6995160" cy="480060"/>
            <a:chOff x="0" y="0"/>
            <a:chExt cx="9326880" cy="64008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9326880" cy="640080"/>
            </a:xfrm>
            <a:custGeom>
              <a:avLst/>
              <a:gdLst/>
              <a:ahLst/>
              <a:cxnLst/>
              <a:rect r="r" b="b" t="t" l="l"/>
              <a:pathLst>
                <a:path h="640080" w="9326880">
                  <a:moveTo>
                    <a:pt x="0" y="0"/>
                  </a:moveTo>
                  <a:lnTo>
                    <a:pt x="9326880" y="0"/>
                  </a:lnTo>
                  <a:lnTo>
                    <a:pt x="932688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3924" r="0" b="-233924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19050"/>
              <a:ext cx="9326880" cy="6591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2B2B2B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Trust</a:t>
              </a: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10287000" y="6652260"/>
            <a:ext cx="6995160" cy="548640"/>
            <a:chOff x="0" y="0"/>
            <a:chExt cx="9326880" cy="73152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9326880" cy="731520"/>
            </a:xfrm>
            <a:custGeom>
              <a:avLst/>
              <a:gdLst/>
              <a:ahLst/>
              <a:cxnLst/>
              <a:rect r="r" b="b" t="t" l="l"/>
              <a:pathLst>
                <a:path h="731520" w="9326880">
                  <a:moveTo>
                    <a:pt x="0" y="0"/>
                  </a:moveTo>
                  <a:lnTo>
                    <a:pt x="9326880" y="0"/>
                  </a:lnTo>
                  <a:lnTo>
                    <a:pt x="93268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8434" r="0" b="-198434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19050"/>
              <a:ext cx="932688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4A4A4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Neighbours and society members know each other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678656" y="8085296"/>
            <a:ext cx="16930230" cy="1180148"/>
            <a:chOff x="0" y="0"/>
            <a:chExt cx="22573640" cy="1573530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22573614" cy="1573530"/>
            </a:xfrm>
            <a:custGeom>
              <a:avLst/>
              <a:gdLst/>
              <a:ahLst/>
              <a:cxnLst/>
              <a:rect r="r" b="b" t="t" l="l"/>
              <a:pathLst>
                <a:path h="1573530" w="22573614">
                  <a:moveTo>
                    <a:pt x="0" y="0"/>
                  </a:moveTo>
                  <a:lnTo>
                    <a:pt x="22573614" y="0"/>
                  </a:lnTo>
                  <a:lnTo>
                    <a:pt x="22573614" y="1573530"/>
                  </a:lnTo>
                  <a:lnTo>
                    <a:pt x="0" y="1573530"/>
                  </a:lnTo>
                  <a:close/>
                </a:path>
              </a:pathLst>
            </a:custGeom>
            <a:solidFill>
              <a:srgbClr val="953734"/>
            </a:solidFill>
            <a:ln w="14288" cap="sq">
              <a:solidFill>
                <a:srgbClr val="953734"/>
              </a:solidFill>
              <a:prstDash val="solid"/>
              <a:miter/>
            </a:ln>
          </p:spPr>
        </p:sp>
      </p:grpSp>
      <p:grpSp>
        <p:nvGrpSpPr>
          <p:cNvPr name="Group 77" id="77"/>
          <p:cNvGrpSpPr/>
          <p:nvPr/>
        </p:nvGrpSpPr>
        <p:grpSpPr>
          <a:xfrm rot="0">
            <a:off x="754380" y="8092440"/>
            <a:ext cx="16778783" cy="1165860"/>
            <a:chOff x="0" y="0"/>
            <a:chExt cx="22371710" cy="155448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22371710" cy="1554480"/>
            </a:xfrm>
            <a:custGeom>
              <a:avLst/>
              <a:gdLst/>
              <a:ahLst/>
              <a:cxnLst/>
              <a:rect r="r" b="b" t="t" l="l"/>
              <a:pathLst>
                <a:path h="1554480" w="22371710">
                  <a:moveTo>
                    <a:pt x="0" y="0"/>
                  </a:moveTo>
                  <a:lnTo>
                    <a:pt x="22371710" y="0"/>
                  </a:lnTo>
                  <a:lnTo>
                    <a:pt x="2237171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0424" r="0" b="-230424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19050"/>
              <a:ext cx="22371710" cy="15735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Project Focus: a simple, fast and reliable directory that turns a neighbourhood into a life-saving network.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7144" y="102584"/>
            <a:ext cx="18301830" cy="864680"/>
            <a:chOff x="0" y="0"/>
            <a:chExt cx="24402440" cy="115290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152906"/>
            </a:xfrm>
            <a:custGeom>
              <a:avLst/>
              <a:gdLst/>
              <a:ahLst/>
              <a:cxnLst/>
              <a:rect r="r" b="b" t="t" l="l"/>
              <a:pathLst>
                <a:path h="1152906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152906"/>
                  </a:lnTo>
                  <a:lnTo>
                    <a:pt x="0" y="1152906"/>
                  </a:lnTo>
                  <a:close/>
                </a:path>
              </a:pathLst>
            </a:custGeom>
            <a:solidFill>
              <a:srgbClr val="953734"/>
            </a:solidFill>
            <a:ln w="14288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411480" y="109728"/>
            <a:ext cx="17464583" cy="850392"/>
            <a:chOff x="0" y="0"/>
            <a:chExt cx="23286110" cy="113385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3286110" cy="1133856"/>
            </a:xfrm>
            <a:custGeom>
              <a:avLst/>
              <a:gdLst/>
              <a:ahLst/>
              <a:cxnLst/>
              <a:rect r="r" b="b" t="t" l="l"/>
              <a:pathLst>
                <a:path h="1133856" w="23286110">
                  <a:moveTo>
                    <a:pt x="0" y="0"/>
                  </a:moveTo>
                  <a:lnTo>
                    <a:pt x="23286110" y="0"/>
                  </a:lnTo>
                  <a:lnTo>
                    <a:pt x="2328611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0166" r="0" b="-35016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23286110" cy="11529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60"/>
                </a:lnSpc>
              </a:pPr>
              <a:r>
                <a:rPr lang="en-US" sz="3300" b="true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Problem Statement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7323308" y="9738360"/>
            <a:ext cx="685800" cy="411480"/>
            <a:chOff x="0" y="0"/>
            <a:chExt cx="914400" cy="5486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91440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99999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5</a:t>
              </a: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685800" y="1146810"/>
            <a:ext cx="16870680" cy="842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2B2B2B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Finding a matching blood donor in an emergency is still a manual, uncertain and time-consuming process for most families.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678656" y="2187416"/>
            <a:ext cx="5432108" cy="2346008"/>
            <a:chOff x="0" y="0"/>
            <a:chExt cx="7242810" cy="312801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242810" cy="3128010"/>
            </a:xfrm>
            <a:custGeom>
              <a:avLst/>
              <a:gdLst/>
              <a:ahLst/>
              <a:cxnLst/>
              <a:rect r="r" b="b" t="t" l="l"/>
              <a:pathLst>
                <a:path h="3128010" w="7242810">
                  <a:moveTo>
                    <a:pt x="0" y="0"/>
                  </a:moveTo>
                  <a:lnTo>
                    <a:pt x="7242810" y="0"/>
                  </a:lnTo>
                  <a:lnTo>
                    <a:pt x="7242810" y="3128010"/>
                  </a:lnTo>
                  <a:lnTo>
                    <a:pt x="0" y="3128010"/>
                  </a:lnTo>
                  <a:close/>
                </a:path>
              </a:pathLst>
            </a:custGeom>
            <a:solidFill>
              <a:srgbClr val="F7EDEA"/>
            </a:solidFill>
            <a:ln w="14288" cap="sq">
              <a:solidFill>
                <a:srgbClr val="E3CFC9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886777" y="2395538"/>
            <a:ext cx="475869" cy="475869"/>
            <a:chOff x="0" y="0"/>
            <a:chExt cx="634492" cy="63449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34492" cy="634492"/>
            </a:xfrm>
            <a:custGeom>
              <a:avLst/>
              <a:gdLst/>
              <a:ahLst/>
              <a:cxnLst/>
              <a:rect r="r" b="b" t="t" l="l"/>
              <a:pathLst>
                <a:path h="634492" w="634492">
                  <a:moveTo>
                    <a:pt x="0" y="317246"/>
                  </a:moveTo>
                  <a:cubicBezTo>
                    <a:pt x="0" y="141986"/>
                    <a:pt x="141986" y="0"/>
                    <a:pt x="317246" y="0"/>
                  </a:cubicBezTo>
                  <a:cubicBezTo>
                    <a:pt x="492506" y="0"/>
                    <a:pt x="634492" y="141986"/>
                    <a:pt x="634492" y="317246"/>
                  </a:cubicBezTo>
                  <a:cubicBezTo>
                    <a:pt x="634492" y="492506"/>
                    <a:pt x="492506" y="634492"/>
                    <a:pt x="317246" y="634492"/>
                  </a:cubicBezTo>
                  <a:cubicBezTo>
                    <a:pt x="141986" y="634492"/>
                    <a:pt x="0" y="492506"/>
                    <a:pt x="0" y="317246"/>
                  </a:cubicBezTo>
                  <a:close/>
                </a:path>
              </a:pathLst>
            </a:custGeom>
            <a:solidFill>
              <a:srgbClr val="953734"/>
            </a:solidFill>
            <a:ln w="9525" cap="sq">
              <a:solidFill>
                <a:srgbClr val="953734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891540" y="2400300"/>
            <a:ext cx="466344" cy="466344"/>
            <a:chOff x="0" y="0"/>
            <a:chExt cx="621792" cy="62179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21792" cy="621792"/>
            </a:xfrm>
            <a:custGeom>
              <a:avLst/>
              <a:gdLst/>
              <a:ahLst/>
              <a:cxnLst/>
              <a:rect r="r" b="b" t="t" l="l"/>
              <a:pathLst>
                <a:path h="621792" w="621792">
                  <a:moveTo>
                    <a:pt x="0" y="0"/>
                  </a:moveTo>
                  <a:lnTo>
                    <a:pt x="621792" y="0"/>
                  </a:lnTo>
                  <a:lnTo>
                    <a:pt x="621792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19050"/>
              <a:ext cx="621792" cy="6408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1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508760" y="2359152"/>
            <a:ext cx="4389120" cy="548640"/>
            <a:chOff x="0" y="0"/>
            <a:chExt cx="5852160" cy="73152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852160" cy="731520"/>
            </a:xfrm>
            <a:custGeom>
              <a:avLst/>
              <a:gdLst/>
              <a:ahLst/>
              <a:cxnLst/>
              <a:rect r="r" b="b" t="t" l="l"/>
              <a:pathLst>
                <a:path h="73152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5880" r="0" b="-10588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19050"/>
              <a:ext cx="585216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2B2B2B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Scattered Contacts</a:t>
              </a: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960120" y="2971038"/>
            <a:ext cx="4869180" cy="1390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4A4A4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Donor details are spread across phones and chat groups.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6370796" y="2187416"/>
            <a:ext cx="5432108" cy="2346008"/>
            <a:chOff x="0" y="0"/>
            <a:chExt cx="7242810" cy="312801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7242810" cy="3128010"/>
            </a:xfrm>
            <a:custGeom>
              <a:avLst/>
              <a:gdLst/>
              <a:ahLst/>
              <a:cxnLst/>
              <a:rect r="r" b="b" t="t" l="l"/>
              <a:pathLst>
                <a:path h="3128010" w="7242810">
                  <a:moveTo>
                    <a:pt x="0" y="0"/>
                  </a:moveTo>
                  <a:lnTo>
                    <a:pt x="7242810" y="0"/>
                  </a:lnTo>
                  <a:lnTo>
                    <a:pt x="7242810" y="3128010"/>
                  </a:lnTo>
                  <a:lnTo>
                    <a:pt x="0" y="3128010"/>
                  </a:lnTo>
                  <a:close/>
                </a:path>
              </a:pathLst>
            </a:custGeom>
            <a:solidFill>
              <a:srgbClr val="F7EDEA"/>
            </a:solidFill>
            <a:ln w="14288" cap="sq">
              <a:solidFill>
                <a:srgbClr val="E3CFC9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6578918" y="2395538"/>
            <a:ext cx="475869" cy="475869"/>
            <a:chOff x="0" y="0"/>
            <a:chExt cx="634492" cy="634492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34492" cy="634492"/>
            </a:xfrm>
            <a:custGeom>
              <a:avLst/>
              <a:gdLst/>
              <a:ahLst/>
              <a:cxnLst/>
              <a:rect r="r" b="b" t="t" l="l"/>
              <a:pathLst>
                <a:path h="634492" w="634492">
                  <a:moveTo>
                    <a:pt x="0" y="317246"/>
                  </a:moveTo>
                  <a:cubicBezTo>
                    <a:pt x="0" y="141986"/>
                    <a:pt x="141986" y="0"/>
                    <a:pt x="317246" y="0"/>
                  </a:cubicBezTo>
                  <a:cubicBezTo>
                    <a:pt x="492506" y="0"/>
                    <a:pt x="634492" y="141986"/>
                    <a:pt x="634492" y="317246"/>
                  </a:cubicBezTo>
                  <a:cubicBezTo>
                    <a:pt x="634492" y="492506"/>
                    <a:pt x="492506" y="634492"/>
                    <a:pt x="317246" y="634492"/>
                  </a:cubicBezTo>
                  <a:cubicBezTo>
                    <a:pt x="141986" y="634492"/>
                    <a:pt x="0" y="492506"/>
                    <a:pt x="0" y="317246"/>
                  </a:cubicBezTo>
                  <a:close/>
                </a:path>
              </a:pathLst>
            </a:custGeom>
            <a:solidFill>
              <a:srgbClr val="028090"/>
            </a:solidFill>
            <a:ln w="9525" cap="sq">
              <a:solidFill>
                <a:srgbClr val="028090"/>
              </a:solidFill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6583680" y="2400300"/>
            <a:ext cx="466344" cy="466344"/>
            <a:chOff x="0" y="0"/>
            <a:chExt cx="621792" cy="621792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621792" cy="621792"/>
            </a:xfrm>
            <a:custGeom>
              <a:avLst/>
              <a:gdLst/>
              <a:ahLst/>
              <a:cxnLst/>
              <a:rect r="r" b="b" t="t" l="l"/>
              <a:pathLst>
                <a:path h="621792" w="621792">
                  <a:moveTo>
                    <a:pt x="0" y="0"/>
                  </a:moveTo>
                  <a:lnTo>
                    <a:pt x="621792" y="0"/>
                  </a:lnTo>
                  <a:lnTo>
                    <a:pt x="621792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19050"/>
              <a:ext cx="621792" cy="6408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2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7200900" y="2359152"/>
            <a:ext cx="4389120" cy="548640"/>
            <a:chOff x="0" y="0"/>
            <a:chExt cx="5852160" cy="73152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5852160" cy="731520"/>
            </a:xfrm>
            <a:custGeom>
              <a:avLst/>
              <a:gdLst/>
              <a:ahLst/>
              <a:cxnLst/>
              <a:rect r="r" b="b" t="t" l="l"/>
              <a:pathLst>
                <a:path h="73152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5880" r="0" b="-10588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19050"/>
              <a:ext cx="585216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2B2B2B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No Blood-Group Search</a:t>
              </a:r>
            </a:p>
          </p:txBody>
        </p:sp>
      </p:grpSp>
      <p:sp>
        <p:nvSpPr>
          <p:cNvPr name="TextBox 32" id="32"/>
          <p:cNvSpPr txBox="true"/>
          <p:nvPr/>
        </p:nvSpPr>
        <p:spPr>
          <a:xfrm rot="0">
            <a:off x="6652260" y="2971038"/>
            <a:ext cx="4869180" cy="1390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4A4A4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Messages must be read manually to find a match.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12062936" y="2187416"/>
            <a:ext cx="5432108" cy="2346008"/>
            <a:chOff x="0" y="0"/>
            <a:chExt cx="7242810" cy="312801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7242810" cy="3128010"/>
            </a:xfrm>
            <a:custGeom>
              <a:avLst/>
              <a:gdLst/>
              <a:ahLst/>
              <a:cxnLst/>
              <a:rect r="r" b="b" t="t" l="l"/>
              <a:pathLst>
                <a:path h="3128010" w="7242810">
                  <a:moveTo>
                    <a:pt x="0" y="0"/>
                  </a:moveTo>
                  <a:lnTo>
                    <a:pt x="7242810" y="0"/>
                  </a:lnTo>
                  <a:lnTo>
                    <a:pt x="7242810" y="3128010"/>
                  </a:lnTo>
                  <a:lnTo>
                    <a:pt x="0" y="3128010"/>
                  </a:lnTo>
                  <a:close/>
                </a:path>
              </a:pathLst>
            </a:custGeom>
            <a:solidFill>
              <a:srgbClr val="F7EDEA"/>
            </a:solidFill>
            <a:ln w="14288" cap="sq">
              <a:solidFill>
                <a:srgbClr val="E3CFC9"/>
              </a:solidFill>
              <a:prstDash val="solid"/>
              <a:miter/>
            </a:ln>
          </p:spPr>
        </p:sp>
      </p:grpSp>
      <p:grpSp>
        <p:nvGrpSpPr>
          <p:cNvPr name="Group 35" id="35"/>
          <p:cNvGrpSpPr/>
          <p:nvPr/>
        </p:nvGrpSpPr>
        <p:grpSpPr>
          <a:xfrm rot="0">
            <a:off x="12271057" y="2395538"/>
            <a:ext cx="475869" cy="475869"/>
            <a:chOff x="0" y="0"/>
            <a:chExt cx="634492" cy="634492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634492" cy="634492"/>
            </a:xfrm>
            <a:custGeom>
              <a:avLst/>
              <a:gdLst/>
              <a:ahLst/>
              <a:cxnLst/>
              <a:rect r="r" b="b" t="t" l="l"/>
              <a:pathLst>
                <a:path h="634492" w="634492">
                  <a:moveTo>
                    <a:pt x="0" y="317246"/>
                  </a:moveTo>
                  <a:cubicBezTo>
                    <a:pt x="0" y="141986"/>
                    <a:pt x="141986" y="0"/>
                    <a:pt x="317246" y="0"/>
                  </a:cubicBezTo>
                  <a:cubicBezTo>
                    <a:pt x="492506" y="0"/>
                    <a:pt x="634492" y="141986"/>
                    <a:pt x="634492" y="317246"/>
                  </a:cubicBezTo>
                  <a:cubicBezTo>
                    <a:pt x="634492" y="492506"/>
                    <a:pt x="492506" y="634492"/>
                    <a:pt x="317246" y="634492"/>
                  </a:cubicBezTo>
                  <a:cubicBezTo>
                    <a:pt x="141986" y="634492"/>
                    <a:pt x="0" y="492506"/>
                    <a:pt x="0" y="317246"/>
                  </a:cubicBezTo>
                  <a:close/>
                </a:path>
              </a:pathLst>
            </a:custGeom>
            <a:solidFill>
              <a:srgbClr val="C98A2C"/>
            </a:solidFill>
            <a:ln w="9525" cap="sq">
              <a:solidFill>
                <a:srgbClr val="C98A2C"/>
              </a:solidFill>
              <a:prstDash val="solid"/>
              <a:miter/>
            </a:ln>
          </p:spPr>
        </p:sp>
      </p:grpSp>
      <p:grpSp>
        <p:nvGrpSpPr>
          <p:cNvPr name="Group 37" id="37"/>
          <p:cNvGrpSpPr/>
          <p:nvPr/>
        </p:nvGrpSpPr>
        <p:grpSpPr>
          <a:xfrm rot="0">
            <a:off x="12275820" y="2400300"/>
            <a:ext cx="466344" cy="466344"/>
            <a:chOff x="0" y="0"/>
            <a:chExt cx="621792" cy="621792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621792" cy="621792"/>
            </a:xfrm>
            <a:custGeom>
              <a:avLst/>
              <a:gdLst/>
              <a:ahLst/>
              <a:cxnLst/>
              <a:rect r="r" b="b" t="t" l="l"/>
              <a:pathLst>
                <a:path h="621792" w="621792">
                  <a:moveTo>
                    <a:pt x="0" y="0"/>
                  </a:moveTo>
                  <a:lnTo>
                    <a:pt x="621792" y="0"/>
                  </a:lnTo>
                  <a:lnTo>
                    <a:pt x="621792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19050"/>
              <a:ext cx="621792" cy="6408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3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2893040" y="2359152"/>
            <a:ext cx="4389120" cy="548640"/>
            <a:chOff x="0" y="0"/>
            <a:chExt cx="5852160" cy="73152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5852160" cy="731520"/>
            </a:xfrm>
            <a:custGeom>
              <a:avLst/>
              <a:gdLst/>
              <a:ahLst/>
              <a:cxnLst/>
              <a:rect r="r" b="b" t="t" l="l"/>
              <a:pathLst>
                <a:path h="73152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5880" r="0" b="-105880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19050"/>
              <a:ext cx="585216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2B2B2B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Unknown Availability</a:t>
              </a:r>
            </a:p>
          </p:txBody>
        </p:sp>
      </p:grpSp>
      <p:sp>
        <p:nvSpPr>
          <p:cNvPr name="TextBox 43" id="43"/>
          <p:cNvSpPr txBox="true"/>
          <p:nvPr/>
        </p:nvSpPr>
        <p:spPr>
          <a:xfrm rot="0">
            <a:off x="12344400" y="2971038"/>
            <a:ext cx="4869180" cy="1390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4A4A4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 way to know whether a donor can donate now.</a:t>
            </a:r>
          </a:p>
        </p:txBody>
      </p:sp>
      <p:grpSp>
        <p:nvGrpSpPr>
          <p:cNvPr name="Group 44" id="44"/>
          <p:cNvGrpSpPr/>
          <p:nvPr/>
        </p:nvGrpSpPr>
        <p:grpSpPr>
          <a:xfrm rot="0">
            <a:off x="678656" y="4724876"/>
            <a:ext cx="5432108" cy="2346008"/>
            <a:chOff x="0" y="0"/>
            <a:chExt cx="7242810" cy="312801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7242810" cy="3128010"/>
            </a:xfrm>
            <a:custGeom>
              <a:avLst/>
              <a:gdLst/>
              <a:ahLst/>
              <a:cxnLst/>
              <a:rect r="r" b="b" t="t" l="l"/>
              <a:pathLst>
                <a:path h="3128010" w="7242810">
                  <a:moveTo>
                    <a:pt x="0" y="0"/>
                  </a:moveTo>
                  <a:lnTo>
                    <a:pt x="7242810" y="0"/>
                  </a:lnTo>
                  <a:lnTo>
                    <a:pt x="7242810" y="3128010"/>
                  </a:lnTo>
                  <a:lnTo>
                    <a:pt x="0" y="3128010"/>
                  </a:lnTo>
                  <a:close/>
                </a:path>
              </a:pathLst>
            </a:custGeom>
            <a:solidFill>
              <a:srgbClr val="F7EDEA"/>
            </a:solidFill>
            <a:ln w="14288" cap="sq">
              <a:solidFill>
                <a:srgbClr val="E3CFC9"/>
              </a:solidFill>
              <a:prstDash val="solid"/>
              <a:miter/>
            </a:ln>
          </p:spPr>
        </p:sp>
      </p:grpSp>
      <p:grpSp>
        <p:nvGrpSpPr>
          <p:cNvPr name="Group 46" id="46"/>
          <p:cNvGrpSpPr/>
          <p:nvPr/>
        </p:nvGrpSpPr>
        <p:grpSpPr>
          <a:xfrm rot="0">
            <a:off x="886777" y="4932997"/>
            <a:ext cx="475869" cy="475869"/>
            <a:chOff x="0" y="0"/>
            <a:chExt cx="634492" cy="634492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634492" cy="634492"/>
            </a:xfrm>
            <a:custGeom>
              <a:avLst/>
              <a:gdLst/>
              <a:ahLst/>
              <a:cxnLst/>
              <a:rect r="r" b="b" t="t" l="l"/>
              <a:pathLst>
                <a:path h="634492" w="634492">
                  <a:moveTo>
                    <a:pt x="0" y="317246"/>
                  </a:moveTo>
                  <a:cubicBezTo>
                    <a:pt x="0" y="141986"/>
                    <a:pt x="141986" y="0"/>
                    <a:pt x="317246" y="0"/>
                  </a:cubicBezTo>
                  <a:cubicBezTo>
                    <a:pt x="492506" y="0"/>
                    <a:pt x="634492" y="141986"/>
                    <a:pt x="634492" y="317246"/>
                  </a:cubicBezTo>
                  <a:cubicBezTo>
                    <a:pt x="634492" y="492506"/>
                    <a:pt x="492506" y="634492"/>
                    <a:pt x="317246" y="634492"/>
                  </a:cubicBezTo>
                  <a:cubicBezTo>
                    <a:pt x="141986" y="634492"/>
                    <a:pt x="0" y="492506"/>
                    <a:pt x="0" y="317246"/>
                  </a:cubicBezTo>
                  <a:close/>
                </a:path>
              </a:pathLst>
            </a:custGeom>
            <a:solidFill>
              <a:srgbClr val="6E2723"/>
            </a:solidFill>
            <a:ln w="9525" cap="sq">
              <a:solidFill>
                <a:srgbClr val="6E2723"/>
              </a:solidFill>
              <a:prstDash val="solid"/>
              <a:miter/>
            </a:ln>
          </p:spPr>
        </p:sp>
      </p:grpSp>
      <p:grpSp>
        <p:nvGrpSpPr>
          <p:cNvPr name="Group 48" id="48"/>
          <p:cNvGrpSpPr/>
          <p:nvPr/>
        </p:nvGrpSpPr>
        <p:grpSpPr>
          <a:xfrm rot="0">
            <a:off x="891540" y="4937760"/>
            <a:ext cx="466344" cy="466344"/>
            <a:chOff x="0" y="0"/>
            <a:chExt cx="621792" cy="621792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621792" cy="621792"/>
            </a:xfrm>
            <a:custGeom>
              <a:avLst/>
              <a:gdLst/>
              <a:ahLst/>
              <a:cxnLst/>
              <a:rect r="r" b="b" t="t" l="l"/>
              <a:pathLst>
                <a:path h="621792" w="621792">
                  <a:moveTo>
                    <a:pt x="0" y="0"/>
                  </a:moveTo>
                  <a:lnTo>
                    <a:pt x="621792" y="0"/>
                  </a:lnTo>
                  <a:lnTo>
                    <a:pt x="621792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19050"/>
              <a:ext cx="621792" cy="6408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4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1508760" y="4896612"/>
            <a:ext cx="4389120" cy="548640"/>
            <a:chOff x="0" y="0"/>
            <a:chExt cx="5852160" cy="73152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5852160" cy="731520"/>
            </a:xfrm>
            <a:custGeom>
              <a:avLst/>
              <a:gdLst/>
              <a:ahLst/>
              <a:cxnLst/>
              <a:rect r="r" b="b" t="t" l="l"/>
              <a:pathLst>
                <a:path h="73152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5880" r="0" b="-105880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19050"/>
              <a:ext cx="585216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2B2B2B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Buried Requests</a:t>
              </a:r>
            </a:p>
          </p:txBody>
        </p:sp>
      </p:grpSp>
      <p:sp>
        <p:nvSpPr>
          <p:cNvPr name="TextBox 54" id="54"/>
          <p:cNvSpPr txBox="true"/>
          <p:nvPr/>
        </p:nvSpPr>
        <p:spPr>
          <a:xfrm rot="0">
            <a:off x="960120" y="5508498"/>
            <a:ext cx="4869180" cy="1390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4A4A4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Urgent messages get lost among other chats.</a:t>
            </a:r>
          </a:p>
        </p:txBody>
      </p:sp>
      <p:grpSp>
        <p:nvGrpSpPr>
          <p:cNvPr name="Group 55" id="55"/>
          <p:cNvGrpSpPr/>
          <p:nvPr/>
        </p:nvGrpSpPr>
        <p:grpSpPr>
          <a:xfrm rot="0">
            <a:off x="6370796" y="4724876"/>
            <a:ext cx="5432108" cy="2346008"/>
            <a:chOff x="0" y="0"/>
            <a:chExt cx="7242810" cy="312801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7242810" cy="3128010"/>
            </a:xfrm>
            <a:custGeom>
              <a:avLst/>
              <a:gdLst/>
              <a:ahLst/>
              <a:cxnLst/>
              <a:rect r="r" b="b" t="t" l="l"/>
              <a:pathLst>
                <a:path h="3128010" w="7242810">
                  <a:moveTo>
                    <a:pt x="0" y="0"/>
                  </a:moveTo>
                  <a:lnTo>
                    <a:pt x="7242810" y="0"/>
                  </a:lnTo>
                  <a:lnTo>
                    <a:pt x="7242810" y="3128010"/>
                  </a:lnTo>
                  <a:lnTo>
                    <a:pt x="0" y="3128010"/>
                  </a:lnTo>
                  <a:close/>
                </a:path>
              </a:pathLst>
            </a:custGeom>
            <a:solidFill>
              <a:srgbClr val="F7EDEA"/>
            </a:solidFill>
            <a:ln w="14288" cap="sq">
              <a:solidFill>
                <a:srgbClr val="E3CFC9"/>
              </a:solidFill>
              <a:prstDash val="solid"/>
              <a:miter/>
            </a:ln>
          </p:spPr>
        </p:sp>
      </p:grpSp>
      <p:grpSp>
        <p:nvGrpSpPr>
          <p:cNvPr name="Group 57" id="57"/>
          <p:cNvGrpSpPr/>
          <p:nvPr/>
        </p:nvGrpSpPr>
        <p:grpSpPr>
          <a:xfrm rot="0">
            <a:off x="6578918" y="4932997"/>
            <a:ext cx="475869" cy="475869"/>
            <a:chOff x="0" y="0"/>
            <a:chExt cx="634492" cy="634492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634492" cy="634492"/>
            </a:xfrm>
            <a:custGeom>
              <a:avLst/>
              <a:gdLst/>
              <a:ahLst/>
              <a:cxnLst/>
              <a:rect r="r" b="b" t="t" l="l"/>
              <a:pathLst>
                <a:path h="634492" w="634492">
                  <a:moveTo>
                    <a:pt x="0" y="317246"/>
                  </a:moveTo>
                  <a:cubicBezTo>
                    <a:pt x="0" y="141986"/>
                    <a:pt x="141986" y="0"/>
                    <a:pt x="317246" y="0"/>
                  </a:cubicBezTo>
                  <a:cubicBezTo>
                    <a:pt x="492506" y="0"/>
                    <a:pt x="634492" y="141986"/>
                    <a:pt x="634492" y="317246"/>
                  </a:cubicBezTo>
                  <a:cubicBezTo>
                    <a:pt x="634492" y="492506"/>
                    <a:pt x="492506" y="634492"/>
                    <a:pt x="317246" y="634492"/>
                  </a:cubicBezTo>
                  <a:cubicBezTo>
                    <a:pt x="141986" y="634492"/>
                    <a:pt x="0" y="492506"/>
                    <a:pt x="0" y="317246"/>
                  </a:cubicBezTo>
                  <a:close/>
                </a:path>
              </a:pathLst>
            </a:custGeom>
            <a:solidFill>
              <a:srgbClr val="444444"/>
            </a:solidFill>
            <a:ln w="9525" cap="sq">
              <a:solidFill>
                <a:srgbClr val="444444"/>
              </a:solidFill>
              <a:prstDash val="solid"/>
              <a:miter/>
            </a:ln>
          </p:spPr>
        </p:sp>
      </p:grpSp>
      <p:grpSp>
        <p:nvGrpSpPr>
          <p:cNvPr name="Group 59" id="59"/>
          <p:cNvGrpSpPr/>
          <p:nvPr/>
        </p:nvGrpSpPr>
        <p:grpSpPr>
          <a:xfrm rot="0">
            <a:off x="6583680" y="4937760"/>
            <a:ext cx="466344" cy="466344"/>
            <a:chOff x="0" y="0"/>
            <a:chExt cx="621792" cy="621792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621792" cy="621792"/>
            </a:xfrm>
            <a:custGeom>
              <a:avLst/>
              <a:gdLst/>
              <a:ahLst/>
              <a:cxnLst/>
              <a:rect r="r" b="b" t="t" l="l"/>
              <a:pathLst>
                <a:path h="621792" w="621792">
                  <a:moveTo>
                    <a:pt x="0" y="0"/>
                  </a:moveTo>
                  <a:lnTo>
                    <a:pt x="621792" y="0"/>
                  </a:lnTo>
                  <a:lnTo>
                    <a:pt x="621792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19050"/>
              <a:ext cx="621792" cy="6408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5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7200900" y="4896612"/>
            <a:ext cx="4389120" cy="548640"/>
            <a:chOff x="0" y="0"/>
            <a:chExt cx="5852160" cy="73152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5852160" cy="731520"/>
            </a:xfrm>
            <a:custGeom>
              <a:avLst/>
              <a:gdLst/>
              <a:ahLst/>
              <a:cxnLst/>
              <a:rect r="r" b="b" t="t" l="l"/>
              <a:pathLst>
                <a:path h="73152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5880" r="0" b="-105880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19050"/>
              <a:ext cx="585216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2B2B2B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Slow Contact</a:t>
              </a:r>
            </a:p>
          </p:txBody>
        </p:sp>
      </p:grpSp>
      <p:sp>
        <p:nvSpPr>
          <p:cNvPr name="TextBox 65" id="65"/>
          <p:cNvSpPr txBox="true"/>
          <p:nvPr/>
        </p:nvSpPr>
        <p:spPr>
          <a:xfrm rot="0">
            <a:off x="6652260" y="5508498"/>
            <a:ext cx="4869180" cy="1390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4A4A4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Numbers must be found, copied and dialled one by one.</a:t>
            </a:r>
          </a:p>
        </p:txBody>
      </p:sp>
      <p:grpSp>
        <p:nvGrpSpPr>
          <p:cNvPr name="Group 66" id="66"/>
          <p:cNvGrpSpPr/>
          <p:nvPr/>
        </p:nvGrpSpPr>
        <p:grpSpPr>
          <a:xfrm rot="0">
            <a:off x="12062936" y="4724876"/>
            <a:ext cx="5432108" cy="2346008"/>
            <a:chOff x="0" y="0"/>
            <a:chExt cx="7242810" cy="312801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7242810" cy="3128010"/>
            </a:xfrm>
            <a:custGeom>
              <a:avLst/>
              <a:gdLst/>
              <a:ahLst/>
              <a:cxnLst/>
              <a:rect r="r" b="b" t="t" l="l"/>
              <a:pathLst>
                <a:path h="3128010" w="7242810">
                  <a:moveTo>
                    <a:pt x="0" y="0"/>
                  </a:moveTo>
                  <a:lnTo>
                    <a:pt x="7242810" y="0"/>
                  </a:lnTo>
                  <a:lnTo>
                    <a:pt x="7242810" y="3128010"/>
                  </a:lnTo>
                  <a:lnTo>
                    <a:pt x="0" y="3128010"/>
                  </a:lnTo>
                  <a:close/>
                </a:path>
              </a:pathLst>
            </a:custGeom>
            <a:solidFill>
              <a:srgbClr val="F7EDEA"/>
            </a:solidFill>
            <a:ln w="14288" cap="sq">
              <a:solidFill>
                <a:srgbClr val="E3CFC9"/>
              </a:solidFill>
              <a:prstDash val="solid"/>
              <a:miter/>
            </a:ln>
          </p:spPr>
        </p:sp>
      </p:grpSp>
      <p:grpSp>
        <p:nvGrpSpPr>
          <p:cNvPr name="Group 68" id="68"/>
          <p:cNvGrpSpPr/>
          <p:nvPr/>
        </p:nvGrpSpPr>
        <p:grpSpPr>
          <a:xfrm rot="0">
            <a:off x="12271057" y="4932997"/>
            <a:ext cx="475869" cy="475869"/>
            <a:chOff x="0" y="0"/>
            <a:chExt cx="634492" cy="634492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634492" cy="634492"/>
            </a:xfrm>
            <a:custGeom>
              <a:avLst/>
              <a:gdLst/>
              <a:ahLst/>
              <a:cxnLst/>
              <a:rect r="r" b="b" t="t" l="l"/>
              <a:pathLst>
                <a:path h="634492" w="634492">
                  <a:moveTo>
                    <a:pt x="0" y="317246"/>
                  </a:moveTo>
                  <a:cubicBezTo>
                    <a:pt x="0" y="141986"/>
                    <a:pt x="141986" y="0"/>
                    <a:pt x="317246" y="0"/>
                  </a:cubicBezTo>
                  <a:cubicBezTo>
                    <a:pt x="492506" y="0"/>
                    <a:pt x="634492" y="141986"/>
                    <a:pt x="634492" y="317246"/>
                  </a:cubicBezTo>
                  <a:cubicBezTo>
                    <a:pt x="634492" y="492506"/>
                    <a:pt x="492506" y="634492"/>
                    <a:pt x="317246" y="634492"/>
                  </a:cubicBezTo>
                  <a:cubicBezTo>
                    <a:pt x="141986" y="634492"/>
                    <a:pt x="0" y="492506"/>
                    <a:pt x="0" y="317246"/>
                  </a:cubicBezTo>
                  <a:close/>
                </a:path>
              </a:pathLst>
            </a:custGeom>
            <a:solidFill>
              <a:srgbClr val="953734"/>
            </a:solidFill>
            <a:ln w="9525" cap="sq">
              <a:solidFill>
                <a:srgbClr val="953734"/>
              </a:solidFill>
              <a:prstDash val="solid"/>
              <a:miter/>
            </a:ln>
          </p:spPr>
        </p:sp>
      </p:grpSp>
      <p:grpSp>
        <p:nvGrpSpPr>
          <p:cNvPr name="Group 70" id="70"/>
          <p:cNvGrpSpPr/>
          <p:nvPr/>
        </p:nvGrpSpPr>
        <p:grpSpPr>
          <a:xfrm rot="0">
            <a:off x="12275820" y="4937760"/>
            <a:ext cx="466344" cy="466344"/>
            <a:chOff x="0" y="0"/>
            <a:chExt cx="621792" cy="621792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621792" cy="621792"/>
            </a:xfrm>
            <a:custGeom>
              <a:avLst/>
              <a:gdLst/>
              <a:ahLst/>
              <a:cxnLst/>
              <a:rect r="r" b="b" t="t" l="l"/>
              <a:pathLst>
                <a:path h="621792" w="621792">
                  <a:moveTo>
                    <a:pt x="0" y="0"/>
                  </a:moveTo>
                  <a:lnTo>
                    <a:pt x="621792" y="0"/>
                  </a:lnTo>
                  <a:lnTo>
                    <a:pt x="621792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19050"/>
              <a:ext cx="621792" cy="6408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6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12893040" y="4896612"/>
            <a:ext cx="4389120" cy="548640"/>
            <a:chOff x="0" y="0"/>
            <a:chExt cx="5852160" cy="731520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5852160" cy="731520"/>
            </a:xfrm>
            <a:custGeom>
              <a:avLst/>
              <a:gdLst/>
              <a:ahLst/>
              <a:cxnLst/>
              <a:rect r="r" b="b" t="t" l="l"/>
              <a:pathLst>
                <a:path h="73152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5880" r="0" b="-105880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-19050"/>
              <a:ext cx="585216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2B2B2B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No Locality Focus</a:t>
              </a:r>
            </a:p>
          </p:txBody>
        </p:sp>
      </p:grpSp>
      <p:sp>
        <p:nvSpPr>
          <p:cNvPr name="TextBox 76" id="76"/>
          <p:cNvSpPr txBox="true"/>
          <p:nvPr/>
        </p:nvSpPr>
        <p:spPr>
          <a:xfrm rot="0">
            <a:off x="12344400" y="5508498"/>
            <a:ext cx="4869180" cy="1390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4A4A4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Distant donors are contacted while nearby ones are unaware.</a:t>
            </a:r>
          </a:p>
        </p:txBody>
      </p:sp>
      <p:grpSp>
        <p:nvGrpSpPr>
          <p:cNvPr name="Group 77" id="77"/>
          <p:cNvGrpSpPr/>
          <p:nvPr/>
        </p:nvGrpSpPr>
        <p:grpSpPr>
          <a:xfrm rot="0">
            <a:off x="678656" y="7399496"/>
            <a:ext cx="16884968" cy="2071688"/>
            <a:chOff x="0" y="0"/>
            <a:chExt cx="22513290" cy="276225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22513289" cy="2762250"/>
            </a:xfrm>
            <a:custGeom>
              <a:avLst/>
              <a:gdLst/>
              <a:ahLst/>
              <a:cxnLst/>
              <a:rect r="r" b="b" t="t" l="l"/>
              <a:pathLst>
                <a:path h="2762250" w="22513289">
                  <a:moveTo>
                    <a:pt x="0" y="0"/>
                  </a:moveTo>
                  <a:lnTo>
                    <a:pt x="22513289" y="0"/>
                  </a:lnTo>
                  <a:lnTo>
                    <a:pt x="22513289" y="2762250"/>
                  </a:lnTo>
                  <a:lnTo>
                    <a:pt x="0" y="2762250"/>
                  </a:lnTo>
                  <a:close/>
                </a:path>
              </a:pathLst>
            </a:custGeom>
            <a:solidFill>
              <a:srgbClr val="953734"/>
            </a:solidFill>
            <a:ln w="14288" cap="sq">
              <a:solidFill>
                <a:srgbClr val="953734"/>
              </a:solidFill>
              <a:prstDash val="solid"/>
              <a:miter/>
            </a:ln>
          </p:spPr>
        </p:sp>
      </p:grpSp>
      <p:grpSp>
        <p:nvGrpSpPr>
          <p:cNvPr name="Group 79" id="79"/>
          <p:cNvGrpSpPr/>
          <p:nvPr/>
        </p:nvGrpSpPr>
        <p:grpSpPr>
          <a:xfrm rot="0">
            <a:off x="960120" y="7516368"/>
            <a:ext cx="16322040" cy="480060"/>
            <a:chOff x="0" y="0"/>
            <a:chExt cx="21762720" cy="640080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21762720" cy="640080"/>
            </a:xfrm>
            <a:custGeom>
              <a:avLst/>
              <a:gdLst/>
              <a:ahLst/>
              <a:cxnLst/>
              <a:rect r="r" b="b" t="t" l="l"/>
              <a:pathLst>
                <a:path h="640080" w="21762720">
                  <a:moveTo>
                    <a:pt x="0" y="0"/>
                  </a:moveTo>
                  <a:lnTo>
                    <a:pt x="21762720" y="0"/>
                  </a:lnTo>
                  <a:lnTo>
                    <a:pt x="2176272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12491" r="0" b="-612491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-19050"/>
              <a:ext cx="21762720" cy="6591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Problem Being Addressed</a:t>
              </a:r>
            </a:p>
          </p:txBody>
        </p:sp>
      </p:grpSp>
      <p:sp>
        <p:nvSpPr>
          <p:cNvPr name="TextBox 82" id="82"/>
          <p:cNvSpPr txBox="true"/>
          <p:nvPr/>
        </p:nvSpPr>
        <p:spPr>
          <a:xfrm rot="0">
            <a:off x="960120" y="8045958"/>
            <a:ext cx="16322040" cy="1322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develop a lightweight web application that lets volunteers register by blood group and locality, broadcast SOS requests on a live board, and contact matching available donors through a single-click link.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7144" y="102584"/>
            <a:ext cx="18301830" cy="864680"/>
            <a:chOff x="0" y="0"/>
            <a:chExt cx="24402440" cy="115290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152906"/>
            </a:xfrm>
            <a:custGeom>
              <a:avLst/>
              <a:gdLst/>
              <a:ahLst/>
              <a:cxnLst/>
              <a:rect r="r" b="b" t="t" l="l"/>
              <a:pathLst>
                <a:path h="1152906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152906"/>
                  </a:lnTo>
                  <a:lnTo>
                    <a:pt x="0" y="1152906"/>
                  </a:lnTo>
                  <a:close/>
                </a:path>
              </a:pathLst>
            </a:custGeom>
            <a:solidFill>
              <a:srgbClr val="953734"/>
            </a:solidFill>
            <a:ln w="14288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411480" y="109728"/>
            <a:ext cx="17464583" cy="850392"/>
            <a:chOff x="0" y="0"/>
            <a:chExt cx="23286110" cy="113385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3286110" cy="1133856"/>
            </a:xfrm>
            <a:custGeom>
              <a:avLst/>
              <a:gdLst/>
              <a:ahLst/>
              <a:cxnLst/>
              <a:rect r="r" b="b" t="t" l="l"/>
              <a:pathLst>
                <a:path h="1133856" w="23286110">
                  <a:moveTo>
                    <a:pt x="0" y="0"/>
                  </a:moveTo>
                  <a:lnTo>
                    <a:pt x="23286110" y="0"/>
                  </a:lnTo>
                  <a:lnTo>
                    <a:pt x="2328611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0166" r="0" b="-35016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23286110" cy="11529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60"/>
                </a:lnSpc>
              </a:pPr>
              <a:r>
                <a:rPr lang="en-US" sz="3300" b="true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Existing System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7323308" y="9738360"/>
            <a:ext cx="685800" cy="411480"/>
            <a:chOff x="0" y="0"/>
            <a:chExt cx="914400" cy="5486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91440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99999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6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78656" y="1295876"/>
            <a:ext cx="5500688" cy="480632"/>
            <a:chOff x="0" y="0"/>
            <a:chExt cx="7334250" cy="64084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334250" cy="640842"/>
            </a:xfrm>
            <a:custGeom>
              <a:avLst/>
              <a:gdLst/>
              <a:ahLst/>
              <a:cxnLst/>
              <a:rect r="r" b="b" t="t" l="l"/>
              <a:pathLst>
                <a:path h="640842" w="7334250">
                  <a:moveTo>
                    <a:pt x="0" y="0"/>
                  </a:moveTo>
                  <a:lnTo>
                    <a:pt x="7334250" y="0"/>
                  </a:lnTo>
                  <a:lnTo>
                    <a:pt x="7334250" y="640842"/>
                  </a:lnTo>
                  <a:lnTo>
                    <a:pt x="0" y="640842"/>
                  </a:lnTo>
                  <a:close/>
                </a:path>
              </a:pathLst>
            </a:custGeom>
            <a:solidFill>
              <a:srgbClr val="028090"/>
            </a:solidFill>
            <a:ln w="14288" cap="sq">
              <a:solidFill>
                <a:srgbClr val="028090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754380" y="1303020"/>
            <a:ext cx="5349240" cy="466344"/>
            <a:chOff x="0" y="0"/>
            <a:chExt cx="7132320" cy="62179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132320" cy="621792"/>
            </a:xfrm>
            <a:custGeom>
              <a:avLst/>
              <a:gdLst/>
              <a:ahLst/>
              <a:cxnLst/>
              <a:rect r="r" b="b" t="t" l="l"/>
              <a:pathLst>
                <a:path h="621792" w="7132320">
                  <a:moveTo>
                    <a:pt x="0" y="0"/>
                  </a:moveTo>
                  <a:lnTo>
                    <a:pt x="7132320" y="0"/>
                  </a:lnTo>
                  <a:lnTo>
                    <a:pt x="713232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3504" r="0" b="-173504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19050"/>
              <a:ext cx="7132320" cy="6408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Current Methods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678656" y="1913096"/>
            <a:ext cx="5500688" cy="590360"/>
            <a:chOff x="0" y="0"/>
            <a:chExt cx="7334250" cy="78714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334250" cy="787146"/>
            </a:xfrm>
            <a:custGeom>
              <a:avLst/>
              <a:gdLst/>
              <a:ahLst/>
              <a:cxnLst/>
              <a:rect r="r" b="b" t="t" l="l"/>
              <a:pathLst>
                <a:path h="787146" w="7334250">
                  <a:moveTo>
                    <a:pt x="0" y="0"/>
                  </a:moveTo>
                  <a:lnTo>
                    <a:pt x="7334250" y="0"/>
                  </a:lnTo>
                  <a:lnTo>
                    <a:pt x="7334250" y="787146"/>
                  </a:lnTo>
                  <a:lnTo>
                    <a:pt x="0" y="787146"/>
                  </a:lnTo>
                  <a:close/>
                </a:path>
              </a:pathLst>
            </a:custGeom>
            <a:solidFill>
              <a:srgbClr val="028090"/>
            </a:solidFill>
            <a:ln w="14288" cap="sq">
              <a:solidFill>
                <a:srgbClr val="028090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754380" y="1920240"/>
            <a:ext cx="5349240" cy="576072"/>
            <a:chOff x="0" y="0"/>
            <a:chExt cx="7132320" cy="76809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132320" cy="768096"/>
            </a:xfrm>
            <a:custGeom>
              <a:avLst/>
              <a:gdLst/>
              <a:ahLst/>
              <a:cxnLst/>
              <a:rect r="r" b="b" t="t" l="l"/>
              <a:pathLst>
                <a:path h="768096" w="7132320">
                  <a:moveTo>
                    <a:pt x="0" y="0"/>
                  </a:moveTo>
                  <a:lnTo>
                    <a:pt x="7132320" y="0"/>
                  </a:lnTo>
                  <a:lnTo>
                    <a:pt x="713232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0932" r="0" b="-130932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19050"/>
              <a:ext cx="7132320" cy="7871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WhatsApp / Messaging Groups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678656" y="2598896"/>
            <a:ext cx="5500688" cy="590360"/>
            <a:chOff x="0" y="0"/>
            <a:chExt cx="7334250" cy="78714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7334250" cy="787146"/>
            </a:xfrm>
            <a:custGeom>
              <a:avLst/>
              <a:gdLst/>
              <a:ahLst/>
              <a:cxnLst/>
              <a:rect r="r" b="b" t="t" l="l"/>
              <a:pathLst>
                <a:path h="787146" w="7334250">
                  <a:moveTo>
                    <a:pt x="0" y="0"/>
                  </a:moveTo>
                  <a:lnTo>
                    <a:pt x="7334250" y="0"/>
                  </a:lnTo>
                  <a:lnTo>
                    <a:pt x="7334250" y="787146"/>
                  </a:lnTo>
                  <a:lnTo>
                    <a:pt x="0" y="787146"/>
                  </a:lnTo>
                  <a:close/>
                </a:path>
              </a:pathLst>
            </a:custGeom>
            <a:solidFill>
              <a:srgbClr val="953734"/>
            </a:solidFill>
            <a:ln w="14288" cap="sq">
              <a:solidFill>
                <a:srgbClr val="953734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754380" y="2606040"/>
            <a:ext cx="5349240" cy="576072"/>
            <a:chOff x="0" y="0"/>
            <a:chExt cx="7132320" cy="768096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7132320" cy="768096"/>
            </a:xfrm>
            <a:custGeom>
              <a:avLst/>
              <a:gdLst/>
              <a:ahLst/>
              <a:cxnLst/>
              <a:rect r="r" b="b" t="t" l="l"/>
              <a:pathLst>
                <a:path h="768096" w="7132320">
                  <a:moveTo>
                    <a:pt x="0" y="0"/>
                  </a:moveTo>
                  <a:lnTo>
                    <a:pt x="7132320" y="0"/>
                  </a:lnTo>
                  <a:lnTo>
                    <a:pt x="713232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0932" r="0" b="-130932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19050"/>
              <a:ext cx="7132320" cy="7871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Phone Calls &amp; Word of Mouth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678656" y="3284696"/>
            <a:ext cx="5500688" cy="590360"/>
            <a:chOff x="0" y="0"/>
            <a:chExt cx="7334250" cy="787146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7334250" cy="787146"/>
            </a:xfrm>
            <a:custGeom>
              <a:avLst/>
              <a:gdLst/>
              <a:ahLst/>
              <a:cxnLst/>
              <a:rect r="r" b="b" t="t" l="l"/>
              <a:pathLst>
                <a:path h="787146" w="7334250">
                  <a:moveTo>
                    <a:pt x="0" y="0"/>
                  </a:moveTo>
                  <a:lnTo>
                    <a:pt x="7334250" y="0"/>
                  </a:lnTo>
                  <a:lnTo>
                    <a:pt x="7334250" y="787146"/>
                  </a:lnTo>
                  <a:lnTo>
                    <a:pt x="0" y="787146"/>
                  </a:lnTo>
                  <a:close/>
                </a:path>
              </a:pathLst>
            </a:custGeom>
            <a:solidFill>
              <a:srgbClr val="C98A2C"/>
            </a:solidFill>
            <a:ln w="14288" cap="sq">
              <a:solidFill>
                <a:srgbClr val="C98A2C"/>
              </a:solidFill>
              <a:prstDash val="solid"/>
              <a:miter/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754380" y="3291840"/>
            <a:ext cx="5349240" cy="576072"/>
            <a:chOff x="0" y="0"/>
            <a:chExt cx="7132320" cy="768096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7132320" cy="768096"/>
            </a:xfrm>
            <a:custGeom>
              <a:avLst/>
              <a:gdLst/>
              <a:ahLst/>
              <a:cxnLst/>
              <a:rect r="r" b="b" t="t" l="l"/>
              <a:pathLst>
                <a:path h="768096" w="7132320">
                  <a:moveTo>
                    <a:pt x="0" y="0"/>
                  </a:moveTo>
                  <a:lnTo>
                    <a:pt x="7132320" y="0"/>
                  </a:lnTo>
                  <a:lnTo>
                    <a:pt x="713232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0932" r="0" b="-130932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19050"/>
              <a:ext cx="7132320" cy="7871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Social Media Appeals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678656" y="3970496"/>
            <a:ext cx="5500688" cy="590360"/>
            <a:chOff x="0" y="0"/>
            <a:chExt cx="7334250" cy="787146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7334250" cy="787146"/>
            </a:xfrm>
            <a:custGeom>
              <a:avLst/>
              <a:gdLst/>
              <a:ahLst/>
              <a:cxnLst/>
              <a:rect r="r" b="b" t="t" l="l"/>
              <a:pathLst>
                <a:path h="787146" w="7334250">
                  <a:moveTo>
                    <a:pt x="0" y="0"/>
                  </a:moveTo>
                  <a:lnTo>
                    <a:pt x="7334250" y="0"/>
                  </a:lnTo>
                  <a:lnTo>
                    <a:pt x="7334250" y="787146"/>
                  </a:lnTo>
                  <a:lnTo>
                    <a:pt x="0" y="787146"/>
                  </a:lnTo>
                  <a:close/>
                </a:path>
              </a:pathLst>
            </a:custGeom>
            <a:solidFill>
              <a:srgbClr val="444444"/>
            </a:solidFill>
            <a:ln w="14288" cap="sq">
              <a:solidFill>
                <a:srgbClr val="444444"/>
              </a:solidFill>
              <a:prstDash val="solid"/>
              <a:miter/>
            </a:ln>
          </p:spPr>
        </p:sp>
      </p:grpSp>
      <p:grpSp>
        <p:nvGrpSpPr>
          <p:cNvPr name="Group 32" id="32"/>
          <p:cNvGrpSpPr/>
          <p:nvPr/>
        </p:nvGrpSpPr>
        <p:grpSpPr>
          <a:xfrm rot="0">
            <a:off x="754380" y="3977640"/>
            <a:ext cx="5349240" cy="576072"/>
            <a:chOff x="0" y="0"/>
            <a:chExt cx="7132320" cy="768096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7132320" cy="768096"/>
            </a:xfrm>
            <a:custGeom>
              <a:avLst/>
              <a:gdLst/>
              <a:ahLst/>
              <a:cxnLst/>
              <a:rect r="r" b="b" t="t" l="l"/>
              <a:pathLst>
                <a:path h="768096" w="7132320">
                  <a:moveTo>
                    <a:pt x="0" y="0"/>
                  </a:moveTo>
                  <a:lnTo>
                    <a:pt x="7132320" y="0"/>
                  </a:lnTo>
                  <a:lnTo>
                    <a:pt x="713232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0932" r="0" b="-130932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19050"/>
              <a:ext cx="7132320" cy="7871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Hospital / Blood Bank Helplines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678656" y="4656296"/>
            <a:ext cx="5500688" cy="590360"/>
            <a:chOff x="0" y="0"/>
            <a:chExt cx="7334250" cy="787146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7334250" cy="787146"/>
            </a:xfrm>
            <a:custGeom>
              <a:avLst/>
              <a:gdLst/>
              <a:ahLst/>
              <a:cxnLst/>
              <a:rect r="r" b="b" t="t" l="l"/>
              <a:pathLst>
                <a:path h="787146" w="7334250">
                  <a:moveTo>
                    <a:pt x="0" y="0"/>
                  </a:moveTo>
                  <a:lnTo>
                    <a:pt x="7334250" y="0"/>
                  </a:lnTo>
                  <a:lnTo>
                    <a:pt x="7334250" y="787146"/>
                  </a:lnTo>
                  <a:lnTo>
                    <a:pt x="0" y="787146"/>
                  </a:lnTo>
                  <a:close/>
                </a:path>
              </a:pathLst>
            </a:custGeom>
            <a:solidFill>
              <a:srgbClr val="444444"/>
            </a:solidFill>
            <a:ln w="14288" cap="sq">
              <a:solidFill>
                <a:srgbClr val="444444"/>
              </a:solidFill>
              <a:prstDash val="solid"/>
              <a:miter/>
            </a:ln>
          </p:spPr>
        </p:sp>
      </p:grpSp>
      <p:grpSp>
        <p:nvGrpSpPr>
          <p:cNvPr name="Group 37" id="37"/>
          <p:cNvGrpSpPr/>
          <p:nvPr/>
        </p:nvGrpSpPr>
        <p:grpSpPr>
          <a:xfrm rot="0">
            <a:off x="754380" y="4663440"/>
            <a:ext cx="5349240" cy="576072"/>
            <a:chOff x="0" y="0"/>
            <a:chExt cx="7132320" cy="768096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7132320" cy="768096"/>
            </a:xfrm>
            <a:custGeom>
              <a:avLst/>
              <a:gdLst/>
              <a:ahLst/>
              <a:cxnLst/>
              <a:rect r="r" b="b" t="t" l="l"/>
              <a:pathLst>
                <a:path h="768096" w="7132320">
                  <a:moveTo>
                    <a:pt x="0" y="0"/>
                  </a:moveTo>
                  <a:lnTo>
                    <a:pt x="7132320" y="0"/>
                  </a:lnTo>
                  <a:lnTo>
                    <a:pt x="713232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0932" r="0" b="-130932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19050"/>
              <a:ext cx="7132320" cy="7871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National Blood Bank Portals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678656" y="5616416"/>
            <a:ext cx="5500688" cy="480632"/>
            <a:chOff x="0" y="0"/>
            <a:chExt cx="7334250" cy="640842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7334250" cy="640842"/>
            </a:xfrm>
            <a:custGeom>
              <a:avLst/>
              <a:gdLst/>
              <a:ahLst/>
              <a:cxnLst/>
              <a:rect r="r" b="b" t="t" l="l"/>
              <a:pathLst>
                <a:path h="640842" w="7334250">
                  <a:moveTo>
                    <a:pt x="0" y="0"/>
                  </a:moveTo>
                  <a:lnTo>
                    <a:pt x="7334250" y="0"/>
                  </a:lnTo>
                  <a:lnTo>
                    <a:pt x="7334250" y="640842"/>
                  </a:lnTo>
                  <a:lnTo>
                    <a:pt x="0" y="640842"/>
                  </a:lnTo>
                  <a:close/>
                </a:path>
              </a:pathLst>
            </a:custGeom>
            <a:solidFill>
              <a:srgbClr val="953734"/>
            </a:solidFill>
            <a:ln w="14288" cap="sq">
              <a:solidFill>
                <a:srgbClr val="953734"/>
              </a:solidFill>
              <a:prstDash val="solid"/>
              <a:miter/>
            </a:ln>
          </p:spPr>
        </p:sp>
      </p:grpSp>
      <p:grpSp>
        <p:nvGrpSpPr>
          <p:cNvPr name="Group 42" id="42"/>
          <p:cNvGrpSpPr/>
          <p:nvPr/>
        </p:nvGrpSpPr>
        <p:grpSpPr>
          <a:xfrm rot="0">
            <a:off x="754380" y="5623560"/>
            <a:ext cx="5349240" cy="466344"/>
            <a:chOff x="0" y="0"/>
            <a:chExt cx="7132320" cy="621792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7132320" cy="621792"/>
            </a:xfrm>
            <a:custGeom>
              <a:avLst/>
              <a:gdLst/>
              <a:ahLst/>
              <a:cxnLst/>
              <a:rect r="r" b="b" t="t" l="l"/>
              <a:pathLst>
                <a:path h="621792" w="7132320">
                  <a:moveTo>
                    <a:pt x="0" y="0"/>
                  </a:moveTo>
                  <a:lnTo>
                    <a:pt x="7132320" y="0"/>
                  </a:lnTo>
                  <a:lnTo>
                    <a:pt x="713232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3504" r="0" b="-173504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19050"/>
              <a:ext cx="7132320" cy="6408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Limitations</a:t>
              </a:r>
            </a:p>
          </p:txBody>
        </p:sp>
      </p:grpSp>
      <p:sp>
        <p:nvSpPr>
          <p:cNvPr name="TextBox 45" id="45"/>
          <p:cNvSpPr txBox="true"/>
          <p:nvPr/>
        </p:nvSpPr>
        <p:spPr>
          <a:xfrm rot="0">
            <a:off x="685800" y="6221730"/>
            <a:ext cx="5486400" cy="430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b="true" sz="1950">
                <a:solidFill>
                  <a:srgbClr val="6E2723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Unverified Requests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685800" y="6633210"/>
            <a:ext cx="5486400" cy="430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6E272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Forwards may be old or fake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685800" y="7250430"/>
            <a:ext cx="5486400" cy="430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b="true" sz="1950">
                <a:solidFill>
                  <a:srgbClr val="6E2723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No Filters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685800" y="7661910"/>
            <a:ext cx="5486400" cy="430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6E272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Group and locality search missing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685800" y="8279130"/>
            <a:ext cx="5486400" cy="430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b="true" sz="1950">
                <a:solidFill>
                  <a:srgbClr val="6E2723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Stale Donor Lists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685800" y="8690610"/>
            <a:ext cx="5486400" cy="430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6E272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Availability is never updated</a:t>
            </a:r>
          </a:p>
        </p:txBody>
      </p:sp>
      <p:grpSp>
        <p:nvGrpSpPr>
          <p:cNvPr name="Group 51" id="51"/>
          <p:cNvGrpSpPr/>
          <p:nvPr/>
        </p:nvGrpSpPr>
        <p:grpSpPr>
          <a:xfrm rot="0">
            <a:off x="7262336" y="1295876"/>
            <a:ext cx="10301288" cy="480632"/>
            <a:chOff x="0" y="0"/>
            <a:chExt cx="13735050" cy="640842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3735050" cy="640842"/>
            </a:xfrm>
            <a:custGeom>
              <a:avLst/>
              <a:gdLst/>
              <a:ahLst/>
              <a:cxnLst/>
              <a:rect r="r" b="b" t="t" l="l"/>
              <a:pathLst>
                <a:path h="640842" w="13735050">
                  <a:moveTo>
                    <a:pt x="0" y="0"/>
                  </a:moveTo>
                  <a:lnTo>
                    <a:pt x="13735050" y="0"/>
                  </a:lnTo>
                  <a:lnTo>
                    <a:pt x="13735050" y="640842"/>
                  </a:lnTo>
                  <a:lnTo>
                    <a:pt x="0" y="640842"/>
                  </a:lnTo>
                  <a:close/>
                </a:path>
              </a:pathLst>
            </a:custGeom>
            <a:solidFill>
              <a:srgbClr val="C98A2C"/>
            </a:solidFill>
            <a:ln w="14288" cap="sq">
              <a:solidFill>
                <a:srgbClr val="C98A2C"/>
              </a:solidFill>
              <a:prstDash val="solid"/>
              <a:miter/>
            </a:ln>
          </p:spPr>
        </p:sp>
      </p:grpSp>
      <p:grpSp>
        <p:nvGrpSpPr>
          <p:cNvPr name="Group 53" id="53"/>
          <p:cNvGrpSpPr/>
          <p:nvPr/>
        </p:nvGrpSpPr>
        <p:grpSpPr>
          <a:xfrm rot="0">
            <a:off x="7338060" y="1303020"/>
            <a:ext cx="10149840" cy="466344"/>
            <a:chOff x="0" y="0"/>
            <a:chExt cx="13533120" cy="621792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3533120" cy="621792"/>
            </a:xfrm>
            <a:custGeom>
              <a:avLst/>
              <a:gdLst/>
              <a:ahLst/>
              <a:cxnLst/>
              <a:rect r="r" b="b" t="t" l="l"/>
              <a:pathLst>
                <a:path h="621792" w="13533120">
                  <a:moveTo>
                    <a:pt x="0" y="0"/>
                  </a:moveTo>
                  <a:lnTo>
                    <a:pt x="13533120" y="0"/>
                  </a:lnTo>
                  <a:lnTo>
                    <a:pt x="1353312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4086" r="0" b="-374086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19050"/>
              <a:ext cx="13533120" cy="6408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Typical Emergency Process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7262336" y="1913096"/>
            <a:ext cx="10301288" cy="700088"/>
            <a:chOff x="0" y="0"/>
            <a:chExt cx="13735050" cy="93345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3735050" cy="933450"/>
            </a:xfrm>
            <a:custGeom>
              <a:avLst/>
              <a:gdLst/>
              <a:ahLst/>
              <a:cxnLst/>
              <a:rect r="r" b="b" t="t" l="l"/>
              <a:pathLst>
                <a:path h="933450" w="13735050">
                  <a:moveTo>
                    <a:pt x="0" y="0"/>
                  </a:moveTo>
                  <a:lnTo>
                    <a:pt x="13735050" y="0"/>
                  </a:lnTo>
                  <a:lnTo>
                    <a:pt x="13735050" y="933450"/>
                  </a:lnTo>
                  <a:lnTo>
                    <a:pt x="0" y="933450"/>
                  </a:lnTo>
                  <a:close/>
                </a:path>
              </a:pathLst>
            </a:custGeom>
            <a:solidFill>
              <a:srgbClr val="028090"/>
            </a:solidFill>
            <a:ln w="14288" cap="sq">
              <a:solidFill>
                <a:srgbClr val="028090"/>
              </a:solidFill>
              <a:prstDash val="solid"/>
              <a:miter/>
            </a:ln>
          </p:spPr>
        </p:sp>
      </p:grpSp>
      <p:grpSp>
        <p:nvGrpSpPr>
          <p:cNvPr name="Group 58" id="58"/>
          <p:cNvGrpSpPr/>
          <p:nvPr/>
        </p:nvGrpSpPr>
        <p:grpSpPr>
          <a:xfrm rot="0">
            <a:off x="7338060" y="1920240"/>
            <a:ext cx="10149840" cy="685800"/>
            <a:chOff x="0" y="0"/>
            <a:chExt cx="13533120" cy="91440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13533120" cy="914400"/>
            </a:xfrm>
            <a:custGeom>
              <a:avLst/>
              <a:gdLst/>
              <a:ahLst/>
              <a:cxnLst/>
              <a:rect r="r" b="b" t="t" l="l"/>
              <a:pathLst>
                <a:path h="914400" w="13533120">
                  <a:moveTo>
                    <a:pt x="0" y="0"/>
                  </a:moveTo>
                  <a:lnTo>
                    <a:pt x="13533120" y="0"/>
                  </a:lnTo>
                  <a:lnTo>
                    <a:pt x="1353312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8378" r="0" b="-238378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19050"/>
              <a:ext cx="13533120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Emergency Occurs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12229910" y="2614994"/>
            <a:ext cx="366141" cy="256413"/>
            <a:chOff x="0" y="0"/>
            <a:chExt cx="488188" cy="341884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488188" cy="341884"/>
            </a:xfrm>
            <a:custGeom>
              <a:avLst/>
              <a:gdLst/>
              <a:ahLst/>
              <a:cxnLst/>
              <a:rect r="r" b="b" t="t" l="l"/>
              <a:pathLst>
                <a:path h="341884" w="488188">
                  <a:moveTo>
                    <a:pt x="0" y="170942"/>
                  </a:moveTo>
                  <a:lnTo>
                    <a:pt x="122047" y="170942"/>
                  </a:lnTo>
                  <a:lnTo>
                    <a:pt x="122047" y="0"/>
                  </a:lnTo>
                  <a:lnTo>
                    <a:pt x="366141" y="0"/>
                  </a:lnTo>
                  <a:lnTo>
                    <a:pt x="366141" y="170942"/>
                  </a:lnTo>
                  <a:lnTo>
                    <a:pt x="488188" y="170942"/>
                  </a:lnTo>
                  <a:lnTo>
                    <a:pt x="244094" y="341884"/>
                  </a:lnTo>
                  <a:close/>
                </a:path>
              </a:pathLst>
            </a:custGeom>
            <a:solidFill>
              <a:srgbClr val="C98A2C"/>
            </a:solidFill>
            <a:ln w="9525" cap="sq">
              <a:solidFill>
                <a:srgbClr val="C98A2C"/>
              </a:solidFill>
              <a:prstDash val="solid"/>
              <a:miter/>
            </a:ln>
          </p:spPr>
        </p:sp>
      </p:grpSp>
      <p:grpSp>
        <p:nvGrpSpPr>
          <p:cNvPr name="Group 63" id="63"/>
          <p:cNvGrpSpPr/>
          <p:nvPr/>
        </p:nvGrpSpPr>
        <p:grpSpPr>
          <a:xfrm rot="0">
            <a:off x="7262336" y="2873216"/>
            <a:ext cx="10301288" cy="700088"/>
            <a:chOff x="0" y="0"/>
            <a:chExt cx="13735050" cy="93345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13735050" cy="933450"/>
            </a:xfrm>
            <a:custGeom>
              <a:avLst/>
              <a:gdLst/>
              <a:ahLst/>
              <a:cxnLst/>
              <a:rect r="r" b="b" t="t" l="l"/>
              <a:pathLst>
                <a:path h="933450" w="13735050">
                  <a:moveTo>
                    <a:pt x="0" y="0"/>
                  </a:moveTo>
                  <a:lnTo>
                    <a:pt x="13735050" y="0"/>
                  </a:lnTo>
                  <a:lnTo>
                    <a:pt x="13735050" y="933450"/>
                  </a:lnTo>
                  <a:lnTo>
                    <a:pt x="0" y="933450"/>
                  </a:lnTo>
                  <a:close/>
                </a:path>
              </a:pathLst>
            </a:custGeom>
            <a:solidFill>
              <a:srgbClr val="953734"/>
            </a:solidFill>
            <a:ln w="14288" cap="sq">
              <a:solidFill>
                <a:srgbClr val="953734"/>
              </a:solidFill>
              <a:prstDash val="solid"/>
              <a:miter/>
            </a:ln>
          </p:spPr>
        </p:sp>
      </p:grpSp>
      <p:grpSp>
        <p:nvGrpSpPr>
          <p:cNvPr name="Group 65" id="65"/>
          <p:cNvGrpSpPr/>
          <p:nvPr/>
        </p:nvGrpSpPr>
        <p:grpSpPr>
          <a:xfrm rot="0">
            <a:off x="7338060" y="2880360"/>
            <a:ext cx="10149840" cy="685800"/>
            <a:chOff x="0" y="0"/>
            <a:chExt cx="13533120" cy="91440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13533120" cy="914400"/>
            </a:xfrm>
            <a:custGeom>
              <a:avLst/>
              <a:gdLst/>
              <a:ahLst/>
              <a:cxnLst/>
              <a:rect r="r" b="b" t="t" l="l"/>
              <a:pathLst>
                <a:path h="914400" w="13533120">
                  <a:moveTo>
                    <a:pt x="0" y="0"/>
                  </a:moveTo>
                  <a:lnTo>
                    <a:pt x="13533120" y="0"/>
                  </a:lnTo>
                  <a:lnTo>
                    <a:pt x="1353312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8378" r="0" b="-238378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19050"/>
              <a:ext cx="13533120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Post Message in Groups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12229910" y="3575114"/>
            <a:ext cx="366141" cy="256413"/>
            <a:chOff x="0" y="0"/>
            <a:chExt cx="488188" cy="341884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488188" cy="341884"/>
            </a:xfrm>
            <a:custGeom>
              <a:avLst/>
              <a:gdLst/>
              <a:ahLst/>
              <a:cxnLst/>
              <a:rect r="r" b="b" t="t" l="l"/>
              <a:pathLst>
                <a:path h="341884" w="488188">
                  <a:moveTo>
                    <a:pt x="0" y="170942"/>
                  </a:moveTo>
                  <a:lnTo>
                    <a:pt x="122047" y="170942"/>
                  </a:lnTo>
                  <a:lnTo>
                    <a:pt x="122047" y="0"/>
                  </a:lnTo>
                  <a:lnTo>
                    <a:pt x="366141" y="0"/>
                  </a:lnTo>
                  <a:lnTo>
                    <a:pt x="366141" y="170942"/>
                  </a:lnTo>
                  <a:lnTo>
                    <a:pt x="488188" y="170942"/>
                  </a:lnTo>
                  <a:lnTo>
                    <a:pt x="244094" y="341884"/>
                  </a:lnTo>
                  <a:close/>
                </a:path>
              </a:pathLst>
            </a:custGeom>
            <a:solidFill>
              <a:srgbClr val="C98A2C"/>
            </a:solidFill>
            <a:ln w="9525" cap="sq">
              <a:solidFill>
                <a:srgbClr val="C98A2C"/>
              </a:solidFill>
              <a:prstDash val="solid"/>
              <a:miter/>
            </a:ln>
          </p:spPr>
        </p:sp>
      </p:grpSp>
      <p:grpSp>
        <p:nvGrpSpPr>
          <p:cNvPr name="Group 70" id="70"/>
          <p:cNvGrpSpPr/>
          <p:nvPr/>
        </p:nvGrpSpPr>
        <p:grpSpPr>
          <a:xfrm rot="0">
            <a:off x="7262336" y="3833336"/>
            <a:ext cx="10301288" cy="700088"/>
            <a:chOff x="0" y="0"/>
            <a:chExt cx="13735050" cy="93345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13735050" cy="933450"/>
            </a:xfrm>
            <a:custGeom>
              <a:avLst/>
              <a:gdLst/>
              <a:ahLst/>
              <a:cxnLst/>
              <a:rect r="r" b="b" t="t" l="l"/>
              <a:pathLst>
                <a:path h="933450" w="13735050">
                  <a:moveTo>
                    <a:pt x="0" y="0"/>
                  </a:moveTo>
                  <a:lnTo>
                    <a:pt x="13735050" y="0"/>
                  </a:lnTo>
                  <a:lnTo>
                    <a:pt x="13735050" y="933450"/>
                  </a:lnTo>
                  <a:lnTo>
                    <a:pt x="0" y="933450"/>
                  </a:lnTo>
                  <a:close/>
                </a:path>
              </a:pathLst>
            </a:custGeom>
            <a:solidFill>
              <a:srgbClr val="C98A2C"/>
            </a:solidFill>
            <a:ln w="14288" cap="sq">
              <a:solidFill>
                <a:srgbClr val="C98A2C"/>
              </a:solidFill>
              <a:prstDash val="solid"/>
              <a:miter/>
            </a:ln>
          </p:spPr>
        </p:sp>
      </p:grpSp>
      <p:grpSp>
        <p:nvGrpSpPr>
          <p:cNvPr name="Group 72" id="72"/>
          <p:cNvGrpSpPr/>
          <p:nvPr/>
        </p:nvGrpSpPr>
        <p:grpSpPr>
          <a:xfrm rot="0">
            <a:off x="7338060" y="3840480"/>
            <a:ext cx="10149840" cy="685800"/>
            <a:chOff x="0" y="0"/>
            <a:chExt cx="13533120" cy="91440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13533120" cy="914400"/>
            </a:xfrm>
            <a:custGeom>
              <a:avLst/>
              <a:gdLst/>
              <a:ahLst/>
              <a:cxnLst/>
              <a:rect r="r" b="b" t="t" l="l"/>
              <a:pathLst>
                <a:path h="914400" w="13533120">
                  <a:moveTo>
                    <a:pt x="0" y="0"/>
                  </a:moveTo>
                  <a:lnTo>
                    <a:pt x="13533120" y="0"/>
                  </a:lnTo>
                  <a:lnTo>
                    <a:pt x="1353312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8378" r="0" b="-238378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19050"/>
              <a:ext cx="13533120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Wait for Replies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12229910" y="4535234"/>
            <a:ext cx="366141" cy="256413"/>
            <a:chOff x="0" y="0"/>
            <a:chExt cx="488188" cy="341884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488188" cy="341884"/>
            </a:xfrm>
            <a:custGeom>
              <a:avLst/>
              <a:gdLst/>
              <a:ahLst/>
              <a:cxnLst/>
              <a:rect r="r" b="b" t="t" l="l"/>
              <a:pathLst>
                <a:path h="341884" w="488188">
                  <a:moveTo>
                    <a:pt x="0" y="170942"/>
                  </a:moveTo>
                  <a:lnTo>
                    <a:pt x="122047" y="170942"/>
                  </a:lnTo>
                  <a:lnTo>
                    <a:pt x="122047" y="0"/>
                  </a:lnTo>
                  <a:lnTo>
                    <a:pt x="366141" y="0"/>
                  </a:lnTo>
                  <a:lnTo>
                    <a:pt x="366141" y="170942"/>
                  </a:lnTo>
                  <a:lnTo>
                    <a:pt x="488188" y="170942"/>
                  </a:lnTo>
                  <a:lnTo>
                    <a:pt x="244094" y="341884"/>
                  </a:lnTo>
                  <a:close/>
                </a:path>
              </a:pathLst>
            </a:custGeom>
            <a:solidFill>
              <a:srgbClr val="C98A2C"/>
            </a:solidFill>
            <a:ln w="9525" cap="sq">
              <a:solidFill>
                <a:srgbClr val="C98A2C"/>
              </a:solidFill>
              <a:prstDash val="solid"/>
              <a:miter/>
            </a:ln>
          </p:spPr>
        </p:sp>
      </p:grpSp>
      <p:grpSp>
        <p:nvGrpSpPr>
          <p:cNvPr name="Group 77" id="77"/>
          <p:cNvGrpSpPr/>
          <p:nvPr/>
        </p:nvGrpSpPr>
        <p:grpSpPr>
          <a:xfrm rot="0">
            <a:off x="7262336" y="4793456"/>
            <a:ext cx="10301288" cy="700088"/>
            <a:chOff x="0" y="0"/>
            <a:chExt cx="13735050" cy="93345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13735050" cy="933450"/>
            </a:xfrm>
            <a:custGeom>
              <a:avLst/>
              <a:gdLst/>
              <a:ahLst/>
              <a:cxnLst/>
              <a:rect r="r" b="b" t="t" l="l"/>
              <a:pathLst>
                <a:path h="933450" w="13735050">
                  <a:moveTo>
                    <a:pt x="0" y="0"/>
                  </a:moveTo>
                  <a:lnTo>
                    <a:pt x="13735050" y="0"/>
                  </a:lnTo>
                  <a:lnTo>
                    <a:pt x="13735050" y="933450"/>
                  </a:lnTo>
                  <a:lnTo>
                    <a:pt x="0" y="933450"/>
                  </a:lnTo>
                  <a:close/>
                </a:path>
              </a:pathLst>
            </a:custGeom>
            <a:solidFill>
              <a:srgbClr val="444444"/>
            </a:solidFill>
            <a:ln w="14288" cap="sq">
              <a:solidFill>
                <a:srgbClr val="444444"/>
              </a:solidFill>
              <a:prstDash val="solid"/>
              <a:miter/>
            </a:ln>
          </p:spPr>
        </p:sp>
      </p:grpSp>
      <p:grpSp>
        <p:nvGrpSpPr>
          <p:cNvPr name="Group 79" id="79"/>
          <p:cNvGrpSpPr/>
          <p:nvPr/>
        </p:nvGrpSpPr>
        <p:grpSpPr>
          <a:xfrm rot="0">
            <a:off x="7338060" y="4800600"/>
            <a:ext cx="10149840" cy="685800"/>
            <a:chOff x="0" y="0"/>
            <a:chExt cx="13533120" cy="914400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13533120" cy="914400"/>
            </a:xfrm>
            <a:custGeom>
              <a:avLst/>
              <a:gdLst/>
              <a:ahLst/>
              <a:cxnLst/>
              <a:rect r="r" b="b" t="t" l="l"/>
              <a:pathLst>
                <a:path h="914400" w="13533120">
                  <a:moveTo>
                    <a:pt x="0" y="0"/>
                  </a:moveTo>
                  <a:lnTo>
                    <a:pt x="13533120" y="0"/>
                  </a:lnTo>
                  <a:lnTo>
                    <a:pt x="1353312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8378" r="0" b="-238378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-19050"/>
              <a:ext cx="13533120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Check Blood Group by Hand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12229910" y="5495354"/>
            <a:ext cx="366141" cy="256413"/>
            <a:chOff x="0" y="0"/>
            <a:chExt cx="488188" cy="341884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488188" cy="341884"/>
            </a:xfrm>
            <a:custGeom>
              <a:avLst/>
              <a:gdLst/>
              <a:ahLst/>
              <a:cxnLst/>
              <a:rect r="r" b="b" t="t" l="l"/>
              <a:pathLst>
                <a:path h="341884" w="488188">
                  <a:moveTo>
                    <a:pt x="0" y="170942"/>
                  </a:moveTo>
                  <a:lnTo>
                    <a:pt x="122047" y="170942"/>
                  </a:lnTo>
                  <a:lnTo>
                    <a:pt x="122047" y="0"/>
                  </a:lnTo>
                  <a:lnTo>
                    <a:pt x="366141" y="0"/>
                  </a:lnTo>
                  <a:lnTo>
                    <a:pt x="366141" y="170942"/>
                  </a:lnTo>
                  <a:lnTo>
                    <a:pt x="488188" y="170942"/>
                  </a:lnTo>
                  <a:lnTo>
                    <a:pt x="244094" y="341884"/>
                  </a:lnTo>
                  <a:close/>
                </a:path>
              </a:pathLst>
            </a:custGeom>
            <a:solidFill>
              <a:srgbClr val="C98A2C"/>
            </a:solidFill>
            <a:ln w="9525" cap="sq">
              <a:solidFill>
                <a:srgbClr val="C98A2C"/>
              </a:solidFill>
              <a:prstDash val="solid"/>
              <a:miter/>
            </a:ln>
          </p:spPr>
        </p:sp>
      </p:grpSp>
      <p:grpSp>
        <p:nvGrpSpPr>
          <p:cNvPr name="Group 84" id="84"/>
          <p:cNvGrpSpPr/>
          <p:nvPr/>
        </p:nvGrpSpPr>
        <p:grpSpPr>
          <a:xfrm rot="0">
            <a:off x="7262336" y="5753576"/>
            <a:ext cx="10301288" cy="700088"/>
            <a:chOff x="0" y="0"/>
            <a:chExt cx="13735050" cy="933450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13735050" cy="933450"/>
            </a:xfrm>
            <a:custGeom>
              <a:avLst/>
              <a:gdLst/>
              <a:ahLst/>
              <a:cxnLst/>
              <a:rect r="r" b="b" t="t" l="l"/>
              <a:pathLst>
                <a:path h="933450" w="13735050">
                  <a:moveTo>
                    <a:pt x="0" y="0"/>
                  </a:moveTo>
                  <a:lnTo>
                    <a:pt x="13735050" y="0"/>
                  </a:lnTo>
                  <a:lnTo>
                    <a:pt x="13735050" y="933450"/>
                  </a:lnTo>
                  <a:lnTo>
                    <a:pt x="0" y="933450"/>
                  </a:lnTo>
                  <a:close/>
                </a:path>
              </a:pathLst>
            </a:custGeom>
            <a:solidFill>
              <a:srgbClr val="953734"/>
            </a:solidFill>
            <a:ln w="14288" cap="sq">
              <a:solidFill>
                <a:srgbClr val="953734"/>
              </a:solidFill>
              <a:prstDash val="solid"/>
              <a:miter/>
            </a:ln>
          </p:spPr>
        </p:sp>
      </p:grpSp>
      <p:grpSp>
        <p:nvGrpSpPr>
          <p:cNvPr name="Group 86" id="86"/>
          <p:cNvGrpSpPr/>
          <p:nvPr/>
        </p:nvGrpSpPr>
        <p:grpSpPr>
          <a:xfrm rot="0">
            <a:off x="7338060" y="5760720"/>
            <a:ext cx="10149840" cy="685800"/>
            <a:chOff x="0" y="0"/>
            <a:chExt cx="13533120" cy="914400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13533120" cy="914400"/>
            </a:xfrm>
            <a:custGeom>
              <a:avLst/>
              <a:gdLst/>
              <a:ahLst/>
              <a:cxnLst/>
              <a:rect r="r" b="b" t="t" l="l"/>
              <a:pathLst>
                <a:path h="914400" w="13533120">
                  <a:moveTo>
                    <a:pt x="0" y="0"/>
                  </a:moveTo>
                  <a:lnTo>
                    <a:pt x="13533120" y="0"/>
                  </a:lnTo>
                  <a:lnTo>
                    <a:pt x="1353312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8378" r="0" b="-238378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19050"/>
              <a:ext cx="13533120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Call Donors One by One</a:t>
              </a: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12229910" y="6455474"/>
            <a:ext cx="366141" cy="256413"/>
            <a:chOff x="0" y="0"/>
            <a:chExt cx="488188" cy="341884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488188" cy="341884"/>
            </a:xfrm>
            <a:custGeom>
              <a:avLst/>
              <a:gdLst/>
              <a:ahLst/>
              <a:cxnLst/>
              <a:rect r="r" b="b" t="t" l="l"/>
              <a:pathLst>
                <a:path h="341884" w="488188">
                  <a:moveTo>
                    <a:pt x="0" y="170942"/>
                  </a:moveTo>
                  <a:lnTo>
                    <a:pt x="122047" y="170942"/>
                  </a:lnTo>
                  <a:lnTo>
                    <a:pt x="122047" y="0"/>
                  </a:lnTo>
                  <a:lnTo>
                    <a:pt x="366141" y="0"/>
                  </a:lnTo>
                  <a:lnTo>
                    <a:pt x="366141" y="170942"/>
                  </a:lnTo>
                  <a:lnTo>
                    <a:pt x="488188" y="170942"/>
                  </a:lnTo>
                  <a:lnTo>
                    <a:pt x="244094" y="341884"/>
                  </a:lnTo>
                  <a:close/>
                </a:path>
              </a:pathLst>
            </a:custGeom>
            <a:solidFill>
              <a:srgbClr val="C98A2C"/>
            </a:solidFill>
            <a:ln w="9525" cap="sq">
              <a:solidFill>
                <a:srgbClr val="C98A2C"/>
              </a:solidFill>
              <a:prstDash val="solid"/>
              <a:miter/>
            </a:ln>
          </p:spPr>
        </p:sp>
      </p:grpSp>
      <p:grpSp>
        <p:nvGrpSpPr>
          <p:cNvPr name="Group 91" id="91"/>
          <p:cNvGrpSpPr/>
          <p:nvPr/>
        </p:nvGrpSpPr>
        <p:grpSpPr>
          <a:xfrm rot="0">
            <a:off x="7262336" y="6713696"/>
            <a:ext cx="10301288" cy="700088"/>
            <a:chOff x="0" y="0"/>
            <a:chExt cx="13735050" cy="933450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13735050" cy="933450"/>
            </a:xfrm>
            <a:custGeom>
              <a:avLst/>
              <a:gdLst/>
              <a:ahLst/>
              <a:cxnLst/>
              <a:rect r="r" b="b" t="t" l="l"/>
              <a:pathLst>
                <a:path h="933450" w="13735050">
                  <a:moveTo>
                    <a:pt x="0" y="0"/>
                  </a:moveTo>
                  <a:lnTo>
                    <a:pt x="13735050" y="0"/>
                  </a:lnTo>
                  <a:lnTo>
                    <a:pt x="13735050" y="933450"/>
                  </a:lnTo>
                  <a:lnTo>
                    <a:pt x="0" y="933450"/>
                  </a:lnTo>
                  <a:close/>
                </a:path>
              </a:pathLst>
            </a:custGeom>
            <a:solidFill>
              <a:srgbClr val="028090"/>
            </a:solidFill>
            <a:ln w="14288" cap="sq">
              <a:solidFill>
                <a:srgbClr val="028090"/>
              </a:solidFill>
              <a:prstDash val="solid"/>
              <a:miter/>
            </a:ln>
          </p:spPr>
        </p:sp>
      </p:grpSp>
      <p:grpSp>
        <p:nvGrpSpPr>
          <p:cNvPr name="Group 93" id="93"/>
          <p:cNvGrpSpPr/>
          <p:nvPr/>
        </p:nvGrpSpPr>
        <p:grpSpPr>
          <a:xfrm rot="0">
            <a:off x="7338060" y="6720840"/>
            <a:ext cx="10149840" cy="685800"/>
            <a:chOff x="0" y="0"/>
            <a:chExt cx="13533120" cy="914400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13533120" cy="914400"/>
            </a:xfrm>
            <a:custGeom>
              <a:avLst/>
              <a:gdLst/>
              <a:ahLst/>
              <a:cxnLst/>
              <a:rect r="r" b="b" t="t" l="l"/>
              <a:pathLst>
                <a:path h="914400" w="13533120">
                  <a:moveTo>
                    <a:pt x="0" y="0"/>
                  </a:moveTo>
                  <a:lnTo>
                    <a:pt x="13533120" y="0"/>
                  </a:lnTo>
                  <a:lnTo>
                    <a:pt x="1353312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8378" r="0" b="-238378"/>
              </a:stretch>
            </a:blipFill>
          </p:spPr>
        </p:sp>
        <p:sp>
          <p:nvSpPr>
            <p:cNvPr name="TextBox 95" id="95"/>
            <p:cNvSpPr txBox="true"/>
            <p:nvPr/>
          </p:nvSpPr>
          <p:spPr>
            <a:xfrm>
              <a:off x="0" y="-19050"/>
              <a:ext cx="13533120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Confirm Availability</a:t>
              </a:r>
            </a:p>
          </p:txBody>
        </p:sp>
      </p:grpSp>
      <p:grpSp>
        <p:nvGrpSpPr>
          <p:cNvPr name="Group 96" id="96"/>
          <p:cNvGrpSpPr/>
          <p:nvPr/>
        </p:nvGrpSpPr>
        <p:grpSpPr>
          <a:xfrm rot="0">
            <a:off x="12229910" y="7415594"/>
            <a:ext cx="366141" cy="256413"/>
            <a:chOff x="0" y="0"/>
            <a:chExt cx="488188" cy="341884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488188" cy="341884"/>
            </a:xfrm>
            <a:custGeom>
              <a:avLst/>
              <a:gdLst/>
              <a:ahLst/>
              <a:cxnLst/>
              <a:rect r="r" b="b" t="t" l="l"/>
              <a:pathLst>
                <a:path h="341884" w="488188">
                  <a:moveTo>
                    <a:pt x="0" y="170942"/>
                  </a:moveTo>
                  <a:lnTo>
                    <a:pt x="122047" y="170942"/>
                  </a:lnTo>
                  <a:lnTo>
                    <a:pt x="122047" y="0"/>
                  </a:lnTo>
                  <a:lnTo>
                    <a:pt x="366141" y="0"/>
                  </a:lnTo>
                  <a:lnTo>
                    <a:pt x="366141" y="170942"/>
                  </a:lnTo>
                  <a:lnTo>
                    <a:pt x="488188" y="170942"/>
                  </a:lnTo>
                  <a:lnTo>
                    <a:pt x="244094" y="341884"/>
                  </a:lnTo>
                  <a:close/>
                </a:path>
              </a:pathLst>
            </a:custGeom>
            <a:solidFill>
              <a:srgbClr val="C98A2C"/>
            </a:solidFill>
            <a:ln w="9525" cap="sq">
              <a:solidFill>
                <a:srgbClr val="C98A2C"/>
              </a:solidFill>
              <a:prstDash val="solid"/>
              <a:miter/>
            </a:ln>
          </p:spPr>
        </p:sp>
      </p:grpSp>
      <p:grpSp>
        <p:nvGrpSpPr>
          <p:cNvPr name="Group 98" id="98"/>
          <p:cNvGrpSpPr/>
          <p:nvPr/>
        </p:nvGrpSpPr>
        <p:grpSpPr>
          <a:xfrm rot="0">
            <a:off x="7262336" y="7673816"/>
            <a:ext cx="10301288" cy="700088"/>
            <a:chOff x="0" y="0"/>
            <a:chExt cx="13735050" cy="933450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13735050" cy="933450"/>
            </a:xfrm>
            <a:custGeom>
              <a:avLst/>
              <a:gdLst/>
              <a:ahLst/>
              <a:cxnLst/>
              <a:rect r="r" b="b" t="t" l="l"/>
              <a:pathLst>
                <a:path h="933450" w="13735050">
                  <a:moveTo>
                    <a:pt x="0" y="0"/>
                  </a:moveTo>
                  <a:lnTo>
                    <a:pt x="13735050" y="0"/>
                  </a:lnTo>
                  <a:lnTo>
                    <a:pt x="13735050" y="933450"/>
                  </a:lnTo>
                  <a:lnTo>
                    <a:pt x="0" y="933450"/>
                  </a:lnTo>
                  <a:close/>
                </a:path>
              </a:pathLst>
            </a:custGeom>
            <a:solidFill>
              <a:srgbClr val="6E2723"/>
            </a:solidFill>
            <a:ln w="14288" cap="sq">
              <a:solidFill>
                <a:srgbClr val="6E2723"/>
              </a:solidFill>
              <a:prstDash val="solid"/>
              <a:miter/>
            </a:ln>
          </p:spPr>
        </p:sp>
      </p:grpSp>
      <p:grpSp>
        <p:nvGrpSpPr>
          <p:cNvPr name="Group 100" id="100"/>
          <p:cNvGrpSpPr/>
          <p:nvPr/>
        </p:nvGrpSpPr>
        <p:grpSpPr>
          <a:xfrm rot="0">
            <a:off x="7338060" y="7680960"/>
            <a:ext cx="10149840" cy="685800"/>
            <a:chOff x="0" y="0"/>
            <a:chExt cx="13533120" cy="914400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13533120" cy="914400"/>
            </a:xfrm>
            <a:custGeom>
              <a:avLst/>
              <a:gdLst/>
              <a:ahLst/>
              <a:cxnLst/>
              <a:rect r="r" b="b" t="t" l="l"/>
              <a:pathLst>
                <a:path h="914400" w="13533120">
                  <a:moveTo>
                    <a:pt x="0" y="0"/>
                  </a:moveTo>
                  <a:lnTo>
                    <a:pt x="13533120" y="0"/>
                  </a:lnTo>
                  <a:lnTo>
                    <a:pt x="1353312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8378" r="0" b="-238378"/>
              </a:stretch>
            </a:blipFill>
          </p:spPr>
        </p:sp>
        <p:sp>
          <p:nvSpPr>
            <p:cNvPr name="TextBox 102" id="102"/>
            <p:cNvSpPr txBox="true"/>
            <p:nvPr/>
          </p:nvSpPr>
          <p:spPr>
            <a:xfrm>
              <a:off x="0" y="-19050"/>
              <a:ext cx="13533120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Donor Reaches Hospital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7144" y="102584"/>
            <a:ext cx="18301830" cy="864680"/>
            <a:chOff x="0" y="0"/>
            <a:chExt cx="24402440" cy="115290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152906"/>
            </a:xfrm>
            <a:custGeom>
              <a:avLst/>
              <a:gdLst/>
              <a:ahLst/>
              <a:cxnLst/>
              <a:rect r="r" b="b" t="t" l="l"/>
              <a:pathLst>
                <a:path h="1152906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152906"/>
                  </a:lnTo>
                  <a:lnTo>
                    <a:pt x="0" y="1152906"/>
                  </a:lnTo>
                  <a:close/>
                </a:path>
              </a:pathLst>
            </a:custGeom>
            <a:solidFill>
              <a:srgbClr val="953734"/>
            </a:solidFill>
            <a:ln w="14288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411480" y="109728"/>
            <a:ext cx="17464583" cy="850392"/>
            <a:chOff x="0" y="0"/>
            <a:chExt cx="23286110" cy="113385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3286110" cy="1133856"/>
            </a:xfrm>
            <a:custGeom>
              <a:avLst/>
              <a:gdLst/>
              <a:ahLst/>
              <a:cxnLst/>
              <a:rect r="r" b="b" t="t" l="l"/>
              <a:pathLst>
                <a:path h="1133856" w="23286110">
                  <a:moveTo>
                    <a:pt x="0" y="0"/>
                  </a:moveTo>
                  <a:lnTo>
                    <a:pt x="23286110" y="0"/>
                  </a:lnTo>
                  <a:lnTo>
                    <a:pt x="2328611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0166" r="0" b="-35016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23286110" cy="11529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60"/>
                </a:lnSpc>
              </a:pPr>
              <a:r>
                <a:rPr lang="en-US" sz="3300" b="true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Proposed System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7323308" y="9738360"/>
            <a:ext cx="685800" cy="411480"/>
            <a:chOff x="0" y="0"/>
            <a:chExt cx="914400" cy="5486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91440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99999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7</a:t>
              </a: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685800" y="1146810"/>
            <a:ext cx="16870680" cy="647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95373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We propose an Emergency Blood Donor &amp; SOS Alert Directory that brings registration, alerts, matching and contact into a single web application for a locality.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678656" y="2187416"/>
            <a:ext cx="7695247" cy="480632"/>
            <a:chOff x="0" y="0"/>
            <a:chExt cx="10260330" cy="64084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260330" cy="640842"/>
            </a:xfrm>
            <a:custGeom>
              <a:avLst/>
              <a:gdLst/>
              <a:ahLst/>
              <a:cxnLst/>
              <a:rect r="r" b="b" t="t" l="l"/>
              <a:pathLst>
                <a:path h="640842" w="10260330">
                  <a:moveTo>
                    <a:pt x="0" y="0"/>
                  </a:moveTo>
                  <a:lnTo>
                    <a:pt x="10260330" y="0"/>
                  </a:lnTo>
                  <a:lnTo>
                    <a:pt x="10260330" y="640842"/>
                  </a:lnTo>
                  <a:lnTo>
                    <a:pt x="0" y="640842"/>
                  </a:lnTo>
                  <a:close/>
                </a:path>
              </a:pathLst>
            </a:custGeom>
            <a:solidFill>
              <a:srgbClr val="C98A2C"/>
            </a:solidFill>
            <a:ln w="14288" cap="sq">
              <a:solidFill>
                <a:srgbClr val="C98A2C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754380" y="2194560"/>
            <a:ext cx="7543800" cy="466344"/>
            <a:chOff x="0" y="0"/>
            <a:chExt cx="10058400" cy="62179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058400" cy="621792"/>
            </a:xfrm>
            <a:custGeom>
              <a:avLst/>
              <a:gdLst/>
              <a:ahLst/>
              <a:cxnLst/>
              <a:rect r="r" b="b" t="t" l="l"/>
              <a:pathLst>
                <a:path h="621792" w="10058400">
                  <a:moveTo>
                    <a:pt x="0" y="0"/>
                  </a:moveTo>
                  <a:lnTo>
                    <a:pt x="10058400" y="0"/>
                  </a:lnTo>
                  <a:lnTo>
                    <a:pt x="1005840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5199" r="0" b="-265199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19050"/>
              <a:ext cx="10058400" cy="6408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Working Flow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678656" y="2804636"/>
            <a:ext cx="7695247" cy="768668"/>
            <a:chOff x="0" y="0"/>
            <a:chExt cx="10260330" cy="102489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260330" cy="1024890"/>
            </a:xfrm>
            <a:custGeom>
              <a:avLst/>
              <a:gdLst/>
              <a:ahLst/>
              <a:cxnLst/>
              <a:rect r="r" b="b" t="t" l="l"/>
              <a:pathLst>
                <a:path h="1024890" w="10260330">
                  <a:moveTo>
                    <a:pt x="0" y="0"/>
                  </a:moveTo>
                  <a:lnTo>
                    <a:pt x="10260330" y="0"/>
                  </a:lnTo>
                  <a:lnTo>
                    <a:pt x="10260330" y="1024890"/>
                  </a:lnTo>
                  <a:lnTo>
                    <a:pt x="0" y="1024890"/>
                  </a:lnTo>
                  <a:close/>
                </a:path>
              </a:pathLst>
            </a:custGeom>
            <a:solidFill>
              <a:srgbClr val="028090"/>
            </a:solidFill>
            <a:ln w="14288" cap="sq">
              <a:solidFill>
                <a:srgbClr val="028090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754380" y="2811780"/>
            <a:ext cx="7543800" cy="754380"/>
            <a:chOff x="0" y="0"/>
            <a:chExt cx="10058400" cy="100584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05840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0">
                  <a:moveTo>
                    <a:pt x="0" y="0"/>
                  </a:moveTo>
                  <a:lnTo>
                    <a:pt x="10058400" y="0"/>
                  </a:lnTo>
                  <a:lnTo>
                    <a:pt x="1005840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19050"/>
              <a:ext cx="10058400" cy="10248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Volunteer Registers (Group + Locality)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4356926" y="3588829"/>
            <a:ext cx="338709" cy="242697"/>
            <a:chOff x="0" y="0"/>
            <a:chExt cx="451612" cy="323596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451612" cy="323596"/>
            </a:xfrm>
            <a:custGeom>
              <a:avLst/>
              <a:gdLst/>
              <a:ahLst/>
              <a:cxnLst/>
              <a:rect r="r" b="b" t="t" l="l"/>
              <a:pathLst>
                <a:path h="323596" w="451612">
                  <a:moveTo>
                    <a:pt x="0" y="161798"/>
                  </a:moveTo>
                  <a:lnTo>
                    <a:pt x="112903" y="161798"/>
                  </a:lnTo>
                  <a:lnTo>
                    <a:pt x="112903" y="0"/>
                  </a:lnTo>
                  <a:lnTo>
                    <a:pt x="338709" y="0"/>
                  </a:lnTo>
                  <a:lnTo>
                    <a:pt x="338709" y="161798"/>
                  </a:lnTo>
                  <a:lnTo>
                    <a:pt x="451612" y="161798"/>
                  </a:lnTo>
                  <a:lnTo>
                    <a:pt x="225806" y="323596"/>
                  </a:lnTo>
                  <a:close/>
                </a:path>
              </a:pathLst>
            </a:custGeom>
            <a:solidFill>
              <a:srgbClr val="C98A2C"/>
            </a:solidFill>
            <a:ln w="9525" cap="sq">
              <a:solidFill>
                <a:srgbClr val="C98A2C"/>
              </a:solidFill>
              <a:prstDash val="solid"/>
              <a:miter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678656" y="3874484"/>
            <a:ext cx="7695247" cy="768668"/>
            <a:chOff x="0" y="0"/>
            <a:chExt cx="10260330" cy="102489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260330" cy="1024890"/>
            </a:xfrm>
            <a:custGeom>
              <a:avLst/>
              <a:gdLst/>
              <a:ahLst/>
              <a:cxnLst/>
              <a:rect r="r" b="b" t="t" l="l"/>
              <a:pathLst>
                <a:path h="1024890" w="10260330">
                  <a:moveTo>
                    <a:pt x="0" y="0"/>
                  </a:moveTo>
                  <a:lnTo>
                    <a:pt x="10260330" y="0"/>
                  </a:lnTo>
                  <a:lnTo>
                    <a:pt x="10260330" y="1024890"/>
                  </a:lnTo>
                  <a:lnTo>
                    <a:pt x="0" y="1024890"/>
                  </a:lnTo>
                  <a:close/>
                </a:path>
              </a:pathLst>
            </a:custGeom>
            <a:solidFill>
              <a:srgbClr val="953734"/>
            </a:solidFill>
            <a:ln w="14288" cap="sq">
              <a:solidFill>
                <a:srgbClr val="953734"/>
              </a:solidFill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754380" y="3881628"/>
            <a:ext cx="7543800" cy="754380"/>
            <a:chOff x="0" y="0"/>
            <a:chExt cx="10058400" cy="100584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005840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0">
                  <a:moveTo>
                    <a:pt x="0" y="0"/>
                  </a:moveTo>
                  <a:lnTo>
                    <a:pt x="10058400" y="0"/>
                  </a:lnTo>
                  <a:lnTo>
                    <a:pt x="1005840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19050"/>
              <a:ext cx="10058400" cy="10248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Requester Posts SOS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4356926" y="4658678"/>
            <a:ext cx="338709" cy="242697"/>
            <a:chOff x="0" y="0"/>
            <a:chExt cx="451612" cy="323596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451612" cy="323596"/>
            </a:xfrm>
            <a:custGeom>
              <a:avLst/>
              <a:gdLst/>
              <a:ahLst/>
              <a:cxnLst/>
              <a:rect r="r" b="b" t="t" l="l"/>
              <a:pathLst>
                <a:path h="323596" w="451612">
                  <a:moveTo>
                    <a:pt x="0" y="161798"/>
                  </a:moveTo>
                  <a:lnTo>
                    <a:pt x="112903" y="161798"/>
                  </a:lnTo>
                  <a:lnTo>
                    <a:pt x="112903" y="0"/>
                  </a:lnTo>
                  <a:lnTo>
                    <a:pt x="338709" y="0"/>
                  </a:lnTo>
                  <a:lnTo>
                    <a:pt x="338709" y="161798"/>
                  </a:lnTo>
                  <a:lnTo>
                    <a:pt x="451612" y="161798"/>
                  </a:lnTo>
                  <a:lnTo>
                    <a:pt x="225806" y="323596"/>
                  </a:lnTo>
                  <a:close/>
                </a:path>
              </a:pathLst>
            </a:custGeom>
            <a:solidFill>
              <a:srgbClr val="C98A2C"/>
            </a:solidFill>
            <a:ln w="9525" cap="sq">
              <a:solidFill>
                <a:srgbClr val="C98A2C"/>
              </a:solidFill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678656" y="4944332"/>
            <a:ext cx="7695247" cy="768668"/>
            <a:chOff x="0" y="0"/>
            <a:chExt cx="10260330" cy="102489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0260330" cy="1024890"/>
            </a:xfrm>
            <a:custGeom>
              <a:avLst/>
              <a:gdLst/>
              <a:ahLst/>
              <a:cxnLst/>
              <a:rect r="r" b="b" t="t" l="l"/>
              <a:pathLst>
                <a:path h="1024890" w="10260330">
                  <a:moveTo>
                    <a:pt x="0" y="0"/>
                  </a:moveTo>
                  <a:lnTo>
                    <a:pt x="10260330" y="0"/>
                  </a:lnTo>
                  <a:lnTo>
                    <a:pt x="10260330" y="1024890"/>
                  </a:lnTo>
                  <a:lnTo>
                    <a:pt x="0" y="1024890"/>
                  </a:lnTo>
                  <a:close/>
                </a:path>
              </a:pathLst>
            </a:custGeom>
            <a:solidFill>
              <a:srgbClr val="C98A2C"/>
            </a:solidFill>
            <a:ln w="14288" cap="sq">
              <a:solidFill>
                <a:srgbClr val="C98A2C"/>
              </a:solidFill>
              <a:prstDash val="solid"/>
              <a:miter/>
            </a:ln>
          </p:spPr>
        </p:sp>
      </p:grpSp>
      <p:grpSp>
        <p:nvGrpSpPr>
          <p:cNvPr name="Group 32" id="32"/>
          <p:cNvGrpSpPr/>
          <p:nvPr/>
        </p:nvGrpSpPr>
        <p:grpSpPr>
          <a:xfrm rot="0">
            <a:off x="754380" y="4951476"/>
            <a:ext cx="7543800" cy="754380"/>
            <a:chOff x="0" y="0"/>
            <a:chExt cx="10058400" cy="100584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005840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0">
                  <a:moveTo>
                    <a:pt x="0" y="0"/>
                  </a:moveTo>
                  <a:lnTo>
                    <a:pt x="10058400" y="0"/>
                  </a:lnTo>
                  <a:lnTo>
                    <a:pt x="1005840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19050"/>
              <a:ext cx="10058400" cy="10248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System Filters Matching Donors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4356926" y="5728525"/>
            <a:ext cx="338709" cy="242697"/>
            <a:chOff x="0" y="0"/>
            <a:chExt cx="451612" cy="323596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451612" cy="323596"/>
            </a:xfrm>
            <a:custGeom>
              <a:avLst/>
              <a:gdLst/>
              <a:ahLst/>
              <a:cxnLst/>
              <a:rect r="r" b="b" t="t" l="l"/>
              <a:pathLst>
                <a:path h="323596" w="451612">
                  <a:moveTo>
                    <a:pt x="0" y="161798"/>
                  </a:moveTo>
                  <a:lnTo>
                    <a:pt x="112903" y="161798"/>
                  </a:lnTo>
                  <a:lnTo>
                    <a:pt x="112903" y="0"/>
                  </a:lnTo>
                  <a:lnTo>
                    <a:pt x="338709" y="0"/>
                  </a:lnTo>
                  <a:lnTo>
                    <a:pt x="338709" y="161798"/>
                  </a:lnTo>
                  <a:lnTo>
                    <a:pt x="451612" y="161798"/>
                  </a:lnTo>
                  <a:lnTo>
                    <a:pt x="225806" y="323596"/>
                  </a:lnTo>
                  <a:close/>
                </a:path>
              </a:pathLst>
            </a:custGeom>
            <a:solidFill>
              <a:srgbClr val="C98A2C"/>
            </a:solidFill>
            <a:ln w="9525" cap="sq">
              <a:solidFill>
                <a:srgbClr val="C98A2C"/>
              </a:solidFill>
              <a:prstDash val="solid"/>
              <a:miter/>
            </a:ln>
          </p:spPr>
        </p:sp>
      </p:grpSp>
      <p:grpSp>
        <p:nvGrpSpPr>
          <p:cNvPr name="Group 37" id="37"/>
          <p:cNvGrpSpPr/>
          <p:nvPr/>
        </p:nvGrpSpPr>
        <p:grpSpPr>
          <a:xfrm rot="0">
            <a:off x="678656" y="6014180"/>
            <a:ext cx="7695247" cy="768668"/>
            <a:chOff x="0" y="0"/>
            <a:chExt cx="10260330" cy="102489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0260330" cy="1024890"/>
            </a:xfrm>
            <a:custGeom>
              <a:avLst/>
              <a:gdLst/>
              <a:ahLst/>
              <a:cxnLst/>
              <a:rect r="r" b="b" t="t" l="l"/>
              <a:pathLst>
                <a:path h="1024890" w="10260330">
                  <a:moveTo>
                    <a:pt x="0" y="0"/>
                  </a:moveTo>
                  <a:lnTo>
                    <a:pt x="10260330" y="0"/>
                  </a:lnTo>
                  <a:lnTo>
                    <a:pt x="10260330" y="1024890"/>
                  </a:lnTo>
                  <a:lnTo>
                    <a:pt x="0" y="1024890"/>
                  </a:lnTo>
                  <a:close/>
                </a:path>
              </a:pathLst>
            </a:custGeom>
            <a:solidFill>
              <a:srgbClr val="444444"/>
            </a:solidFill>
            <a:ln w="14288" cap="sq">
              <a:solidFill>
                <a:srgbClr val="444444"/>
              </a:solidFill>
              <a:prstDash val="solid"/>
              <a:miter/>
            </a:ln>
          </p:spPr>
        </p:sp>
      </p:grpSp>
      <p:grpSp>
        <p:nvGrpSpPr>
          <p:cNvPr name="Group 39" id="39"/>
          <p:cNvGrpSpPr/>
          <p:nvPr/>
        </p:nvGrpSpPr>
        <p:grpSpPr>
          <a:xfrm rot="0">
            <a:off x="754380" y="6021324"/>
            <a:ext cx="7543800" cy="754380"/>
            <a:chOff x="0" y="0"/>
            <a:chExt cx="10058400" cy="100584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005840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0">
                  <a:moveTo>
                    <a:pt x="0" y="0"/>
                  </a:moveTo>
                  <a:lnTo>
                    <a:pt x="10058400" y="0"/>
                  </a:lnTo>
                  <a:lnTo>
                    <a:pt x="1005840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19050"/>
              <a:ext cx="10058400" cy="10248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SOS Shown on Urgent Board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4356926" y="6798374"/>
            <a:ext cx="338709" cy="242697"/>
            <a:chOff x="0" y="0"/>
            <a:chExt cx="451612" cy="323596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451612" cy="323596"/>
            </a:xfrm>
            <a:custGeom>
              <a:avLst/>
              <a:gdLst/>
              <a:ahLst/>
              <a:cxnLst/>
              <a:rect r="r" b="b" t="t" l="l"/>
              <a:pathLst>
                <a:path h="323596" w="451612">
                  <a:moveTo>
                    <a:pt x="0" y="161798"/>
                  </a:moveTo>
                  <a:lnTo>
                    <a:pt x="112903" y="161798"/>
                  </a:lnTo>
                  <a:lnTo>
                    <a:pt x="112903" y="0"/>
                  </a:lnTo>
                  <a:lnTo>
                    <a:pt x="338709" y="0"/>
                  </a:lnTo>
                  <a:lnTo>
                    <a:pt x="338709" y="161798"/>
                  </a:lnTo>
                  <a:lnTo>
                    <a:pt x="451612" y="161798"/>
                  </a:lnTo>
                  <a:lnTo>
                    <a:pt x="225806" y="323596"/>
                  </a:lnTo>
                  <a:close/>
                </a:path>
              </a:pathLst>
            </a:custGeom>
            <a:solidFill>
              <a:srgbClr val="C98A2C"/>
            </a:solidFill>
            <a:ln w="9525" cap="sq">
              <a:solidFill>
                <a:srgbClr val="C98A2C"/>
              </a:solidFill>
              <a:prstDash val="solid"/>
              <a:miter/>
            </a:ln>
          </p:spPr>
        </p:sp>
      </p:grpSp>
      <p:grpSp>
        <p:nvGrpSpPr>
          <p:cNvPr name="Group 44" id="44"/>
          <p:cNvGrpSpPr/>
          <p:nvPr/>
        </p:nvGrpSpPr>
        <p:grpSpPr>
          <a:xfrm rot="0">
            <a:off x="678656" y="7084028"/>
            <a:ext cx="7695247" cy="768668"/>
            <a:chOff x="0" y="0"/>
            <a:chExt cx="10260330" cy="102489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0260330" cy="1024890"/>
            </a:xfrm>
            <a:custGeom>
              <a:avLst/>
              <a:gdLst/>
              <a:ahLst/>
              <a:cxnLst/>
              <a:rect r="r" b="b" t="t" l="l"/>
              <a:pathLst>
                <a:path h="1024890" w="10260330">
                  <a:moveTo>
                    <a:pt x="0" y="0"/>
                  </a:moveTo>
                  <a:lnTo>
                    <a:pt x="10260330" y="0"/>
                  </a:lnTo>
                  <a:lnTo>
                    <a:pt x="10260330" y="1024890"/>
                  </a:lnTo>
                  <a:lnTo>
                    <a:pt x="0" y="1024890"/>
                  </a:lnTo>
                  <a:close/>
                </a:path>
              </a:pathLst>
            </a:custGeom>
            <a:solidFill>
              <a:srgbClr val="953734"/>
            </a:solidFill>
            <a:ln w="14288" cap="sq">
              <a:solidFill>
                <a:srgbClr val="953734"/>
              </a:solidFill>
              <a:prstDash val="solid"/>
              <a:miter/>
            </a:ln>
          </p:spPr>
        </p:sp>
      </p:grpSp>
      <p:grpSp>
        <p:nvGrpSpPr>
          <p:cNvPr name="Group 46" id="46"/>
          <p:cNvGrpSpPr/>
          <p:nvPr/>
        </p:nvGrpSpPr>
        <p:grpSpPr>
          <a:xfrm rot="0">
            <a:off x="754380" y="7091172"/>
            <a:ext cx="7543800" cy="754380"/>
            <a:chOff x="0" y="0"/>
            <a:chExt cx="10058400" cy="100584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005840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0">
                  <a:moveTo>
                    <a:pt x="0" y="0"/>
                  </a:moveTo>
                  <a:lnTo>
                    <a:pt x="10058400" y="0"/>
                  </a:lnTo>
                  <a:lnTo>
                    <a:pt x="1005840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19050"/>
              <a:ext cx="10058400" cy="10248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Donor Taps Contact Link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4356926" y="7868221"/>
            <a:ext cx="338709" cy="242697"/>
            <a:chOff x="0" y="0"/>
            <a:chExt cx="451612" cy="323596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451612" cy="323596"/>
            </a:xfrm>
            <a:custGeom>
              <a:avLst/>
              <a:gdLst/>
              <a:ahLst/>
              <a:cxnLst/>
              <a:rect r="r" b="b" t="t" l="l"/>
              <a:pathLst>
                <a:path h="323596" w="451612">
                  <a:moveTo>
                    <a:pt x="0" y="161798"/>
                  </a:moveTo>
                  <a:lnTo>
                    <a:pt x="112903" y="161798"/>
                  </a:lnTo>
                  <a:lnTo>
                    <a:pt x="112903" y="0"/>
                  </a:lnTo>
                  <a:lnTo>
                    <a:pt x="338709" y="0"/>
                  </a:lnTo>
                  <a:lnTo>
                    <a:pt x="338709" y="161798"/>
                  </a:lnTo>
                  <a:lnTo>
                    <a:pt x="451612" y="161798"/>
                  </a:lnTo>
                  <a:lnTo>
                    <a:pt x="225806" y="323596"/>
                  </a:lnTo>
                  <a:close/>
                </a:path>
              </a:pathLst>
            </a:custGeom>
            <a:solidFill>
              <a:srgbClr val="C98A2C"/>
            </a:solidFill>
            <a:ln w="9525" cap="sq">
              <a:solidFill>
                <a:srgbClr val="C98A2C"/>
              </a:solidFill>
              <a:prstDash val="solid"/>
              <a:miter/>
            </a:ln>
          </p:spPr>
        </p:sp>
      </p:grpSp>
      <p:grpSp>
        <p:nvGrpSpPr>
          <p:cNvPr name="Group 51" id="51"/>
          <p:cNvGrpSpPr/>
          <p:nvPr/>
        </p:nvGrpSpPr>
        <p:grpSpPr>
          <a:xfrm rot="0">
            <a:off x="678656" y="8153876"/>
            <a:ext cx="7695247" cy="768668"/>
            <a:chOff x="0" y="0"/>
            <a:chExt cx="10260330" cy="102489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0260330" cy="1024890"/>
            </a:xfrm>
            <a:custGeom>
              <a:avLst/>
              <a:gdLst/>
              <a:ahLst/>
              <a:cxnLst/>
              <a:rect r="r" b="b" t="t" l="l"/>
              <a:pathLst>
                <a:path h="1024890" w="10260330">
                  <a:moveTo>
                    <a:pt x="0" y="0"/>
                  </a:moveTo>
                  <a:lnTo>
                    <a:pt x="10260330" y="0"/>
                  </a:lnTo>
                  <a:lnTo>
                    <a:pt x="10260330" y="1024890"/>
                  </a:lnTo>
                  <a:lnTo>
                    <a:pt x="0" y="1024890"/>
                  </a:lnTo>
                  <a:close/>
                </a:path>
              </a:pathLst>
            </a:custGeom>
            <a:solidFill>
              <a:srgbClr val="6E2723"/>
            </a:solidFill>
            <a:ln w="14288" cap="sq">
              <a:solidFill>
                <a:srgbClr val="6E2723"/>
              </a:solidFill>
              <a:prstDash val="solid"/>
              <a:miter/>
            </a:ln>
          </p:spPr>
        </p:sp>
      </p:grpSp>
      <p:grpSp>
        <p:nvGrpSpPr>
          <p:cNvPr name="Group 53" id="53"/>
          <p:cNvGrpSpPr/>
          <p:nvPr/>
        </p:nvGrpSpPr>
        <p:grpSpPr>
          <a:xfrm rot="0">
            <a:off x="754380" y="8161020"/>
            <a:ext cx="7543800" cy="754380"/>
            <a:chOff x="0" y="0"/>
            <a:chExt cx="10058400" cy="100584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005840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0">
                  <a:moveTo>
                    <a:pt x="0" y="0"/>
                  </a:moveTo>
                  <a:lnTo>
                    <a:pt x="10058400" y="0"/>
                  </a:lnTo>
                  <a:lnTo>
                    <a:pt x="1005840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19050"/>
              <a:ext cx="10058400" cy="10248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Request Marked Fulfilled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9045416" y="2187416"/>
            <a:ext cx="8518207" cy="480632"/>
            <a:chOff x="0" y="0"/>
            <a:chExt cx="11357610" cy="640842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1357610" cy="640842"/>
            </a:xfrm>
            <a:custGeom>
              <a:avLst/>
              <a:gdLst/>
              <a:ahLst/>
              <a:cxnLst/>
              <a:rect r="r" b="b" t="t" l="l"/>
              <a:pathLst>
                <a:path h="640842" w="11357610">
                  <a:moveTo>
                    <a:pt x="0" y="0"/>
                  </a:moveTo>
                  <a:lnTo>
                    <a:pt x="11357610" y="0"/>
                  </a:lnTo>
                  <a:lnTo>
                    <a:pt x="11357610" y="640842"/>
                  </a:lnTo>
                  <a:lnTo>
                    <a:pt x="0" y="640842"/>
                  </a:lnTo>
                  <a:close/>
                </a:path>
              </a:pathLst>
            </a:custGeom>
            <a:solidFill>
              <a:srgbClr val="953734"/>
            </a:solidFill>
            <a:ln w="14288" cap="sq">
              <a:solidFill>
                <a:srgbClr val="953734"/>
              </a:solidFill>
              <a:prstDash val="solid"/>
              <a:miter/>
            </a:ln>
          </p:spPr>
        </p:sp>
      </p:grpSp>
      <p:grpSp>
        <p:nvGrpSpPr>
          <p:cNvPr name="Group 58" id="58"/>
          <p:cNvGrpSpPr/>
          <p:nvPr/>
        </p:nvGrpSpPr>
        <p:grpSpPr>
          <a:xfrm rot="0">
            <a:off x="9121140" y="2194560"/>
            <a:ext cx="8366760" cy="466344"/>
            <a:chOff x="0" y="0"/>
            <a:chExt cx="11155680" cy="621792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11155680" cy="621792"/>
            </a:xfrm>
            <a:custGeom>
              <a:avLst/>
              <a:gdLst/>
              <a:ahLst/>
              <a:cxnLst/>
              <a:rect r="r" b="b" t="t" l="l"/>
              <a:pathLst>
                <a:path h="621792" w="11155680">
                  <a:moveTo>
                    <a:pt x="0" y="0"/>
                  </a:moveTo>
                  <a:lnTo>
                    <a:pt x="11155680" y="0"/>
                  </a:lnTo>
                  <a:lnTo>
                    <a:pt x="1115568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9584" r="0" b="-299584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19050"/>
              <a:ext cx="11155680" cy="6408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Major Components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9045416" y="2804636"/>
            <a:ext cx="8518207" cy="1180148"/>
            <a:chOff x="0" y="0"/>
            <a:chExt cx="11357610" cy="157353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11357610" cy="1573530"/>
            </a:xfrm>
            <a:custGeom>
              <a:avLst/>
              <a:gdLst/>
              <a:ahLst/>
              <a:cxnLst/>
              <a:rect r="r" b="b" t="t" l="l"/>
              <a:pathLst>
                <a:path h="1573530" w="11357610">
                  <a:moveTo>
                    <a:pt x="0" y="0"/>
                  </a:moveTo>
                  <a:lnTo>
                    <a:pt x="11357610" y="0"/>
                  </a:lnTo>
                  <a:lnTo>
                    <a:pt x="11357610" y="1573530"/>
                  </a:lnTo>
                  <a:lnTo>
                    <a:pt x="0" y="1573530"/>
                  </a:lnTo>
                  <a:close/>
                </a:path>
              </a:pathLst>
            </a:custGeom>
            <a:solidFill>
              <a:srgbClr val="3A2626"/>
            </a:solidFill>
            <a:ln w="14288" cap="sq">
              <a:solidFill>
                <a:srgbClr val="5A4340"/>
              </a:solidFill>
              <a:prstDash val="solid"/>
              <a:miter/>
            </a:ln>
          </p:spPr>
        </p:sp>
      </p:grpSp>
      <p:grpSp>
        <p:nvGrpSpPr>
          <p:cNvPr name="Group 63" id="63"/>
          <p:cNvGrpSpPr/>
          <p:nvPr/>
        </p:nvGrpSpPr>
        <p:grpSpPr>
          <a:xfrm rot="0">
            <a:off x="9248775" y="2966847"/>
            <a:ext cx="430530" cy="430530"/>
            <a:chOff x="0" y="0"/>
            <a:chExt cx="574040" cy="57404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574040" cy="574040"/>
            </a:xfrm>
            <a:custGeom>
              <a:avLst/>
              <a:gdLst/>
              <a:ahLst/>
              <a:cxnLst/>
              <a:rect r="r" b="b" t="t" l="l"/>
              <a:pathLst>
                <a:path h="574040" w="574040">
                  <a:moveTo>
                    <a:pt x="0" y="287020"/>
                  </a:moveTo>
                  <a:cubicBezTo>
                    <a:pt x="0" y="128524"/>
                    <a:pt x="128524" y="0"/>
                    <a:pt x="287020" y="0"/>
                  </a:cubicBezTo>
                  <a:cubicBezTo>
                    <a:pt x="445516" y="0"/>
                    <a:pt x="574040" y="128524"/>
                    <a:pt x="574040" y="287020"/>
                  </a:cubicBezTo>
                  <a:cubicBezTo>
                    <a:pt x="574040" y="445516"/>
                    <a:pt x="445516" y="574040"/>
                    <a:pt x="287020" y="574040"/>
                  </a:cubicBezTo>
                  <a:cubicBezTo>
                    <a:pt x="128524" y="574040"/>
                    <a:pt x="0" y="445516"/>
                    <a:pt x="0" y="287020"/>
                  </a:cubicBezTo>
                  <a:close/>
                </a:path>
              </a:pathLst>
            </a:custGeom>
            <a:solidFill>
              <a:srgbClr val="028090"/>
            </a:solidFill>
            <a:ln w="19050" cap="sq">
              <a:solidFill>
                <a:srgbClr val="028090"/>
              </a:solidFill>
              <a:prstDash val="solid"/>
              <a:miter/>
            </a:ln>
          </p:spPr>
        </p:sp>
      </p:grpSp>
      <p:grpSp>
        <p:nvGrpSpPr>
          <p:cNvPr name="Group 65" id="65"/>
          <p:cNvGrpSpPr/>
          <p:nvPr/>
        </p:nvGrpSpPr>
        <p:grpSpPr>
          <a:xfrm rot="0">
            <a:off x="9875520" y="2921508"/>
            <a:ext cx="7406640" cy="438912"/>
            <a:chOff x="0" y="0"/>
            <a:chExt cx="9875520" cy="585216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9875520" cy="585216"/>
            </a:xfrm>
            <a:custGeom>
              <a:avLst/>
              <a:gdLst/>
              <a:ahLst/>
              <a:cxnLst/>
              <a:rect r="r" b="b" t="t" l="l"/>
              <a:pathLst>
                <a:path h="585216" w="9875520">
                  <a:moveTo>
                    <a:pt x="0" y="0"/>
                  </a:moveTo>
                  <a:lnTo>
                    <a:pt x="9875520" y="0"/>
                  </a:lnTo>
                  <a:lnTo>
                    <a:pt x="987552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8810" r="0" b="-278810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19050"/>
              <a:ext cx="9875520" cy="6042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React Frontend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9875520" y="3387852"/>
            <a:ext cx="7406640" cy="480060"/>
            <a:chOff x="0" y="0"/>
            <a:chExt cx="9875520" cy="64008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9875520" cy="640080"/>
            </a:xfrm>
            <a:custGeom>
              <a:avLst/>
              <a:gdLst/>
              <a:ahLst/>
              <a:cxnLst/>
              <a:rect r="r" b="b" t="t" l="l"/>
              <a:pathLst>
                <a:path h="640080" w="9875520">
                  <a:moveTo>
                    <a:pt x="0" y="0"/>
                  </a:moveTo>
                  <a:lnTo>
                    <a:pt x="9875520" y="0"/>
                  </a:lnTo>
                  <a:lnTo>
                    <a:pt x="987552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0626" r="0" b="-250626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19050"/>
              <a:ext cx="9875520" cy="6591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E6D5D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Registration form, SOS board and donor search.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9045416" y="4107656"/>
            <a:ext cx="8518207" cy="1180148"/>
            <a:chOff x="0" y="0"/>
            <a:chExt cx="11357610" cy="157353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11357610" cy="1573530"/>
            </a:xfrm>
            <a:custGeom>
              <a:avLst/>
              <a:gdLst/>
              <a:ahLst/>
              <a:cxnLst/>
              <a:rect r="r" b="b" t="t" l="l"/>
              <a:pathLst>
                <a:path h="1573530" w="11357610">
                  <a:moveTo>
                    <a:pt x="0" y="0"/>
                  </a:moveTo>
                  <a:lnTo>
                    <a:pt x="11357610" y="0"/>
                  </a:lnTo>
                  <a:lnTo>
                    <a:pt x="11357610" y="1573530"/>
                  </a:lnTo>
                  <a:lnTo>
                    <a:pt x="0" y="1573530"/>
                  </a:lnTo>
                  <a:close/>
                </a:path>
              </a:pathLst>
            </a:custGeom>
            <a:solidFill>
              <a:srgbClr val="3A2626"/>
            </a:solidFill>
            <a:ln w="14288" cap="sq">
              <a:solidFill>
                <a:srgbClr val="5A4340"/>
              </a:solidFill>
              <a:prstDash val="solid"/>
              <a:miter/>
            </a:ln>
          </p:spPr>
        </p:sp>
      </p:grpSp>
      <p:grpSp>
        <p:nvGrpSpPr>
          <p:cNvPr name="Group 73" id="73"/>
          <p:cNvGrpSpPr/>
          <p:nvPr/>
        </p:nvGrpSpPr>
        <p:grpSpPr>
          <a:xfrm rot="0">
            <a:off x="9248775" y="4269867"/>
            <a:ext cx="430530" cy="430530"/>
            <a:chOff x="0" y="0"/>
            <a:chExt cx="574040" cy="574040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574040" cy="574040"/>
            </a:xfrm>
            <a:custGeom>
              <a:avLst/>
              <a:gdLst/>
              <a:ahLst/>
              <a:cxnLst/>
              <a:rect r="r" b="b" t="t" l="l"/>
              <a:pathLst>
                <a:path h="574040" w="574040">
                  <a:moveTo>
                    <a:pt x="0" y="287020"/>
                  </a:moveTo>
                  <a:cubicBezTo>
                    <a:pt x="0" y="128524"/>
                    <a:pt x="128524" y="0"/>
                    <a:pt x="287020" y="0"/>
                  </a:cubicBezTo>
                  <a:cubicBezTo>
                    <a:pt x="445516" y="0"/>
                    <a:pt x="574040" y="128524"/>
                    <a:pt x="574040" y="287020"/>
                  </a:cubicBezTo>
                  <a:cubicBezTo>
                    <a:pt x="574040" y="445516"/>
                    <a:pt x="445516" y="574040"/>
                    <a:pt x="287020" y="574040"/>
                  </a:cubicBezTo>
                  <a:cubicBezTo>
                    <a:pt x="128524" y="574040"/>
                    <a:pt x="0" y="445516"/>
                    <a:pt x="0" y="287020"/>
                  </a:cubicBezTo>
                  <a:close/>
                </a:path>
              </a:pathLst>
            </a:custGeom>
            <a:solidFill>
              <a:srgbClr val="953734"/>
            </a:solidFill>
            <a:ln w="19050" cap="sq">
              <a:solidFill>
                <a:srgbClr val="953734"/>
              </a:solidFill>
              <a:prstDash val="solid"/>
              <a:miter/>
            </a:ln>
          </p:spPr>
        </p:sp>
      </p:grpSp>
      <p:grpSp>
        <p:nvGrpSpPr>
          <p:cNvPr name="Group 75" id="75"/>
          <p:cNvGrpSpPr/>
          <p:nvPr/>
        </p:nvGrpSpPr>
        <p:grpSpPr>
          <a:xfrm rot="0">
            <a:off x="9875520" y="4224528"/>
            <a:ext cx="7406640" cy="438912"/>
            <a:chOff x="0" y="0"/>
            <a:chExt cx="9875520" cy="585216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9875520" cy="585216"/>
            </a:xfrm>
            <a:custGeom>
              <a:avLst/>
              <a:gdLst/>
              <a:ahLst/>
              <a:cxnLst/>
              <a:rect r="r" b="b" t="t" l="l"/>
              <a:pathLst>
                <a:path h="585216" w="9875520">
                  <a:moveTo>
                    <a:pt x="0" y="0"/>
                  </a:moveTo>
                  <a:lnTo>
                    <a:pt x="9875520" y="0"/>
                  </a:lnTo>
                  <a:lnTo>
                    <a:pt x="987552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8810" r="0" b="-278810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-19050"/>
              <a:ext cx="9875520" cy="6042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Express Backend</a:t>
              </a: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9875520" y="4690872"/>
            <a:ext cx="7406640" cy="480060"/>
            <a:chOff x="0" y="0"/>
            <a:chExt cx="9875520" cy="640080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9875520" cy="640080"/>
            </a:xfrm>
            <a:custGeom>
              <a:avLst/>
              <a:gdLst/>
              <a:ahLst/>
              <a:cxnLst/>
              <a:rect r="r" b="b" t="t" l="l"/>
              <a:pathLst>
                <a:path h="640080" w="9875520">
                  <a:moveTo>
                    <a:pt x="0" y="0"/>
                  </a:moveTo>
                  <a:lnTo>
                    <a:pt x="9875520" y="0"/>
                  </a:lnTo>
                  <a:lnTo>
                    <a:pt x="987552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0626" r="0" b="-250626"/>
              </a:stretch>
            </a:blipFill>
          </p:spPr>
        </p:sp>
        <p:sp>
          <p:nvSpPr>
            <p:cNvPr name="TextBox 80" id="80"/>
            <p:cNvSpPr txBox="true"/>
            <p:nvPr/>
          </p:nvSpPr>
          <p:spPr>
            <a:xfrm>
              <a:off x="0" y="-19050"/>
              <a:ext cx="9875520" cy="6591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E6D5D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REST APIs for donors, requests and matching.</a:t>
              </a:r>
            </a:p>
          </p:txBody>
        </p:sp>
      </p:grpSp>
      <p:grpSp>
        <p:nvGrpSpPr>
          <p:cNvPr name="Group 81" id="81"/>
          <p:cNvGrpSpPr/>
          <p:nvPr/>
        </p:nvGrpSpPr>
        <p:grpSpPr>
          <a:xfrm rot="0">
            <a:off x="9045416" y="5410676"/>
            <a:ext cx="8518207" cy="1180148"/>
            <a:chOff x="0" y="0"/>
            <a:chExt cx="11357610" cy="1573530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11357610" cy="1573530"/>
            </a:xfrm>
            <a:custGeom>
              <a:avLst/>
              <a:gdLst/>
              <a:ahLst/>
              <a:cxnLst/>
              <a:rect r="r" b="b" t="t" l="l"/>
              <a:pathLst>
                <a:path h="1573530" w="11357610">
                  <a:moveTo>
                    <a:pt x="0" y="0"/>
                  </a:moveTo>
                  <a:lnTo>
                    <a:pt x="11357610" y="0"/>
                  </a:lnTo>
                  <a:lnTo>
                    <a:pt x="11357610" y="1573530"/>
                  </a:lnTo>
                  <a:lnTo>
                    <a:pt x="0" y="1573530"/>
                  </a:lnTo>
                  <a:close/>
                </a:path>
              </a:pathLst>
            </a:custGeom>
            <a:solidFill>
              <a:srgbClr val="3A2626"/>
            </a:solidFill>
            <a:ln w="14288" cap="sq">
              <a:solidFill>
                <a:srgbClr val="5A4340"/>
              </a:solidFill>
              <a:prstDash val="solid"/>
              <a:miter/>
            </a:ln>
          </p:spPr>
        </p:sp>
      </p:grpSp>
      <p:grpSp>
        <p:nvGrpSpPr>
          <p:cNvPr name="Group 83" id="83"/>
          <p:cNvGrpSpPr/>
          <p:nvPr/>
        </p:nvGrpSpPr>
        <p:grpSpPr>
          <a:xfrm rot="0">
            <a:off x="9248775" y="5572887"/>
            <a:ext cx="430530" cy="430530"/>
            <a:chOff x="0" y="0"/>
            <a:chExt cx="574040" cy="574040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574040" cy="574040"/>
            </a:xfrm>
            <a:custGeom>
              <a:avLst/>
              <a:gdLst/>
              <a:ahLst/>
              <a:cxnLst/>
              <a:rect r="r" b="b" t="t" l="l"/>
              <a:pathLst>
                <a:path h="574040" w="574040">
                  <a:moveTo>
                    <a:pt x="0" y="287020"/>
                  </a:moveTo>
                  <a:cubicBezTo>
                    <a:pt x="0" y="128524"/>
                    <a:pt x="128524" y="0"/>
                    <a:pt x="287020" y="0"/>
                  </a:cubicBezTo>
                  <a:cubicBezTo>
                    <a:pt x="445516" y="0"/>
                    <a:pt x="574040" y="128524"/>
                    <a:pt x="574040" y="287020"/>
                  </a:cubicBezTo>
                  <a:cubicBezTo>
                    <a:pt x="574040" y="445516"/>
                    <a:pt x="445516" y="574040"/>
                    <a:pt x="287020" y="574040"/>
                  </a:cubicBezTo>
                  <a:cubicBezTo>
                    <a:pt x="128524" y="574040"/>
                    <a:pt x="0" y="445516"/>
                    <a:pt x="0" y="287020"/>
                  </a:cubicBezTo>
                  <a:close/>
                </a:path>
              </a:pathLst>
            </a:custGeom>
            <a:solidFill>
              <a:srgbClr val="C98A2C"/>
            </a:solidFill>
            <a:ln w="19050" cap="sq">
              <a:solidFill>
                <a:srgbClr val="C98A2C"/>
              </a:solidFill>
              <a:prstDash val="solid"/>
              <a:miter/>
            </a:ln>
          </p:spPr>
        </p:sp>
      </p:grpSp>
      <p:grpSp>
        <p:nvGrpSpPr>
          <p:cNvPr name="Group 85" id="85"/>
          <p:cNvGrpSpPr/>
          <p:nvPr/>
        </p:nvGrpSpPr>
        <p:grpSpPr>
          <a:xfrm rot="0">
            <a:off x="9875520" y="5527548"/>
            <a:ext cx="7406640" cy="438912"/>
            <a:chOff x="0" y="0"/>
            <a:chExt cx="9875520" cy="585216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9875520" cy="585216"/>
            </a:xfrm>
            <a:custGeom>
              <a:avLst/>
              <a:gdLst/>
              <a:ahLst/>
              <a:cxnLst/>
              <a:rect r="r" b="b" t="t" l="l"/>
              <a:pathLst>
                <a:path h="585216" w="9875520">
                  <a:moveTo>
                    <a:pt x="0" y="0"/>
                  </a:moveTo>
                  <a:lnTo>
                    <a:pt x="9875520" y="0"/>
                  </a:lnTo>
                  <a:lnTo>
                    <a:pt x="987552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8810" r="0" b="-278810"/>
              </a:stretch>
            </a:blipFill>
          </p:spPr>
        </p:sp>
        <p:sp>
          <p:nvSpPr>
            <p:cNvPr name="TextBox 87" id="87"/>
            <p:cNvSpPr txBox="true"/>
            <p:nvPr/>
          </p:nvSpPr>
          <p:spPr>
            <a:xfrm>
              <a:off x="0" y="-19050"/>
              <a:ext cx="9875520" cy="6042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PostgreSQL Neon</a:t>
              </a:r>
            </a:p>
          </p:txBody>
        </p:sp>
      </p:grpSp>
      <p:grpSp>
        <p:nvGrpSpPr>
          <p:cNvPr name="Group 88" id="88"/>
          <p:cNvGrpSpPr/>
          <p:nvPr/>
        </p:nvGrpSpPr>
        <p:grpSpPr>
          <a:xfrm rot="0">
            <a:off x="9875520" y="5993892"/>
            <a:ext cx="7406640" cy="480060"/>
            <a:chOff x="0" y="0"/>
            <a:chExt cx="9875520" cy="640080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9875520" cy="640080"/>
            </a:xfrm>
            <a:custGeom>
              <a:avLst/>
              <a:gdLst/>
              <a:ahLst/>
              <a:cxnLst/>
              <a:rect r="r" b="b" t="t" l="l"/>
              <a:pathLst>
                <a:path h="640080" w="9875520">
                  <a:moveTo>
                    <a:pt x="0" y="0"/>
                  </a:moveTo>
                  <a:lnTo>
                    <a:pt x="9875520" y="0"/>
                  </a:lnTo>
                  <a:lnTo>
                    <a:pt x="987552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0626" r="0" b="-250626"/>
              </a:stretch>
            </a:blipFill>
          </p:spPr>
        </p:sp>
        <p:sp>
          <p:nvSpPr>
            <p:cNvPr name="TextBox 90" id="90"/>
            <p:cNvSpPr txBox="true"/>
            <p:nvPr/>
          </p:nvSpPr>
          <p:spPr>
            <a:xfrm>
              <a:off x="0" y="-19050"/>
              <a:ext cx="9875520" cy="6591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E6D5D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Stores donors, SOS requests and contact logs.</a:t>
              </a:r>
            </a:p>
          </p:txBody>
        </p:sp>
      </p:grpSp>
      <p:grpSp>
        <p:nvGrpSpPr>
          <p:cNvPr name="Group 91" id="91"/>
          <p:cNvGrpSpPr/>
          <p:nvPr/>
        </p:nvGrpSpPr>
        <p:grpSpPr>
          <a:xfrm rot="0">
            <a:off x="9045416" y="6713696"/>
            <a:ext cx="8518207" cy="1180148"/>
            <a:chOff x="0" y="0"/>
            <a:chExt cx="11357610" cy="1573530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11357610" cy="1573530"/>
            </a:xfrm>
            <a:custGeom>
              <a:avLst/>
              <a:gdLst/>
              <a:ahLst/>
              <a:cxnLst/>
              <a:rect r="r" b="b" t="t" l="l"/>
              <a:pathLst>
                <a:path h="1573530" w="11357610">
                  <a:moveTo>
                    <a:pt x="0" y="0"/>
                  </a:moveTo>
                  <a:lnTo>
                    <a:pt x="11357610" y="0"/>
                  </a:lnTo>
                  <a:lnTo>
                    <a:pt x="11357610" y="1573530"/>
                  </a:lnTo>
                  <a:lnTo>
                    <a:pt x="0" y="1573530"/>
                  </a:lnTo>
                  <a:close/>
                </a:path>
              </a:pathLst>
            </a:custGeom>
            <a:solidFill>
              <a:srgbClr val="3A2626"/>
            </a:solidFill>
            <a:ln w="14288" cap="sq">
              <a:solidFill>
                <a:srgbClr val="5A4340"/>
              </a:solidFill>
              <a:prstDash val="solid"/>
              <a:miter/>
            </a:ln>
          </p:spPr>
        </p:sp>
      </p:grpSp>
      <p:grpSp>
        <p:nvGrpSpPr>
          <p:cNvPr name="Group 93" id="93"/>
          <p:cNvGrpSpPr/>
          <p:nvPr/>
        </p:nvGrpSpPr>
        <p:grpSpPr>
          <a:xfrm rot="0">
            <a:off x="9248775" y="6875907"/>
            <a:ext cx="430530" cy="430530"/>
            <a:chOff x="0" y="0"/>
            <a:chExt cx="574040" cy="574040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574040" cy="574040"/>
            </a:xfrm>
            <a:custGeom>
              <a:avLst/>
              <a:gdLst/>
              <a:ahLst/>
              <a:cxnLst/>
              <a:rect r="r" b="b" t="t" l="l"/>
              <a:pathLst>
                <a:path h="574040" w="574040">
                  <a:moveTo>
                    <a:pt x="0" y="287020"/>
                  </a:moveTo>
                  <a:cubicBezTo>
                    <a:pt x="0" y="128524"/>
                    <a:pt x="128524" y="0"/>
                    <a:pt x="287020" y="0"/>
                  </a:cubicBezTo>
                  <a:cubicBezTo>
                    <a:pt x="445516" y="0"/>
                    <a:pt x="574040" y="128524"/>
                    <a:pt x="574040" y="287020"/>
                  </a:cubicBezTo>
                  <a:cubicBezTo>
                    <a:pt x="574040" y="445516"/>
                    <a:pt x="445516" y="574040"/>
                    <a:pt x="287020" y="574040"/>
                  </a:cubicBezTo>
                  <a:cubicBezTo>
                    <a:pt x="128524" y="574040"/>
                    <a:pt x="0" y="445516"/>
                    <a:pt x="0" y="287020"/>
                  </a:cubicBezTo>
                  <a:close/>
                </a:path>
              </a:pathLst>
            </a:custGeom>
            <a:solidFill>
              <a:srgbClr val="444444"/>
            </a:solidFill>
            <a:ln w="19050" cap="sq">
              <a:solidFill>
                <a:srgbClr val="444444"/>
              </a:solidFill>
              <a:prstDash val="solid"/>
              <a:miter/>
            </a:ln>
          </p:spPr>
        </p:sp>
      </p:grpSp>
      <p:grpSp>
        <p:nvGrpSpPr>
          <p:cNvPr name="Group 95" id="95"/>
          <p:cNvGrpSpPr/>
          <p:nvPr/>
        </p:nvGrpSpPr>
        <p:grpSpPr>
          <a:xfrm rot="0">
            <a:off x="9875520" y="6830568"/>
            <a:ext cx="7406640" cy="438912"/>
            <a:chOff x="0" y="0"/>
            <a:chExt cx="9875520" cy="585216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9875520" cy="585216"/>
            </a:xfrm>
            <a:custGeom>
              <a:avLst/>
              <a:gdLst/>
              <a:ahLst/>
              <a:cxnLst/>
              <a:rect r="r" b="b" t="t" l="l"/>
              <a:pathLst>
                <a:path h="585216" w="9875520">
                  <a:moveTo>
                    <a:pt x="0" y="0"/>
                  </a:moveTo>
                  <a:lnTo>
                    <a:pt x="9875520" y="0"/>
                  </a:lnTo>
                  <a:lnTo>
                    <a:pt x="987552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8810" r="0" b="-278810"/>
              </a:stretch>
            </a:blipFill>
          </p:spPr>
        </p:sp>
        <p:sp>
          <p:nvSpPr>
            <p:cNvPr name="TextBox 97" id="97"/>
            <p:cNvSpPr txBox="true"/>
            <p:nvPr/>
          </p:nvSpPr>
          <p:spPr>
            <a:xfrm>
              <a:off x="0" y="-19050"/>
              <a:ext cx="9875520" cy="6042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Contact Links</a:t>
              </a:r>
            </a:p>
          </p:txBody>
        </p:sp>
      </p:grpSp>
      <p:grpSp>
        <p:nvGrpSpPr>
          <p:cNvPr name="Group 98" id="98"/>
          <p:cNvGrpSpPr/>
          <p:nvPr/>
        </p:nvGrpSpPr>
        <p:grpSpPr>
          <a:xfrm rot="0">
            <a:off x="9875520" y="7296912"/>
            <a:ext cx="7406640" cy="480060"/>
            <a:chOff x="0" y="0"/>
            <a:chExt cx="9875520" cy="640080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9875520" cy="640080"/>
            </a:xfrm>
            <a:custGeom>
              <a:avLst/>
              <a:gdLst/>
              <a:ahLst/>
              <a:cxnLst/>
              <a:rect r="r" b="b" t="t" l="l"/>
              <a:pathLst>
                <a:path h="640080" w="9875520">
                  <a:moveTo>
                    <a:pt x="0" y="0"/>
                  </a:moveTo>
                  <a:lnTo>
                    <a:pt x="9875520" y="0"/>
                  </a:lnTo>
                  <a:lnTo>
                    <a:pt x="987552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0626" r="0" b="-250626"/>
              </a:stretch>
            </a:blipFill>
          </p:spPr>
        </p:sp>
        <p:sp>
          <p:nvSpPr>
            <p:cNvPr name="TextBox 100" id="100"/>
            <p:cNvSpPr txBox="true"/>
            <p:nvPr/>
          </p:nvSpPr>
          <p:spPr>
            <a:xfrm>
              <a:off x="0" y="-19050"/>
              <a:ext cx="9875520" cy="6591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E6D5D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tel: and WhatsApp links for one-click reach.</a:t>
              </a:r>
            </a:p>
          </p:txBody>
        </p:sp>
      </p:grpSp>
      <p:grpSp>
        <p:nvGrpSpPr>
          <p:cNvPr name="Group 101" id="101"/>
          <p:cNvGrpSpPr/>
          <p:nvPr/>
        </p:nvGrpSpPr>
        <p:grpSpPr>
          <a:xfrm rot="0">
            <a:off x="9045416" y="8016716"/>
            <a:ext cx="8518207" cy="1180148"/>
            <a:chOff x="0" y="0"/>
            <a:chExt cx="11357610" cy="1573530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11357610" cy="1573530"/>
            </a:xfrm>
            <a:custGeom>
              <a:avLst/>
              <a:gdLst/>
              <a:ahLst/>
              <a:cxnLst/>
              <a:rect r="r" b="b" t="t" l="l"/>
              <a:pathLst>
                <a:path h="1573530" w="11357610">
                  <a:moveTo>
                    <a:pt x="0" y="0"/>
                  </a:moveTo>
                  <a:lnTo>
                    <a:pt x="11357610" y="0"/>
                  </a:lnTo>
                  <a:lnTo>
                    <a:pt x="11357610" y="1573530"/>
                  </a:lnTo>
                  <a:lnTo>
                    <a:pt x="0" y="1573530"/>
                  </a:lnTo>
                  <a:close/>
                </a:path>
              </a:pathLst>
            </a:custGeom>
            <a:solidFill>
              <a:srgbClr val="3A2626"/>
            </a:solidFill>
            <a:ln w="14288" cap="sq">
              <a:solidFill>
                <a:srgbClr val="5A4340"/>
              </a:solidFill>
              <a:prstDash val="solid"/>
              <a:miter/>
            </a:ln>
          </p:spPr>
        </p:sp>
      </p:grpSp>
      <p:grpSp>
        <p:nvGrpSpPr>
          <p:cNvPr name="Group 103" id="103"/>
          <p:cNvGrpSpPr/>
          <p:nvPr/>
        </p:nvGrpSpPr>
        <p:grpSpPr>
          <a:xfrm rot="0">
            <a:off x="9248775" y="8178927"/>
            <a:ext cx="430530" cy="430530"/>
            <a:chOff x="0" y="0"/>
            <a:chExt cx="574040" cy="574040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574040" cy="574040"/>
            </a:xfrm>
            <a:custGeom>
              <a:avLst/>
              <a:gdLst/>
              <a:ahLst/>
              <a:cxnLst/>
              <a:rect r="r" b="b" t="t" l="l"/>
              <a:pathLst>
                <a:path h="574040" w="574040">
                  <a:moveTo>
                    <a:pt x="0" y="287020"/>
                  </a:moveTo>
                  <a:cubicBezTo>
                    <a:pt x="0" y="128524"/>
                    <a:pt x="128524" y="0"/>
                    <a:pt x="287020" y="0"/>
                  </a:cubicBezTo>
                  <a:cubicBezTo>
                    <a:pt x="445516" y="0"/>
                    <a:pt x="574040" y="128524"/>
                    <a:pt x="574040" y="287020"/>
                  </a:cubicBezTo>
                  <a:cubicBezTo>
                    <a:pt x="574040" y="445516"/>
                    <a:pt x="445516" y="574040"/>
                    <a:pt x="287020" y="574040"/>
                  </a:cubicBezTo>
                  <a:cubicBezTo>
                    <a:pt x="128524" y="574040"/>
                    <a:pt x="0" y="445516"/>
                    <a:pt x="0" y="287020"/>
                  </a:cubicBezTo>
                  <a:close/>
                </a:path>
              </a:pathLst>
            </a:custGeom>
            <a:solidFill>
              <a:srgbClr val="6E2723"/>
            </a:solidFill>
            <a:ln w="19050" cap="sq">
              <a:solidFill>
                <a:srgbClr val="6E2723"/>
              </a:solidFill>
              <a:prstDash val="solid"/>
              <a:miter/>
            </a:ln>
          </p:spPr>
        </p:sp>
      </p:grpSp>
      <p:grpSp>
        <p:nvGrpSpPr>
          <p:cNvPr name="Group 105" id="105"/>
          <p:cNvGrpSpPr/>
          <p:nvPr/>
        </p:nvGrpSpPr>
        <p:grpSpPr>
          <a:xfrm rot="0">
            <a:off x="9875520" y="8133588"/>
            <a:ext cx="7406640" cy="438912"/>
            <a:chOff x="0" y="0"/>
            <a:chExt cx="9875520" cy="585216"/>
          </a:xfrm>
        </p:grpSpPr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9875520" cy="585216"/>
            </a:xfrm>
            <a:custGeom>
              <a:avLst/>
              <a:gdLst/>
              <a:ahLst/>
              <a:cxnLst/>
              <a:rect r="r" b="b" t="t" l="l"/>
              <a:pathLst>
                <a:path h="585216" w="9875520">
                  <a:moveTo>
                    <a:pt x="0" y="0"/>
                  </a:moveTo>
                  <a:lnTo>
                    <a:pt x="9875520" y="0"/>
                  </a:lnTo>
                  <a:lnTo>
                    <a:pt x="987552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8810" r="0" b="-278810"/>
              </a:stretch>
            </a:blipFill>
          </p:spPr>
        </p:sp>
        <p:sp>
          <p:nvSpPr>
            <p:cNvPr name="TextBox 107" id="107"/>
            <p:cNvSpPr txBox="true"/>
            <p:nvPr/>
          </p:nvSpPr>
          <p:spPr>
            <a:xfrm>
              <a:off x="0" y="-19050"/>
              <a:ext cx="9875520" cy="6042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Availability Control</a:t>
              </a:r>
            </a:p>
          </p:txBody>
        </p:sp>
      </p:grpSp>
      <p:grpSp>
        <p:nvGrpSpPr>
          <p:cNvPr name="Group 108" id="108"/>
          <p:cNvGrpSpPr/>
          <p:nvPr/>
        </p:nvGrpSpPr>
        <p:grpSpPr>
          <a:xfrm rot="0">
            <a:off x="9875520" y="8599932"/>
            <a:ext cx="7406640" cy="480060"/>
            <a:chOff x="0" y="0"/>
            <a:chExt cx="9875520" cy="640080"/>
          </a:xfrm>
        </p:grpSpPr>
        <p:sp>
          <p:nvSpPr>
            <p:cNvPr name="Freeform 109" id="109"/>
            <p:cNvSpPr/>
            <p:nvPr/>
          </p:nvSpPr>
          <p:spPr>
            <a:xfrm flipH="false" flipV="false" rot="0">
              <a:off x="0" y="0"/>
              <a:ext cx="9875520" cy="640080"/>
            </a:xfrm>
            <a:custGeom>
              <a:avLst/>
              <a:gdLst/>
              <a:ahLst/>
              <a:cxnLst/>
              <a:rect r="r" b="b" t="t" l="l"/>
              <a:pathLst>
                <a:path h="640080" w="9875520">
                  <a:moveTo>
                    <a:pt x="0" y="0"/>
                  </a:moveTo>
                  <a:lnTo>
                    <a:pt x="9875520" y="0"/>
                  </a:lnTo>
                  <a:lnTo>
                    <a:pt x="987552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0626" r="0" b="-250626"/>
              </a:stretch>
            </a:blipFill>
          </p:spPr>
        </p:sp>
        <p:sp>
          <p:nvSpPr>
            <p:cNvPr name="TextBox 110" id="110"/>
            <p:cNvSpPr txBox="true"/>
            <p:nvPr/>
          </p:nvSpPr>
          <p:spPr>
            <a:xfrm>
              <a:off x="0" y="-19050"/>
              <a:ext cx="9875520" cy="6591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E6D5D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Donors toggle their own status at any time.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7144" y="102584"/>
            <a:ext cx="18301830" cy="864680"/>
            <a:chOff x="0" y="0"/>
            <a:chExt cx="24402440" cy="115290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152906"/>
            </a:xfrm>
            <a:custGeom>
              <a:avLst/>
              <a:gdLst/>
              <a:ahLst/>
              <a:cxnLst/>
              <a:rect r="r" b="b" t="t" l="l"/>
              <a:pathLst>
                <a:path h="1152906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152906"/>
                  </a:lnTo>
                  <a:lnTo>
                    <a:pt x="0" y="1152906"/>
                  </a:lnTo>
                  <a:close/>
                </a:path>
              </a:pathLst>
            </a:custGeom>
            <a:solidFill>
              <a:srgbClr val="953734"/>
            </a:solidFill>
            <a:ln w="14288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411480" y="109728"/>
            <a:ext cx="17464583" cy="850392"/>
            <a:chOff x="0" y="0"/>
            <a:chExt cx="23286110" cy="113385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3286110" cy="1133856"/>
            </a:xfrm>
            <a:custGeom>
              <a:avLst/>
              <a:gdLst/>
              <a:ahLst/>
              <a:cxnLst/>
              <a:rect r="r" b="b" t="t" l="l"/>
              <a:pathLst>
                <a:path h="1133856" w="23286110">
                  <a:moveTo>
                    <a:pt x="0" y="0"/>
                  </a:moveTo>
                  <a:lnTo>
                    <a:pt x="23286110" y="0"/>
                  </a:lnTo>
                  <a:lnTo>
                    <a:pt x="2328611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0166" r="0" b="-35016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23286110" cy="11529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60"/>
                </a:lnSpc>
              </a:pPr>
              <a:r>
                <a:rPr lang="en-US" sz="3300" b="true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Key Features — Registration &amp; SOS Board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7323308" y="9738360"/>
            <a:ext cx="685800" cy="411480"/>
            <a:chOff x="0" y="0"/>
            <a:chExt cx="914400" cy="5486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91440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99999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8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78656" y="1295876"/>
            <a:ext cx="8243888" cy="480632"/>
            <a:chOff x="0" y="0"/>
            <a:chExt cx="10991850" cy="64084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991850" cy="640842"/>
            </a:xfrm>
            <a:custGeom>
              <a:avLst/>
              <a:gdLst/>
              <a:ahLst/>
              <a:cxnLst/>
              <a:rect r="r" b="b" t="t" l="l"/>
              <a:pathLst>
                <a:path h="640842" w="10991850">
                  <a:moveTo>
                    <a:pt x="0" y="0"/>
                  </a:moveTo>
                  <a:lnTo>
                    <a:pt x="10991850" y="0"/>
                  </a:lnTo>
                  <a:lnTo>
                    <a:pt x="10991850" y="640842"/>
                  </a:lnTo>
                  <a:lnTo>
                    <a:pt x="0" y="640842"/>
                  </a:lnTo>
                  <a:close/>
                </a:path>
              </a:pathLst>
            </a:custGeom>
            <a:solidFill>
              <a:srgbClr val="028090"/>
            </a:solidFill>
            <a:ln w="14288" cap="sq">
              <a:solidFill>
                <a:srgbClr val="028090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754380" y="1303020"/>
            <a:ext cx="8092440" cy="466344"/>
            <a:chOff x="0" y="0"/>
            <a:chExt cx="10789920" cy="62179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789920" cy="621792"/>
            </a:xfrm>
            <a:custGeom>
              <a:avLst/>
              <a:gdLst/>
              <a:ahLst/>
              <a:cxnLst/>
              <a:rect r="r" b="b" t="t" l="l"/>
              <a:pathLst>
                <a:path h="621792" w="10789920">
                  <a:moveTo>
                    <a:pt x="0" y="0"/>
                  </a:moveTo>
                  <a:lnTo>
                    <a:pt x="10789920" y="0"/>
                  </a:lnTo>
                  <a:lnTo>
                    <a:pt x="1078992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8122" r="0" b="-288122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19050"/>
              <a:ext cx="10789920" cy="6408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1. Volunteer Registration</a:t>
              </a: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685800" y="1901190"/>
            <a:ext cx="8229600" cy="842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2B2B2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donor creates a profile once; it is searchable by blood group and locality.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678656" y="2873216"/>
            <a:ext cx="8243888" cy="3923347"/>
            <a:chOff x="0" y="0"/>
            <a:chExt cx="10991850" cy="523113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991850" cy="5231130"/>
            </a:xfrm>
            <a:custGeom>
              <a:avLst/>
              <a:gdLst/>
              <a:ahLst/>
              <a:cxnLst/>
              <a:rect r="r" b="b" t="t" l="l"/>
              <a:pathLst>
                <a:path h="5231130" w="10991850">
                  <a:moveTo>
                    <a:pt x="0" y="0"/>
                  </a:moveTo>
                  <a:lnTo>
                    <a:pt x="10991850" y="0"/>
                  </a:lnTo>
                  <a:lnTo>
                    <a:pt x="10991850" y="5231130"/>
                  </a:lnTo>
                  <a:lnTo>
                    <a:pt x="0" y="5231130"/>
                  </a:ln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3CFC9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960120" y="3044952"/>
            <a:ext cx="2331720" cy="548640"/>
            <a:chOff x="0" y="0"/>
            <a:chExt cx="3108960" cy="73152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108960" cy="731520"/>
            </a:xfrm>
            <a:custGeom>
              <a:avLst/>
              <a:gdLst/>
              <a:ahLst/>
              <a:cxnLst/>
              <a:rect r="r" b="b" t="t" l="l"/>
              <a:pathLst>
                <a:path h="731520" w="3108960">
                  <a:moveTo>
                    <a:pt x="0" y="0"/>
                  </a:moveTo>
                  <a:lnTo>
                    <a:pt x="3108960" y="0"/>
                  </a:lnTo>
                  <a:lnTo>
                    <a:pt x="31089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811" r="0" b="-32811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19050"/>
              <a:ext cx="310896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2B2B2B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Full Name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3353276" y="3037808"/>
            <a:ext cx="5294947" cy="562928"/>
            <a:chOff x="0" y="0"/>
            <a:chExt cx="7059930" cy="75057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7059930" cy="750570"/>
            </a:xfrm>
            <a:custGeom>
              <a:avLst/>
              <a:gdLst/>
              <a:ahLst/>
              <a:cxnLst/>
              <a:rect r="r" b="b" t="t" l="l"/>
              <a:pathLst>
                <a:path h="750570" w="7059930">
                  <a:moveTo>
                    <a:pt x="0" y="0"/>
                  </a:moveTo>
                  <a:lnTo>
                    <a:pt x="7059930" y="0"/>
                  </a:lnTo>
                  <a:lnTo>
                    <a:pt x="7059930" y="750570"/>
                  </a:lnTo>
                  <a:lnTo>
                    <a:pt x="0" y="750570"/>
                  </a:lnTo>
                  <a:close/>
                </a:path>
              </a:pathLst>
            </a:custGeom>
            <a:solidFill>
              <a:srgbClr val="F7EDEA"/>
            </a:solidFill>
            <a:ln w="14288" cap="sq">
              <a:solidFill>
                <a:srgbClr val="E3CFC9"/>
              </a:solidFill>
              <a:prstDash val="solid"/>
              <a:miter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3497580" y="3044952"/>
            <a:ext cx="5074920" cy="548640"/>
            <a:chOff x="0" y="0"/>
            <a:chExt cx="6766560" cy="73152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766560" cy="731520"/>
            </a:xfrm>
            <a:custGeom>
              <a:avLst/>
              <a:gdLst/>
              <a:ahLst/>
              <a:cxnLst/>
              <a:rect r="r" b="b" t="t" l="l"/>
              <a:pathLst>
                <a:path h="731520" w="6766560">
                  <a:moveTo>
                    <a:pt x="0" y="0"/>
                  </a:moveTo>
                  <a:lnTo>
                    <a:pt x="6766560" y="0"/>
                  </a:lnTo>
                  <a:lnTo>
                    <a:pt x="67665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0236" r="0" b="-130236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19050"/>
              <a:ext cx="676656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i="true">
                  <a:solidFill>
                    <a:srgbClr val="777777"/>
                  </a:solidFill>
                  <a:latin typeface="Times New Roman Italics"/>
                  <a:ea typeface="Times New Roman Italics"/>
                  <a:cs typeface="Times New Roman Italics"/>
                  <a:sym typeface="Times New Roman Italics"/>
                </a:rPr>
                <a:t>Enter name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960120" y="3867912"/>
            <a:ext cx="2331720" cy="548640"/>
            <a:chOff x="0" y="0"/>
            <a:chExt cx="3108960" cy="73152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108960" cy="731520"/>
            </a:xfrm>
            <a:custGeom>
              <a:avLst/>
              <a:gdLst/>
              <a:ahLst/>
              <a:cxnLst/>
              <a:rect r="r" b="b" t="t" l="l"/>
              <a:pathLst>
                <a:path h="731520" w="3108960">
                  <a:moveTo>
                    <a:pt x="0" y="0"/>
                  </a:moveTo>
                  <a:lnTo>
                    <a:pt x="3108960" y="0"/>
                  </a:lnTo>
                  <a:lnTo>
                    <a:pt x="31089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811" r="0" b="-32811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19050"/>
              <a:ext cx="310896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2B2B2B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Blood Group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3353276" y="3860768"/>
            <a:ext cx="5294947" cy="562928"/>
            <a:chOff x="0" y="0"/>
            <a:chExt cx="7059930" cy="75057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7059930" cy="750570"/>
            </a:xfrm>
            <a:custGeom>
              <a:avLst/>
              <a:gdLst/>
              <a:ahLst/>
              <a:cxnLst/>
              <a:rect r="r" b="b" t="t" l="l"/>
              <a:pathLst>
                <a:path h="750570" w="7059930">
                  <a:moveTo>
                    <a:pt x="0" y="0"/>
                  </a:moveTo>
                  <a:lnTo>
                    <a:pt x="7059930" y="0"/>
                  </a:lnTo>
                  <a:lnTo>
                    <a:pt x="7059930" y="750570"/>
                  </a:lnTo>
                  <a:lnTo>
                    <a:pt x="0" y="750570"/>
                  </a:lnTo>
                  <a:close/>
                </a:path>
              </a:pathLst>
            </a:custGeom>
            <a:solidFill>
              <a:srgbClr val="F7EDEA"/>
            </a:solidFill>
            <a:ln w="14288" cap="sq">
              <a:solidFill>
                <a:srgbClr val="E3CFC9"/>
              </a:solidFill>
              <a:prstDash val="solid"/>
              <a:miter/>
            </a:ln>
          </p:spPr>
        </p:sp>
      </p:grpSp>
      <p:grpSp>
        <p:nvGrpSpPr>
          <p:cNvPr name="Group 31" id="31"/>
          <p:cNvGrpSpPr/>
          <p:nvPr/>
        </p:nvGrpSpPr>
        <p:grpSpPr>
          <a:xfrm rot="0">
            <a:off x="3497580" y="3867912"/>
            <a:ext cx="5074920" cy="548640"/>
            <a:chOff x="0" y="0"/>
            <a:chExt cx="6766560" cy="73152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6766560" cy="731520"/>
            </a:xfrm>
            <a:custGeom>
              <a:avLst/>
              <a:gdLst/>
              <a:ahLst/>
              <a:cxnLst/>
              <a:rect r="r" b="b" t="t" l="l"/>
              <a:pathLst>
                <a:path h="731520" w="6766560">
                  <a:moveTo>
                    <a:pt x="0" y="0"/>
                  </a:moveTo>
                  <a:lnTo>
                    <a:pt x="6766560" y="0"/>
                  </a:lnTo>
                  <a:lnTo>
                    <a:pt x="67665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0236" r="0" b="-130236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19050"/>
              <a:ext cx="676656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i="true">
                  <a:solidFill>
                    <a:srgbClr val="777777"/>
                  </a:solidFill>
                  <a:latin typeface="Times New Roman Italics"/>
                  <a:ea typeface="Times New Roman Italics"/>
                  <a:cs typeface="Times New Roman Italics"/>
                  <a:sym typeface="Times New Roman Italics"/>
                </a:rPr>
                <a:t>A+ / A− / B+ / B− / O+ / O− / AB+ / AB−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960120" y="4690872"/>
            <a:ext cx="2331720" cy="548640"/>
            <a:chOff x="0" y="0"/>
            <a:chExt cx="3108960" cy="73152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3108960" cy="731520"/>
            </a:xfrm>
            <a:custGeom>
              <a:avLst/>
              <a:gdLst/>
              <a:ahLst/>
              <a:cxnLst/>
              <a:rect r="r" b="b" t="t" l="l"/>
              <a:pathLst>
                <a:path h="731520" w="3108960">
                  <a:moveTo>
                    <a:pt x="0" y="0"/>
                  </a:moveTo>
                  <a:lnTo>
                    <a:pt x="3108960" y="0"/>
                  </a:lnTo>
                  <a:lnTo>
                    <a:pt x="31089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811" r="0" b="-32811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19050"/>
              <a:ext cx="310896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2B2B2B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Locality / Society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3353276" y="4683728"/>
            <a:ext cx="5294947" cy="562928"/>
            <a:chOff x="0" y="0"/>
            <a:chExt cx="7059930" cy="75057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7059930" cy="750570"/>
            </a:xfrm>
            <a:custGeom>
              <a:avLst/>
              <a:gdLst/>
              <a:ahLst/>
              <a:cxnLst/>
              <a:rect r="r" b="b" t="t" l="l"/>
              <a:pathLst>
                <a:path h="750570" w="7059930">
                  <a:moveTo>
                    <a:pt x="0" y="0"/>
                  </a:moveTo>
                  <a:lnTo>
                    <a:pt x="7059930" y="0"/>
                  </a:lnTo>
                  <a:lnTo>
                    <a:pt x="7059930" y="750570"/>
                  </a:lnTo>
                  <a:lnTo>
                    <a:pt x="0" y="750570"/>
                  </a:lnTo>
                  <a:close/>
                </a:path>
              </a:pathLst>
            </a:custGeom>
            <a:solidFill>
              <a:srgbClr val="F7EDEA"/>
            </a:solidFill>
            <a:ln w="14288" cap="sq">
              <a:solidFill>
                <a:srgbClr val="E3CFC9"/>
              </a:solidFill>
              <a:prstDash val="solid"/>
              <a:miter/>
            </a:ln>
          </p:spPr>
        </p:sp>
      </p:grpSp>
      <p:grpSp>
        <p:nvGrpSpPr>
          <p:cNvPr name="Group 39" id="39"/>
          <p:cNvGrpSpPr/>
          <p:nvPr/>
        </p:nvGrpSpPr>
        <p:grpSpPr>
          <a:xfrm rot="0">
            <a:off x="3497580" y="4690872"/>
            <a:ext cx="5074920" cy="548640"/>
            <a:chOff x="0" y="0"/>
            <a:chExt cx="6766560" cy="73152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6766560" cy="731520"/>
            </a:xfrm>
            <a:custGeom>
              <a:avLst/>
              <a:gdLst/>
              <a:ahLst/>
              <a:cxnLst/>
              <a:rect r="r" b="b" t="t" l="l"/>
              <a:pathLst>
                <a:path h="731520" w="6766560">
                  <a:moveTo>
                    <a:pt x="0" y="0"/>
                  </a:moveTo>
                  <a:lnTo>
                    <a:pt x="6766560" y="0"/>
                  </a:lnTo>
                  <a:lnTo>
                    <a:pt x="67665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0236" r="0" b="-130236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19050"/>
              <a:ext cx="676656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i="true">
                  <a:solidFill>
                    <a:srgbClr val="777777"/>
                  </a:solidFill>
                  <a:latin typeface="Times New Roman Italics"/>
                  <a:ea typeface="Times New Roman Italics"/>
                  <a:cs typeface="Times New Roman Italics"/>
                  <a:sym typeface="Times New Roman Italics"/>
                </a:rPr>
                <a:t>Select locality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960120" y="5513832"/>
            <a:ext cx="2331720" cy="548640"/>
            <a:chOff x="0" y="0"/>
            <a:chExt cx="3108960" cy="73152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3108960" cy="731520"/>
            </a:xfrm>
            <a:custGeom>
              <a:avLst/>
              <a:gdLst/>
              <a:ahLst/>
              <a:cxnLst/>
              <a:rect r="r" b="b" t="t" l="l"/>
              <a:pathLst>
                <a:path h="731520" w="3108960">
                  <a:moveTo>
                    <a:pt x="0" y="0"/>
                  </a:moveTo>
                  <a:lnTo>
                    <a:pt x="3108960" y="0"/>
                  </a:lnTo>
                  <a:lnTo>
                    <a:pt x="31089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811" r="0" b="-32811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19050"/>
              <a:ext cx="310896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2B2B2B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Phone Number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3353276" y="5506688"/>
            <a:ext cx="5294947" cy="562928"/>
            <a:chOff x="0" y="0"/>
            <a:chExt cx="7059930" cy="75057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7059930" cy="750570"/>
            </a:xfrm>
            <a:custGeom>
              <a:avLst/>
              <a:gdLst/>
              <a:ahLst/>
              <a:cxnLst/>
              <a:rect r="r" b="b" t="t" l="l"/>
              <a:pathLst>
                <a:path h="750570" w="7059930">
                  <a:moveTo>
                    <a:pt x="0" y="0"/>
                  </a:moveTo>
                  <a:lnTo>
                    <a:pt x="7059930" y="0"/>
                  </a:lnTo>
                  <a:lnTo>
                    <a:pt x="7059930" y="750570"/>
                  </a:lnTo>
                  <a:lnTo>
                    <a:pt x="0" y="750570"/>
                  </a:lnTo>
                  <a:close/>
                </a:path>
              </a:pathLst>
            </a:custGeom>
            <a:solidFill>
              <a:srgbClr val="F7EDEA"/>
            </a:solidFill>
            <a:ln w="14288" cap="sq">
              <a:solidFill>
                <a:srgbClr val="E3CFC9"/>
              </a:solidFill>
              <a:prstDash val="solid"/>
              <a:miter/>
            </a:ln>
          </p:spPr>
        </p:sp>
      </p:grpSp>
      <p:grpSp>
        <p:nvGrpSpPr>
          <p:cNvPr name="Group 47" id="47"/>
          <p:cNvGrpSpPr/>
          <p:nvPr/>
        </p:nvGrpSpPr>
        <p:grpSpPr>
          <a:xfrm rot="0">
            <a:off x="3497580" y="5513832"/>
            <a:ext cx="5074920" cy="548640"/>
            <a:chOff x="0" y="0"/>
            <a:chExt cx="6766560" cy="73152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6766560" cy="731520"/>
            </a:xfrm>
            <a:custGeom>
              <a:avLst/>
              <a:gdLst/>
              <a:ahLst/>
              <a:cxnLst/>
              <a:rect r="r" b="b" t="t" l="l"/>
              <a:pathLst>
                <a:path h="731520" w="6766560">
                  <a:moveTo>
                    <a:pt x="0" y="0"/>
                  </a:moveTo>
                  <a:lnTo>
                    <a:pt x="6766560" y="0"/>
                  </a:lnTo>
                  <a:lnTo>
                    <a:pt x="67665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0236" r="0" b="-130236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19050"/>
              <a:ext cx="676656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i="true">
                  <a:solidFill>
                    <a:srgbClr val="777777"/>
                  </a:solidFill>
                  <a:latin typeface="Times New Roman Italics"/>
                  <a:ea typeface="Times New Roman Italics"/>
                  <a:cs typeface="Times New Roman Italics"/>
                  <a:sym typeface="Times New Roman Italics"/>
                </a:rPr>
                <a:t>10-digit mobile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5890736" y="6165056"/>
            <a:ext cx="2757488" cy="494347"/>
            <a:chOff x="0" y="0"/>
            <a:chExt cx="3676650" cy="65913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3676650" cy="659130"/>
            </a:xfrm>
            <a:custGeom>
              <a:avLst/>
              <a:gdLst/>
              <a:ahLst/>
              <a:cxnLst/>
              <a:rect r="r" b="b" t="t" l="l"/>
              <a:pathLst>
                <a:path h="659130" w="3676650">
                  <a:moveTo>
                    <a:pt x="0" y="0"/>
                  </a:moveTo>
                  <a:lnTo>
                    <a:pt x="3676650" y="0"/>
                  </a:lnTo>
                  <a:lnTo>
                    <a:pt x="3676650" y="659130"/>
                  </a:lnTo>
                  <a:lnTo>
                    <a:pt x="0" y="659130"/>
                  </a:lnTo>
                  <a:close/>
                </a:path>
              </a:pathLst>
            </a:custGeom>
            <a:solidFill>
              <a:srgbClr val="028090"/>
            </a:solidFill>
            <a:ln w="14288" cap="sq">
              <a:solidFill>
                <a:srgbClr val="028090"/>
              </a:solidFill>
              <a:prstDash val="solid"/>
              <a:miter/>
            </a:ln>
          </p:spPr>
        </p:sp>
      </p:grpSp>
      <p:grpSp>
        <p:nvGrpSpPr>
          <p:cNvPr name="Group 52" id="52"/>
          <p:cNvGrpSpPr/>
          <p:nvPr/>
        </p:nvGrpSpPr>
        <p:grpSpPr>
          <a:xfrm rot="0">
            <a:off x="5966460" y="6172200"/>
            <a:ext cx="2606040" cy="480060"/>
            <a:chOff x="0" y="0"/>
            <a:chExt cx="3474720" cy="64008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3474720" cy="640080"/>
            </a:xfrm>
            <a:custGeom>
              <a:avLst/>
              <a:gdLst/>
              <a:ahLst/>
              <a:cxnLst/>
              <a:rect r="r" b="b" t="t" l="l"/>
              <a:pathLst>
                <a:path h="640080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5775" r="0" b="-55775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19050"/>
              <a:ext cx="3474720" cy="6591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Register as Donor</a:t>
              </a:r>
            </a:p>
          </p:txBody>
        </p:sp>
      </p:grpSp>
      <p:sp>
        <p:nvSpPr>
          <p:cNvPr name="TextBox 55" id="55"/>
          <p:cNvSpPr txBox="true"/>
          <p:nvPr/>
        </p:nvSpPr>
        <p:spPr>
          <a:xfrm rot="0">
            <a:off x="685800" y="7044690"/>
            <a:ext cx="8229600" cy="842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4A4A4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Registration takes under a minute and needs no hospital or admin approval.</a:t>
            </a:r>
          </a:p>
        </p:txBody>
      </p:sp>
      <p:grpSp>
        <p:nvGrpSpPr>
          <p:cNvPr name="Group 56" id="56"/>
          <p:cNvGrpSpPr/>
          <p:nvPr/>
        </p:nvGrpSpPr>
        <p:grpSpPr>
          <a:xfrm rot="0">
            <a:off x="9388316" y="1295876"/>
            <a:ext cx="8175307" cy="480632"/>
            <a:chOff x="0" y="0"/>
            <a:chExt cx="10900410" cy="640842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0900410" cy="640842"/>
            </a:xfrm>
            <a:custGeom>
              <a:avLst/>
              <a:gdLst/>
              <a:ahLst/>
              <a:cxnLst/>
              <a:rect r="r" b="b" t="t" l="l"/>
              <a:pathLst>
                <a:path h="640842" w="10900410">
                  <a:moveTo>
                    <a:pt x="0" y="0"/>
                  </a:moveTo>
                  <a:lnTo>
                    <a:pt x="10900410" y="0"/>
                  </a:lnTo>
                  <a:lnTo>
                    <a:pt x="10900410" y="640842"/>
                  </a:lnTo>
                  <a:lnTo>
                    <a:pt x="0" y="640842"/>
                  </a:lnTo>
                  <a:close/>
                </a:path>
              </a:pathLst>
            </a:custGeom>
            <a:solidFill>
              <a:srgbClr val="953734"/>
            </a:solidFill>
            <a:ln w="14288" cap="sq">
              <a:solidFill>
                <a:srgbClr val="953734"/>
              </a:solidFill>
              <a:prstDash val="solid"/>
              <a:miter/>
            </a:ln>
          </p:spPr>
        </p:sp>
      </p:grpSp>
      <p:grpSp>
        <p:nvGrpSpPr>
          <p:cNvPr name="Group 58" id="58"/>
          <p:cNvGrpSpPr/>
          <p:nvPr/>
        </p:nvGrpSpPr>
        <p:grpSpPr>
          <a:xfrm rot="0">
            <a:off x="9464040" y="1303020"/>
            <a:ext cx="8023860" cy="466344"/>
            <a:chOff x="0" y="0"/>
            <a:chExt cx="10698480" cy="621792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10698480" cy="621792"/>
            </a:xfrm>
            <a:custGeom>
              <a:avLst/>
              <a:gdLst/>
              <a:ahLst/>
              <a:cxnLst/>
              <a:rect r="r" b="b" t="t" l="l"/>
              <a:pathLst>
                <a:path h="621792" w="10698480">
                  <a:moveTo>
                    <a:pt x="0" y="0"/>
                  </a:moveTo>
                  <a:lnTo>
                    <a:pt x="10698480" y="0"/>
                  </a:lnTo>
                  <a:lnTo>
                    <a:pt x="1069848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5257" r="0" b="-285257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19050"/>
              <a:ext cx="10698480" cy="6408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2. SOS Request Board</a:t>
              </a:r>
            </a:p>
          </p:txBody>
        </p:sp>
      </p:grpSp>
      <p:sp>
        <p:nvSpPr>
          <p:cNvPr name="TextBox 61" id="61"/>
          <p:cNvSpPr txBox="true"/>
          <p:nvPr/>
        </p:nvSpPr>
        <p:spPr>
          <a:xfrm rot="0">
            <a:off x="9395460" y="1901190"/>
            <a:ext cx="8161020" cy="842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2B2B2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Any requester can broadcast an urgent need that every member of the network can see.</a:t>
            </a:r>
          </a:p>
        </p:txBody>
      </p:sp>
      <p:grpSp>
        <p:nvGrpSpPr>
          <p:cNvPr name="Group 62" id="62"/>
          <p:cNvGrpSpPr/>
          <p:nvPr/>
        </p:nvGrpSpPr>
        <p:grpSpPr>
          <a:xfrm rot="0">
            <a:off x="9388316" y="2873216"/>
            <a:ext cx="8175307" cy="1248727"/>
            <a:chOff x="0" y="0"/>
            <a:chExt cx="10900410" cy="166497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10900410" cy="1664970"/>
            </a:xfrm>
            <a:custGeom>
              <a:avLst/>
              <a:gdLst/>
              <a:ahLst/>
              <a:cxnLst/>
              <a:rect r="r" b="b" t="t" l="l"/>
              <a:pathLst>
                <a:path h="1664970" w="10900410">
                  <a:moveTo>
                    <a:pt x="0" y="0"/>
                  </a:moveTo>
                  <a:lnTo>
                    <a:pt x="10900410" y="0"/>
                  </a:lnTo>
                  <a:lnTo>
                    <a:pt x="10900410" y="1664970"/>
                  </a:lnTo>
                  <a:lnTo>
                    <a:pt x="0" y="1664970"/>
                  </a:ln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3CFC9"/>
              </a:solidFill>
              <a:prstDash val="solid"/>
              <a:miter/>
            </a:ln>
          </p:spPr>
        </p:sp>
      </p:grpSp>
      <p:grpSp>
        <p:nvGrpSpPr>
          <p:cNvPr name="Group 64" id="64"/>
          <p:cNvGrpSpPr/>
          <p:nvPr/>
        </p:nvGrpSpPr>
        <p:grpSpPr>
          <a:xfrm rot="0">
            <a:off x="9669780" y="3017520"/>
            <a:ext cx="4663440" cy="480060"/>
            <a:chOff x="0" y="0"/>
            <a:chExt cx="6217920" cy="64008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6217920" cy="640080"/>
            </a:xfrm>
            <a:custGeom>
              <a:avLst/>
              <a:gdLst/>
              <a:ahLst/>
              <a:cxnLst/>
              <a:rect r="r" b="b" t="t" l="l"/>
              <a:pathLst>
                <a:path h="640080" w="6217920">
                  <a:moveTo>
                    <a:pt x="0" y="0"/>
                  </a:moveTo>
                  <a:lnTo>
                    <a:pt x="6217920" y="0"/>
                  </a:lnTo>
                  <a:lnTo>
                    <a:pt x="621792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9283" r="0" b="-139283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19050"/>
              <a:ext cx="6217920" cy="6591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2B2B2B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O−  •  2 units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9669780" y="3566160"/>
            <a:ext cx="4663440" cy="411480"/>
            <a:chOff x="0" y="0"/>
            <a:chExt cx="6217920" cy="54864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6217920" cy="548640"/>
            </a:xfrm>
            <a:custGeom>
              <a:avLst/>
              <a:gdLst/>
              <a:ahLst/>
              <a:cxnLst/>
              <a:rect r="r" b="b" t="t" l="l"/>
              <a:pathLst>
                <a:path h="548640" w="6217920">
                  <a:moveTo>
                    <a:pt x="0" y="0"/>
                  </a:moveTo>
                  <a:lnTo>
                    <a:pt x="6217920" y="0"/>
                  </a:lnTo>
                  <a:lnTo>
                    <a:pt x="62179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0830" r="0" b="-170830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19050"/>
              <a:ext cx="621792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4A4A4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City Hospital, Block A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14943296" y="3216116"/>
            <a:ext cx="2346008" cy="562928"/>
            <a:chOff x="0" y="0"/>
            <a:chExt cx="3128010" cy="75057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3128010" cy="750570"/>
            </a:xfrm>
            <a:custGeom>
              <a:avLst/>
              <a:gdLst/>
              <a:ahLst/>
              <a:cxnLst/>
              <a:rect r="r" b="b" t="t" l="l"/>
              <a:pathLst>
                <a:path h="750570" w="3128010">
                  <a:moveTo>
                    <a:pt x="0" y="0"/>
                  </a:moveTo>
                  <a:lnTo>
                    <a:pt x="3128010" y="0"/>
                  </a:lnTo>
                  <a:lnTo>
                    <a:pt x="3128010" y="750570"/>
                  </a:lnTo>
                  <a:lnTo>
                    <a:pt x="0" y="750570"/>
                  </a:lnTo>
                  <a:close/>
                </a:path>
              </a:pathLst>
            </a:custGeom>
            <a:solidFill>
              <a:srgbClr val="CC1414"/>
            </a:solidFill>
            <a:ln w="14288" cap="sq">
              <a:solidFill>
                <a:srgbClr val="CC1414"/>
              </a:solidFill>
              <a:prstDash val="solid"/>
              <a:miter/>
            </a:ln>
          </p:spPr>
        </p:sp>
      </p:grpSp>
      <p:grpSp>
        <p:nvGrpSpPr>
          <p:cNvPr name="Group 72" id="72"/>
          <p:cNvGrpSpPr/>
          <p:nvPr/>
        </p:nvGrpSpPr>
        <p:grpSpPr>
          <a:xfrm rot="0">
            <a:off x="15019020" y="3223260"/>
            <a:ext cx="2194560" cy="548640"/>
            <a:chOff x="0" y="0"/>
            <a:chExt cx="2926080" cy="73152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2926080" cy="731520"/>
            </a:xfrm>
            <a:custGeom>
              <a:avLst/>
              <a:gdLst/>
              <a:ahLst/>
              <a:cxnLst/>
              <a:rect r="r" b="b" t="t" l="l"/>
              <a:pathLst>
                <a:path h="731520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940" r="0" b="-27940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19050"/>
              <a:ext cx="292608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CRITICAL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9388316" y="4244816"/>
            <a:ext cx="8175307" cy="1248727"/>
            <a:chOff x="0" y="0"/>
            <a:chExt cx="10900410" cy="1664970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10900410" cy="1664970"/>
            </a:xfrm>
            <a:custGeom>
              <a:avLst/>
              <a:gdLst/>
              <a:ahLst/>
              <a:cxnLst/>
              <a:rect r="r" b="b" t="t" l="l"/>
              <a:pathLst>
                <a:path h="1664970" w="10900410">
                  <a:moveTo>
                    <a:pt x="0" y="0"/>
                  </a:moveTo>
                  <a:lnTo>
                    <a:pt x="10900410" y="0"/>
                  </a:lnTo>
                  <a:lnTo>
                    <a:pt x="10900410" y="1664970"/>
                  </a:lnTo>
                  <a:lnTo>
                    <a:pt x="0" y="1664970"/>
                  </a:ln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3CFC9"/>
              </a:solidFill>
              <a:prstDash val="solid"/>
              <a:miter/>
            </a:ln>
          </p:spPr>
        </p:sp>
      </p:grpSp>
      <p:grpSp>
        <p:nvGrpSpPr>
          <p:cNvPr name="Group 77" id="77"/>
          <p:cNvGrpSpPr/>
          <p:nvPr/>
        </p:nvGrpSpPr>
        <p:grpSpPr>
          <a:xfrm rot="0">
            <a:off x="9669780" y="4389120"/>
            <a:ext cx="4663440" cy="480060"/>
            <a:chOff x="0" y="0"/>
            <a:chExt cx="6217920" cy="64008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6217920" cy="640080"/>
            </a:xfrm>
            <a:custGeom>
              <a:avLst/>
              <a:gdLst/>
              <a:ahLst/>
              <a:cxnLst/>
              <a:rect r="r" b="b" t="t" l="l"/>
              <a:pathLst>
                <a:path h="640080" w="6217920">
                  <a:moveTo>
                    <a:pt x="0" y="0"/>
                  </a:moveTo>
                  <a:lnTo>
                    <a:pt x="6217920" y="0"/>
                  </a:lnTo>
                  <a:lnTo>
                    <a:pt x="621792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9283" r="0" b="-139283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19050"/>
              <a:ext cx="6217920" cy="6591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2B2B2B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B+  •  1 unit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9669780" y="4937760"/>
            <a:ext cx="4663440" cy="411480"/>
            <a:chOff x="0" y="0"/>
            <a:chExt cx="6217920" cy="54864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6217920" cy="548640"/>
            </a:xfrm>
            <a:custGeom>
              <a:avLst/>
              <a:gdLst/>
              <a:ahLst/>
              <a:cxnLst/>
              <a:rect r="r" b="b" t="t" l="l"/>
              <a:pathLst>
                <a:path h="548640" w="6217920">
                  <a:moveTo>
                    <a:pt x="0" y="0"/>
                  </a:moveTo>
                  <a:lnTo>
                    <a:pt x="6217920" y="0"/>
                  </a:lnTo>
                  <a:lnTo>
                    <a:pt x="62179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0830" r="0" b="-170830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19050"/>
              <a:ext cx="621792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4A4A4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Green Park Clinic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14943296" y="4587716"/>
            <a:ext cx="2346008" cy="562928"/>
            <a:chOff x="0" y="0"/>
            <a:chExt cx="3128010" cy="750570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3128010" cy="750570"/>
            </a:xfrm>
            <a:custGeom>
              <a:avLst/>
              <a:gdLst/>
              <a:ahLst/>
              <a:cxnLst/>
              <a:rect r="r" b="b" t="t" l="l"/>
              <a:pathLst>
                <a:path h="750570" w="3128010">
                  <a:moveTo>
                    <a:pt x="0" y="0"/>
                  </a:moveTo>
                  <a:lnTo>
                    <a:pt x="3128010" y="0"/>
                  </a:lnTo>
                  <a:lnTo>
                    <a:pt x="3128010" y="750570"/>
                  </a:lnTo>
                  <a:lnTo>
                    <a:pt x="0" y="750570"/>
                  </a:lnTo>
                  <a:close/>
                </a:path>
              </a:pathLst>
            </a:custGeom>
            <a:solidFill>
              <a:srgbClr val="C98A2C"/>
            </a:solidFill>
            <a:ln w="14288" cap="sq">
              <a:solidFill>
                <a:srgbClr val="C98A2C"/>
              </a:solidFill>
              <a:prstDash val="solid"/>
              <a:miter/>
            </a:ln>
          </p:spPr>
        </p:sp>
      </p:grpSp>
      <p:grpSp>
        <p:nvGrpSpPr>
          <p:cNvPr name="Group 85" id="85"/>
          <p:cNvGrpSpPr/>
          <p:nvPr/>
        </p:nvGrpSpPr>
        <p:grpSpPr>
          <a:xfrm rot="0">
            <a:off x="15019020" y="4594860"/>
            <a:ext cx="2194560" cy="548640"/>
            <a:chOff x="0" y="0"/>
            <a:chExt cx="2926080" cy="731520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2926080" cy="731520"/>
            </a:xfrm>
            <a:custGeom>
              <a:avLst/>
              <a:gdLst/>
              <a:ahLst/>
              <a:cxnLst/>
              <a:rect r="r" b="b" t="t" l="l"/>
              <a:pathLst>
                <a:path h="731520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940" r="0" b="-27940"/>
              </a:stretch>
            </a:blipFill>
          </p:spPr>
        </p:sp>
        <p:sp>
          <p:nvSpPr>
            <p:cNvPr name="TextBox 87" id="87"/>
            <p:cNvSpPr txBox="true"/>
            <p:nvPr/>
          </p:nvSpPr>
          <p:spPr>
            <a:xfrm>
              <a:off x="0" y="-19050"/>
              <a:ext cx="292608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URGENT</a:t>
              </a:r>
            </a:p>
          </p:txBody>
        </p:sp>
      </p:grpSp>
      <p:grpSp>
        <p:nvGrpSpPr>
          <p:cNvPr name="Group 88" id="88"/>
          <p:cNvGrpSpPr/>
          <p:nvPr/>
        </p:nvGrpSpPr>
        <p:grpSpPr>
          <a:xfrm rot="0">
            <a:off x="9388316" y="5616416"/>
            <a:ext cx="8175307" cy="1248727"/>
            <a:chOff x="0" y="0"/>
            <a:chExt cx="10900410" cy="1664970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10900410" cy="1664970"/>
            </a:xfrm>
            <a:custGeom>
              <a:avLst/>
              <a:gdLst/>
              <a:ahLst/>
              <a:cxnLst/>
              <a:rect r="r" b="b" t="t" l="l"/>
              <a:pathLst>
                <a:path h="1664970" w="10900410">
                  <a:moveTo>
                    <a:pt x="0" y="0"/>
                  </a:moveTo>
                  <a:lnTo>
                    <a:pt x="10900410" y="0"/>
                  </a:lnTo>
                  <a:lnTo>
                    <a:pt x="10900410" y="1664970"/>
                  </a:lnTo>
                  <a:lnTo>
                    <a:pt x="0" y="1664970"/>
                  </a:ln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3CFC9"/>
              </a:solidFill>
              <a:prstDash val="solid"/>
              <a:miter/>
            </a:ln>
          </p:spPr>
        </p:sp>
      </p:grpSp>
      <p:grpSp>
        <p:nvGrpSpPr>
          <p:cNvPr name="Group 90" id="90"/>
          <p:cNvGrpSpPr/>
          <p:nvPr/>
        </p:nvGrpSpPr>
        <p:grpSpPr>
          <a:xfrm rot="0">
            <a:off x="9669780" y="5760720"/>
            <a:ext cx="4663440" cy="480060"/>
            <a:chOff x="0" y="0"/>
            <a:chExt cx="6217920" cy="640080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6217920" cy="640080"/>
            </a:xfrm>
            <a:custGeom>
              <a:avLst/>
              <a:gdLst/>
              <a:ahLst/>
              <a:cxnLst/>
              <a:rect r="r" b="b" t="t" l="l"/>
              <a:pathLst>
                <a:path h="640080" w="6217920">
                  <a:moveTo>
                    <a:pt x="0" y="0"/>
                  </a:moveTo>
                  <a:lnTo>
                    <a:pt x="6217920" y="0"/>
                  </a:lnTo>
                  <a:lnTo>
                    <a:pt x="621792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9283" r="0" b="-139283"/>
              </a:stretch>
            </a:blipFill>
          </p:spPr>
        </p:sp>
        <p:sp>
          <p:nvSpPr>
            <p:cNvPr name="TextBox 92" id="92"/>
            <p:cNvSpPr txBox="true"/>
            <p:nvPr/>
          </p:nvSpPr>
          <p:spPr>
            <a:xfrm>
              <a:off x="0" y="-19050"/>
              <a:ext cx="6217920" cy="6591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2B2B2B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A+  •  3 units</a:t>
              </a:r>
            </a:p>
          </p:txBody>
        </p:sp>
      </p:grpSp>
      <p:grpSp>
        <p:nvGrpSpPr>
          <p:cNvPr name="Group 93" id="93"/>
          <p:cNvGrpSpPr/>
          <p:nvPr/>
        </p:nvGrpSpPr>
        <p:grpSpPr>
          <a:xfrm rot="0">
            <a:off x="9669780" y="6309360"/>
            <a:ext cx="4663440" cy="411480"/>
            <a:chOff x="0" y="0"/>
            <a:chExt cx="6217920" cy="548640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6217920" cy="548640"/>
            </a:xfrm>
            <a:custGeom>
              <a:avLst/>
              <a:gdLst/>
              <a:ahLst/>
              <a:cxnLst/>
              <a:rect r="r" b="b" t="t" l="l"/>
              <a:pathLst>
                <a:path h="548640" w="6217920">
                  <a:moveTo>
                    <a:pt x="0" y="0"/>
                  </a:moveTo>
                  <a:lnTo>
                    <a:pt x="6217920" y="0"/>
                  </a:lnTo>
                  <a:lnTo>
                    <a:pt x="62179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0830" r="0" b="-170830"/>
              </a:stretch>
            </a:blipFill>
          </p:spPr>
        </p:sp>
        <p:sp>
          <p:nvSpPr>
            <p:cNvPr name="TextBox 95" id="95"/>
            <p:cNvSpPr txBox="true"/>
            <p:nvPr/>
          </p:nvSpPr>
          <p:spPr>
            <a:xfrm>
              <a:off x="0" y="-19050"/>
              <a:ext cx="621792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4A4A4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Sunrise Hospital</a:t>
              </a:r>
            </a:p>
          </p:txBody>
        </p:sp>
      </p:grpSp>
      <p:grpSp>
        <p:nvGrpSpPr>
          <p:cNvPr name="Group 96" id="96"/>
          <p:cNvGrpSpPr/>
          <p:nvPr/>
        </p:nvGrpSpPr>
        <p:grpSpPr>
          <a:xfrm rot="0">
            <a:off x="14943296" y="5959316"/>
            <a:ext cx="2346008" cy="562928"/>
            <a:chOff x="0" y="0"/>
            <a:chExt cx="3128010" cy="750570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3128010" cy="750570"/>
            </a:xfrm>
            <a:custGeom>
              <a:avLst/>
              <a:gdLst/>
              <a:ahLst/>
              <a:cxnLst/>
              <a:rect r="r" b="b" t="t" l="l"/>
              <a:pathLst>
                <a:path h="750570" w="3128010">
                  <a:moveTo>
                    <a:pt x="0" y="0"/>
                  </a:moveTo>
                  <a:lnTo>
                    <a:pt x="3128010" y="0"/>
                  </a:lnTo>
                  <a:lnTo>
                    <a:pt x="3128010" y="750570"/>
                  </a:lnTo>
                  <a:lnTo>
                    <a:pt x="0" y="750570"/>
                  </a:lnTo>
                  <a:close/>
                </a:path>
              </a:pathLst>
            </a:custGeom>
            <a:solidFill>
              <a:srgbClr val="028090"/>
            </a:solidFill>
            <a:ln w="14288" cap="sq">
              <a:solidFill>
                <a:srgbClr val="028090"/>
              </a:solidFill>
              <a:prstDash val="solid"/>
              <a:miter/>
            </a:ln>
          </p:spPr>
        </p:sp>
      </p:grpSp>
      <p:grpSp>
        <p:nvGrpSpPr>
          <p:cNvPr name="Group 98" id="98"/>
          <p:cNvGrpSpPr/>
          <p:nvPr/>
        </p:nvGrpSpPr>
        <p:grpSpPr>
          <a:xfrm rot="0">
            <a:off x="15019020" y="5966460"/>
            <a:ext cx="2194560" cy="548640"/>
            <a:chOff x="0" y="0"/>
            <a:chExt cx="2926080" cy="731520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2926080" cy="731520"/>
            </a:xfrm>
            <a:custGeom>
              <a:avLst/>
              <a:gdLst/>
              <a:ahLst/>
              <a:cxnLst/>
              <a:rect r="r" b="b" t="t" l="l"/>
              <a:pathLst>
                <a:path h="731520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940" r="0" b="-27940"/>
              </a:stretch>
            </a:blipFill>
          </p:spPr>
        </p:sp>
        <p:sp>
          <p:nvSpPr>
            <p:cNvPr name="TextBox 100" id="100"/>
            <p:cNvSpPr txBox="true"/>
            <p:nvPr/>
          </p:nvSpPr>
          <p:spPr>
            <a:xfrm>
              <a:off x="0" y="-19050"/>
              <a:ext cx="292608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PLANNED</a:t>
              </a:r>
            </a:p>
          </p:txBody>
        </p:sp>
      </p:grpSp>
      <p:grpSp>
        <p:nvGrpSpPr>
          <p:cNvPr name="Group 101" id="101"/>
          <p:cNvGrpSpPr/>
          <p:nvPr/>
        </p:nvGrpSpPr>
        <p:grpSpPr>
          <a:xfrm rot="0">
            <a:off x="9388316" y="7125176"/>
            <a:ext cx="8175307" cy="1042988"/>
            <a:chOff x="0" y="0"/>
            <a:chExt cx="10900410" cy="1390650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10900410" cy="1390650"/>
            </a:xfrm>
            <a:custGeom>
              <a:avLst/>
              <a:gdLst/>
              <a:ahLst/>
              <a:cxnLst/>
              <a:rect r="r" b="b" t="t" l="l"/>
              <a:pathLst>
                <a:path h="1390650" w="10900410">
                  <a:moveTo>
                    <a:pt x="0" y="0"/>
                  </a:moveTo>
                  <a:lnTo>
                    <a:pt x="10900410" y="0"/>
                  </a:lnTo>
                  <a:lnTo>
                    <a:pt x="10900410" y="1390650"/>
                  </a:lnTo>
                  <a:lnTo>
                    <a:pt x="0" y="1390650"/>
                  </a:lnTo>
                  <a:close/>
                </a:path>
              </a:pathLst>
            </a:custGeom>
            <a:solidFill>
              <a:srgbClr val="F7EDEA"/>
            </a:solidFill>
            <a:ln w="14288" cap="sq">
              <a:solidFill>
                <a:srgbClr val="E3CFC9"/>
              </a:solidFill>
              <a:prstDash val="solid"/>
              <a:miter/>
            </a:ln>
          </p:spPr>
        </p:sp>
      </p:grpSp>
      <p:grpSp>
        <p:nvGrpSpPr>
          <p:cNvPr name="Group 103" id="103"/>
          <p:cNvGrpSpPr/>
          <p:nvPr/>
        </p:nvGrpSpPr>
        <p:grpSpPr>
          <a:xfrm rot="0">
            <a:off x="9601200" y="7159752"/>
            <a:ext cx="7749540" cy="960120"/>
            <a:chOff x="0" y="0"/>
            <a:chExt cx="10332720" cy="1280160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1033272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0332720">
                  <a:moveTo>
                    <a:pt x="0" y="0"/>
                  </a:moveTo>
                  <a:lnTo>
                    <a:pt x="10332720" y="0"/>
                  </a:lnTo>
                  <a:lnTo>
                    <a:pt x="1033272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7272" r="0" b="-107272"/>
              </a:stretch>
            </a:blipFill>
          </p:spPr>
        </p:sp>
        <p:sp>
          <p:nvSpPr>
            <p:cNvPr name="TextBox 105" id="105"/>
            <p:cNvSpPr txBox="true"/>
            <p:nvPr/>
          </p:nvSpPr>
          <p:spPr>
            <a:xfrm>
              <a:off x="0" y="-19050"/>
              <a:ext cx="10332720" cy="12992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4A4A4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Each SOS carries blood group, units, hospital, locality, urgency and contact number.</a:t>
              </a:r>
            </a:p>
          </p:txBody>
        </p:sp>
      </p:grpSp>
      <p:grpSp>
        <p:nvGrpSpPr>
          <p:cNvPr name="Group 106" id="106"/>
          <p:cNvGrpSpPr/>
          <p:nvPr/>
        </p:nvGrpSpPr>
        <p:grpSpPr>
          <a:xfrm rot="0">
            <a:off x="678656" y="8496776"/>
            <a:ext cx="16930230" cy="974407"/>
            <a:chOff x="0" y="0"/>
            <a:chExt cx="22573640" cy="1299210"/>
          </a:xfrm>
        </p:grpSpPr>
        <p:sp>
          <p:nvSpPr>
            <p:cNvPr name="Freeform 107" id="107"/>
            <p:cNvSpPr/>
            <p:nvPr/>
          </p:nvSpPr>
          <p:spPr>
            <a:xfrm flipH="false" flipV="false" rot="0">
              <a:off x="0" y="0"/>
              <a:ext cx="22573614" cy="1299210"/>
            </a:xfrm>
            <a:custGeom>
              <a:avLst/>
              <a:gdLst/>
              <a:ahLst/>
              <a:cxnLst/>
              <a:rect r="r" b="b" t="t" l="l"/>
              <a:pathLst>
                <a:path h="1299210" w="22573614">
                  <a:moveTo>
                    <a:pt x="0" y="0"/>
                  </a:moveTo>
                  <a:lnTo>
                    <a:pt x="22573614" y="0"/>
                  </a:lnTo>
                  <a:lnTo>
                    <a:pt x="22573614" y="1299210"/>
                  </a:lnTo>
                  <a:lnTo>
                    <a:pt x="0" y="1299210"/>
                  </a:lnTo>
                  <a:close/>
                </a:path>
              </a:pathLst>
            </a:custGeom>
            <a:solidFill>
              <a:srgbClr val="953734"/>
            </a:solidFill>
            <a:ln w="14288" cap="sq">
              <a:solidFill>
                <a:srgbClr val="953734"/>
              </a:solidFill>
              <a:prstDash val="solid"/>
              <a:miter/>
            </a:ln>
          </p:spPr>
        </p:sp>
      </p:grpSp>
      <p:grpSp>
        <p:nvGrpSpPr>
          <p:cNvPr name="Group 108" id="108"/>
          <p:cNvGrpSpPr/>
          <p:nvPr/>
        </p:nvGrpSpPr>
        <p:grpSpPr>
          <a:xfrm rot="0">
            <a:off x="754380" y="8503920"/>
            <a:ext cx="16778783" cy="960120"/>
            <a:chOff x="0" y="0"/>
            <a:chExt cx="22371710" cy="1280160"/>
          </a:xfrm>
        </p:grpSpPr>
        <p:sp>
          <p:nvSpPr>
            <p:cNvPr name="Freeform 109" id="109"/>
            <p:cNvSpPr/>
            <p:nvPr/>
          </p:nvSpPr>
          <p:spPr>
            <a:xfrm flipH="false" flipV="false" rot="0">
              <a:off x="0" y="0"/>
              <a:ext cx="22371710" cy="1280160"/>
            </a:xfrm>
            <a:custGeom>
              <a:avLst/>
              <a:gdLst/>
              <a:ahLst/>
              <a:cxnLst/>
              <a:rect r="r" b="b" t="t" l="l"/>
              <a:pathLst>
                <a:path h="1280160" w="22371710">
                  <a:moveTo>
                    <a:pt x="0" y="0"/>
                  </a:moveTo>
                  <a:lnTo>
                    <a:pt x="22371710" y="0"/>
                  </a:lnTo>
                  <a:lnTo>
                    <a:pt x="2237171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0514" r="0" b="-290514"/>
              </a:stretch>
            </a:blipFill>
          </p:spPr>
        </p:sp>
        <p:sp>
          <p:nvSpPr>
            <p:cNvPr name="TextBox 110" id="110"/>
            <p:cNvSpPr txBox="true"/>
            <p:nvPr/>
          </p:nvSpPr>
          <p:spPr>
            <a:xfrm>
              <a:off x="0" y="-19050"/>
              <a:ext cx="22371710" cy="12992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Registration builds the donor pool; the SOS board turns that pool into an instant response.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7144" y="102584"/>
            <a:ext cx="18301830" cy="864680"/>
            <a:chOff x="0" y="0"/>
            <a:chExt cx="24402440" cy="115290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152906"/>
            </a:xfrm>
            <a:custGeom>
              <a:avLst/>
              <a:gdLst/>
              <a:ahLst/>
              <a:cxnLst/>
              <a:rect r="r" b="b" t="t" l="l"/>
              <a:pathLst>
                <a:path h="1152906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152906"/>
                  </a:lnTo>
                  <a:lnTo>
                    <a:pt x="0" y="1152906"/>
                  </a:lnTo>
                  <a:close/>
                </a:path>
              </a:pathLst>
            </a:custGeom>
            <a:solidFill>
              <a:srgbClr val="953734"/>
            </a:solidFill>
            <a:ln w="14288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411480" y="109728"/>
            <a:ext cx="17464583" cy="850392"/>
            <a:chOff x="0" y="0"/>
            <a:chExt cx="23286110" cy="113385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3286110" cy="1133856"/>
            </a:xfrm>
            <a:custGeom>
              <a:avLst/>
              <a:gdLst/>
              <a:ahLst/>
              <a:cxnLst/>
              <a:rect r="r" b="b" t="t" l="l"/>
              <a:pathLst>
                <a:path h="1133856" w="23286110">
                  <a:moveTo>
                    <a:pt x="0" y="0"/>
                  </a:moveTo>
                  <a:lnTo>
                    <a:pt x="23286110" y="0"/>
                  </a:lnTo>
                  <a:lnTo>
                    <a:pt x="2328611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0166" r="0" b="-35016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23286110" cy="11529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60"/>
                </a:lnSpc>
              </a:pPr>
              <a:r>
                <a:rPr lang="en-US" sz="3300" b="true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Key Features — Contact Link &amp; Availability Toggle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7323308" y="9738360"/>
            <a:ext cx="685800" cy="411480"/>
            <a:chOff x="0" y="0"/>
            <a:chExt cx="914400" cy="5486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91440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99999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9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78656" y="1295876"/>
            <a:ext cx="8243888" cy="480632"/>
            <a:chOff x="0" y="0"/>
            <a:chExt cx="10991850" cy="64084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991850" cy="640842"/>
            </a:xfrm>
            <a:custGeom>
              <a:avLst/>
              <a:gdLst/>
              <a:ahLst/>
              <a:cxnLst/>
              <a:rect r="r" b="b" t="t" l="l"/>
              <a:pathLst>
                <a:path h="640842" w="10991850">
                  <a:moveTo>
                    <a:pt x="0" y="0"/>
                  </a:moveTo>
                  <a:lnTo>
                    <a:pt x="10991850" y="0"/>
                  </a:lnTo>
                  <a:lnTo>
                    <a:pt x="10991850" y="640842"/>
                  </a:lnTo>
                  <a:lnTo>
                    <a:pt x="0" y="640842"/>
                  </a:lnTo>
                  <a:close/>
                </a:path>
              </a:pathLst>
            </a:custGeom>
            <a:solidFill>
              <a:srgbClr val="C98A2C"/>
            </a:solidFill>
            <a:ln w="14288" cap="sq">
              <a:solidFill>
                <a:srgbClr val="C98A2C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754380" y="1303020"/>
            <a:ext cx="8092440" cy="466344"/>
            <a:chOff x="0" y="0"/>
            <a:chExt cx="10789920" cy="62179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789920" cy="621792"/>
            </a:xfrm>
            <a:custGeom>
              <a:avLst/>
              <a:gdLst/>
              <a:ahLst/>
              <a:cxnLst/>
              <a:rect r="r" b="b" t="t" l="l"/>
              <a:pathLst>
                <a:path h="621792" w="10789920">
                  <a:moveTo>
                    <a:pt x="0" y="0"/>
                  </a:moveTo>
                  <a:lnTo>
                    <a:pt x="10789920" y="0"/>
                  </a:lnTo>
                  <a:lnTo>
                    <a:pt x="1078992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8122" r="0" b="-288122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19050"/>
              <a:ext cx="10789920" cy="6408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3. Single-Click Donor Contact</a:t>
              </a: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685800" y="1901190"/>
            <a:ext cx="8229600" cy="842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2B2B2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Every matching donor card carries ready-made links, so no number needs to be copied.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678656" y="2873216"/>
            <a:ext cx="8243888" cy="2346008"/>
            <a:chOff x="0" y="0"/>
            <a:chExt cx="10991850" cy="312801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991850" cy="3128010"/>
            </a:xfrm>
            <a:custGeom>
              <a:avLst/>
              <a:gdLst/>
              <a:ahLst/>
              <a:cxnLst/>
              <a:rect r="r" b="b" t="t" l="l"/>
              <a:pathLst>
                <a:path h="3128010" w="10991850">
                  <a:moveTo>
                    <a:pt x="0" y="0"/>
                  </a:moveTo>
                  <a:lnTo>
                    <a:pt x="10991850" y="0"/>
                  </a:lnTo>
                  <a:lnTo>
                    <a:pt x="10991850" y="3128010"/>
                  </a:lnTo>
                  <a:lnTo>
                    <a:pt x="0" y="3128010"/>
                  </a:ln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3CFC9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960120" y="3017520"/>
            <a:ext cx="7680960" cy="548640"/>
            <a:chOff x="0" y="0"/>
            <a:chExt cx="10241280" cy="73152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241280" cy="731520"/>
            </a:xfrm>
            <a:custGeom>
              <a:avLst/>
              <a:gdLst/>
              <a:ahLst/>
              <a:cxnLst/>
              <a:rect r="r" b="b" t="t" l="l"/>
              <a:pathLst>
                <a:path h="73152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2790" r="0" b="-22279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19050"/>
              <a:ext cx="1024128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2B2B2B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Donor  •  B+  •  Green Park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952976" y="3833336"/>
            <a:ext cx="3580447" cy="768668"/>
            <a:chOff x="0" y="0"/>
            <a:chExt cx="4773930" cy="102489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4773930" cy="1024890"/>
            </a:xfrm>
            <a:custGeom>
              <a:avLst/>
              <a:gdLst/>
              <a:ahLst/>
              <a:cxnLst/>
              <a:rect r="r" b="b" t="t" l="l"/>
              <a:pathLst>
                <a:path h="1024890" w="4773930">
                  <a:moveTo>
                    <a:pt x="0" y="0"/>
                  </a:moveTo>
                  <a:lnTo>
                    <a:pt x="4773930" y="0"/>
                  </a:lnTo>
                  <a:lnTo>
                    <a:pt x="4773930" y="1024890"/>
                  </a:lnTo>
                  <a:lnTo>
                    <a:pt x="0" y="1024890"/>
                  </a:lnTo>
                  <a:close/>
                </a:path>
              </a:pathLst>
            </a:custGeom>
            <a:solidFill>
              <a:srgbClr val="028090"/>
            </a:solidFill>
            <a:ln w="14288" cap="sq">
              <a:solidFill>
                <a:srgbClr val="028090"/>
              </a:solidFill>
              <a:prstDash val="solid"/>
              <a:miter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1028700" y="3840480"/>
            <a:ext cx="3429000" cy="754380"/>
            <a:chOff x="0" y="0"/>
            <a:chExt cx="4572000" cy="100584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572000" cy="1005840"/>
            </a:xfrm>
            <a:custGeom>
              <a:avLst/>
              <a:gdLst/>
              <a:ahLst/>
              <a:cxnLst/>
              <a:rect r="r" b="b" t="t" l="l"/>
              <a:pathLst>
                <a:path h="1005840" w="4572000">
                  <a:moveTo>
                    <a:pt x="0" y="0"/>
                  </a:moveTo>
                  <a:lnTo>
                    <a:pt x="4572000" y="0"/>
                  </a:lnTo>
                  <a:lnTo>
                    <a:pt x="457200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568" r="0" b="-38568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19050"/>
              <a:ext cx="4572000" cy="10248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Call Now  (tel: link)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4793456" y="3833336"/>
            <a:ext cx="3854767" cy="768668"/>
            <a:chOff x="0" y="0"/>
            <a:chExt cx="5139690" cy="102489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139690" cy="1024890"/>
            </a:xfrm>
            <a:custGeom>
              <a:avLst/>
              <a:gdLst/>
              <a:ahLst/>
              <a:cxnLst/>
              <a:rect r="r" b="b" t="t" l="l"/>
              <a:pathLst>
                <a:path h="1024890" w="5139690">
                  <a:moveTo>
                    <a:pt x="0" y="0"/>
                  </a:moveTo>
                  <a:lnTo>
                    <a:pt x="5139690" y="0"/>
                  </a:lnTo>
                  <a:lnTo>
                    <a:pt x="5139690" y="1024890"/>
                  </a:lnTo>
                  <a:lnTo>
                    <a:pt x="0" y="1024890"/>
                  </a:lnTo>
                  <a:close/>
                </a:path>
              </a:pathLst>
            </a:custGeom>
            <a:solidFill>
              <a:srgbClr val="2E8B57"/>
            </a:solidFill>
            <a:ln w="14288" cap="sq">
              <a:solidFill>
                <a:srgbClr val="2E8B57"/>
              </a:solidFill>
              <a:prstDash val="solid"/>
              <a:miter/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4869180" y="3840480"/>
            <a:ext cx="3703320" cy="754380"/>
            <a:chOff x="0" y="0"/>
            <a:chExt cx="4937760" cy="100584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4937760" cy="1005840"/>
            </a:xfrm>
            <a:custGeom>
              <a:avLst/>
              <a:gdLst/>
              <a:ahLst/>
              <a:cxnLst/>
              <a:rect r="r" b="b" t="t" l="l"/>
              <a:pathLst>
                <a:path h="1005840" w="4937760">
                  <a:moveTo>
                    <a:pt x="0" y="0"/>
                  </a:moveTo>
                  <a:lnTo>
                    <a:pt x="4937760" y="0"/>
                  </a:lnTo>
                  <a:lnTo>
                    <a:pt x="493776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653" r="0" b="-45653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19050"/>
              <a:ext cx="4937760" cy="10248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WhatsApp  (wa.me link)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960120" y="4690872"/>
            <a:ext cx="7680960" cy="480060"/>
            <a:chOff x="0" y="0"/>
            <a:chExt cx="10241280" cy="64008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0241280" cy="640080"/>
            </a:xfrm>
            <a:custGeom>
              <a:avLst/>
              <a:gdLst/>
              <a:ahLst/>
              <a:cxnLst/>
              <a:rect r="r" b="b" t="t" l="l"/>
              <a:pathLst>
                <a:path h="64008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1760" r="0" b="-26176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19050"/>
              <a:ext cx="10241280" cy="6591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4A4A4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Contact is a single tap on a mobile device; the tap can be logged for the request.</a:t>
              </a: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822960" y="5535930"/>
            <a:ext cx="8092440" cy="2076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52901" indent="-176451" lvl="1">
              <a:lnSpc>
                <a:spcPts val="2340"/>
              </a:lnSpc>
              <a:buFont typeface="Arial"/>
              <a:buChar char="•"/>
            </a:pPr>
            <a:r>
              <a:rPr lang="en-US" sz="1950">
                <a:solidFill>
                  <a:srgbClr val="2B2B2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Links are generated from the stored phone number</a:t>
            </a:r>
          </a:p>
          <a:p>
            <a:pPr algn="l" marL="352901" indent="-176451" lvl="1">
              <a:lnSpc>
                <a:spcPts val="2340"/>
              </a:lnSpc>
              <a:buFont typeface="Arial"/>
              <a:buChar char="•"/>
            </a:pPr>
            <a:r>
              <a:rPr lang="en-US" sz="1950">
                <a:solidFill>
                  <a:srgbClr val="2B2B2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Works on any phone without installing an app</a:t>
            </a:r>
          </a:p>
          <a:p>
            <a:pPr algn="l" marL="352901" indent="-176451" lvl="1">
              <a:lnSpc>
                <a:spcPts val="2340"/>
              </a:lnSpc>
              <a:buFont typeface="Arial"/>
              <a:buChar char="•"/>
            </a:pPr>
            <a:r>
              <a:rPr lang="en-US" sz="1950">
                <a:solidFill>
                  <a:srgbClr val="2B2B2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Contact count helps track the response to each SOS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9388316" y="1295876"/>
            <a:ext cx="8175307" cy="480632"/>
            <a:chOff x="0" y="0"/>
            <a:chExt cx="10900410" cy="640842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0900410" cy="640842"/>
            </a:xfrm>
            <a:custGeom>
              <a:avLst/>
              <a:gdLst/>
              <a:ahLst/>
              <a:cxnLst/>
              <a:rect r="r" b="b" t="t" l="l"/>
              <a:pathLst>
                <a:path h="640842" w="10900410">
                  <a:moveTo>
                    <a:pt x="0" y="0"/>
                  </a:moveTo>
                  <a:lnTo>
                    <a:pt x="10900410" y="0"/>
                  </a:lnTo>
                  <a:lnTo>
                    <a:pt x="10900410" y="640842"/>
                  </a:lnTo>
                  <a:lnTo>
                    <a:pt x="0" y="640842"/>
                  </a:lnTo>
                  <a:close/>
                </a:path>
              </a:pathLst>
            </a:custGeom>
            <a:solidFill>
              <a:srgbClr val="028090"/>
            </a:solidFill>
            <a:ln w="14288" cap="sq">
              <a:solidFill>
                <a:srgbClr val="028090"/>
              </a:solidFill>
              <a:prstDash val="solid"/>
              <a:miter/>
            </a:ln>
          </p:spPr>
        </p:sp>
      </p:grpSp>
      <p:grpSp>
        <p:nvGrpSpPr>
          <p:cNvPr name="Group 37" id="37"/>
          <p:cNvGrpSpPr/>
          <p:nvPr/>
        </p:nvGrpSpPr>
        <p:grpSpPr>
          <a:xfrm rot="0">
            <a:off x="9464040" y="1303020"/>
            <a:ext cx="8023860" cy="466344"/>
            <a:chOff x="0" y="0"/>
            <a:chExt cx="10698480" cy="621792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0698480" cy="621792"/>
            </a:xfrm>
            <a:custGeom>
              <a:avLst/>
              <a:gdLst/>
              <a:ahLst/>
              <a:cxnLst/>
              <a:rect r="r" b="b" t="t" l="l"/>
              <a:pathLst>
                <a:path h="621792" w="10698480">
                  <a:moveTo>
                    <a:pt x="0" y="0"/>
                  </a:moveTo>
                  <a:lnTo>
                    <a:pt x="10698480" y="0"/>
                  </a:lnTo>
                  <a:lnTo>
                    <a:pt x="1069848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5257" r="0" b="-285257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19050"/>
              <a:ext cx="10698480" cy="6408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4. Availability Toggle</a:t>
              </a:r>
            </a:p>
          </p:txBody>
        </p:sp>
      </p:grpSp>
      <p:sp>
        <p:nvSpPr>
          <p:cNvPr name="TextBox 40" id="40"/>
          <p:cNvSpPr txBox="true"/>
          <p:nvPr/>
        </p:nvSpPr>
        <p:spPr>
          <a:xfrm rot="0">
            <a:off x="9395460" y="1901190"/>
            <a:ext cx="8161020" cy="842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2B2B2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Donors control their own status so only people who can help are shown.</a:t>
            </a:r>
          </a:p>
        </p:txBody>
      </p:sp>
      <p:grpSp>
        <p:nvGrpSpPr>
          <p:cNvPr name="Group 41" id="41"/>
          <p:cNvGrpSpPr/>
          <p:nvPr/>
        </p:nvGrpSpPr>
        <p:grpSpPr>
          <a:xfrm rot="0">
            <a:off x="9388316" y="2873216"/>
            <a:ext cx="8175307" cy="1385888"/>
            <a:chOff x="0" y="0"/>
            <a:chExt cx="10900410" cy="184785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0900410" cy="1847850"/>
            </a:xfrm>
            <a:custGeom>
              <a:avLst/>
              <a:gdLst/>
              <a:ahLst/>
              <a:cxnLst/>
              <a:rect r="r" b="b" t="t" l="l"/>
              <a:pathLst>
                <a:path h="1847850" w="10900410">
                  <a:moveTo>
                    <a:pt x="0" y="0"/>
                  </a:moveTo>
                  <a:lnTo>
                    <a:pt x="10900410" y="0"/>
                  </a:lnTo>
                  <a:lnTo>
                    <a:pt x="10900410" y="1847850"/>
                  </a:lnTo>
                  <a:lnTo>
                    <a:pt x="0" y="1847850"/>
                  </a:ln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3CFC9"/>
              </a:solidFill>
              <a:prstDash val="solid"/>
              <a:miter/>
            </a:ln>
          </p:spPr>
        </p:sp>
      </p:grpSp>
      <p:grpSp>
        <p:nvGrpSpPr>
          <p:cNvPr name="Group 43" id="43"/>
          <p:cNvGrpSpPr/>
          <p:nvPr/>
        </p:nvGrpSpPr>
        <p:grpSpPr>
          <a:xfrm rot="0">
            <a:off x="9669780" y="2880360"/>
            <a:ext cx="2057400" cy="1371600"/>
            <a:chOff x="0" y="0"/>
            <a:chExt cx="2743200" cy="182880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27432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2743200">
                  <a:moveTo>
                    <a:pt x="0" y="0"/>
                  </a:moveTo>
                  <a:lnTo>
                    <a:pt x="2743200" y="0"/>
                  </a:lnTo>
                  <a:lnTo>
                    <a:pt x="274320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5535" t="0" r="-35535" b="0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19050"/>
              <a:ext cx="2743200" cy="1847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2B2B2B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Status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1374755" y="3213735"/>
            <a:ext cx="1939290" cy="704850"/>
            <a:chOff x="0" y="0"/>
            <a:chExt cx="2585720" cy="93980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2585720" cy="939800"/>
            </a:xfrm>
            <a:custGeom>
              <a:avLst/>
              <a:gdLst/>
              <a:ahLst/>
              <a:cxnLst/>
              <a:rect r="r" b="b" t="t" l="l"/>
              <a:pathLst>
                <a:path h="939800" w="2585720">
                  <a:moveTo>
                    <a:pt x="0" y="469900"/>
                  </a:moveTo>
                  <a:cubicBezTo>
                    <a:pt x="0" y="210439"/>
                    <a:pt x="210439" y="0"/>
                    <a:pt x="469900" y="0"/>
                  </a:cubicBezTo>
                  <a:lnTo>
                    <a:pt x="2115820" y="0"/>
                  </a:lnTo>
                  <a:cubicBezTo>
                    <a:pt x="2375281" y="0"/>
                    <a:pt x="2585720" y="210439"/>
                    <a:pt x="2585720" y="469900"/>
                  </a:cubicBezTo>
                  <a:cubicBezTo>
                    <a:pt x="2585720" y="729361"/>
                    <a:pt x="2375281" y="939800"/>
                    <a:pt x="2115820" y="939800"/>
                  </a:cubicBezTo>
                  <a:lnTo>
                    <a:pt x="469900" y="939800"/>
                  </a:lnTo>
                  <a:cubicBezTo>
                    <a:pt x="210439" y="939800"/>
                    <a:pt x="0" y="729361"/>
                    <a:pt x="0" y="469900"/>
                  </a:cubicBezTo>
                  <a:close/>
                </a:path>
              </a:pathLst>
            </a:custGeom>
            <a:solidFill>
              <a:srgbClr val="2E8B57"/>
            </a:solidFill>
            <a:ln w="19050" cap="sq">
              <a:solidFill>
                <a:srgbClr val="2E8B57"/>
              </a:solidFill>
              <a:prstDash val="solid"/>
              <a:miter/>
            </a:ln>
          </p:spPr>
        </p:sp>
      </p:grpSp>
      <p:grpSp>
        <p:nvGrpSpPr>
          <p:cNvPr name="Group 48" id="48"/>
          <p:cNvGrpSpPr/>
          <p:nvPr/>
        </p:nvGrpSpPr>
        <p:grpSpPr>
          <a:xfrm rot="0">
            <a:off x="11384280" y="3223260"/>
            <a:ext cx="1920240" cy="685800"/>
            <a:chOff x="0" y="0"/>
            <a:chExt cx="2560320" cy="91440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2560320" cy="914400"/>
            </a:xfrm>
            <a:custGeom>
              <a:avLst/>
              <a:gdLst/>
              <a:ahLst/>
              <a:cxnLst/>
              <a:rect r="r" b="b" t="t" l="l"/>
              <a:pathLst>
                <a:path h="914400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58" r="0" b="-4558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19050"/>
              <a:ext cx="2560320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AVAILABLE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13706475" y="3213735"/>
            <a:ext cx="1939290" cy="704850"/>
            <a:chOff x="0" y="0"/>
            <a:chExt cx="2585720" cy="93980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2585720" cy="939800"/>
            </a:xfrm>
            <a:custGeom>
              <a:avLst/>
              <a:gdLst/>
              <a:ahLst/>
              <a:cxnLst/>
              <a:rect r="r" b="b" t="t" l="l"/>
              <a:pathLst>
                <a:path h="939800" w="2585720">
                  <a:moveTo>
                    <a:pt x="0" y="469900"/>
                  </a:moveTo>
                  <a:cubicBezTo>
                    <a:pt x="0" y="210439"/>
                    <a:pt x="210439" y="0"/>
                    <a:pt x="469900" y="0"/>
                  </a:cubicBezTo>
                  <a:lnTo>
                    <a:pt x="2115820" y="0"/>
                  </a:lnTo>
                  <a:cubicBezTo>
                    <a:pt x="2375281" y="0"/>
                    <a:pt x="2585720" y="210439"/>
                    <a:pt x="2585720" y="469900"/>
                  </a:cubicBezTo>
                  <a:cubicBezTo>
                    <a:pt x="2585720" y="729361"/>
                    <a:pt x="2375281" y="939800"/>
                    <a:pt x="2115820" y="939800"/>
                  </a:cubicBezTo>
                  <a:lnTo>
                    <a:pt x="469900" y="939800"/>
                  </a:lnTo>
                  <a:cubicBezTo>
                    <a:pt x="210439" y="939800"/>
                    <a:pt x="0" y="729361"/>
                    <a:pt x="0" y="469900"/>
                  </a:cubicBezTo>
                  <a:close/>
                </a:path>
              </a:pathLst>
            </a:custGeom>
            <a:solidFill>
              <a:srgbClr val="DDDDDD"/>
            </a:solidFill>
            <a:ln w="19050" cap="sq">
              <a:solidFill>
                <a:srgbClr val="BBBBBB"/>
              </a:solidFill>
              <a:prstDash val="solid"/>
              <a:miter/>
            </a:ln>
          </p:spPr>
        </p:sp>
      </p:grpSp>
      <p:grpSp>
        <p:nvGrpSpPr>
          <p:cNvPr name="Group 53" id="53"/>
          <p:cNvGrpSpPr/>
          <p:nvPr/>
        </p:nvGrpSpPr>
        <p:grpSpPr>
          <a:xfrm rot="0">
            <a:off x="13716000" y="3223260"/>
            <a:ext cx="1920240" cy="685800"/>
            <a:chOff x="0" y="0"/>
            <a:chExt cx="2560320" cy="91440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2560320" cy="914400"/>
            </a:xfrm>
            <a:custGeom>
              <a:avLst/>
              <a:gdLst/>
              <a:ahLst/>
              <a:cxnLst/>
              <a:rect r="r" b="b" t="t" l="l"/>
              <a:pathLst>
                <a:path h="914400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58" r="0" b="-4558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19050"/>
              <a:ext cx="2560320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555555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UNAVAILABLE</a:t>
              </a:r>
            </a:p>
          </p:txBody>
        </p:sp>
      </p:grpSp>
      <p:sp>
        <p:nvSpPr>
          <p:cNvPr name="TextBox 56" id="56"/>
          <p:cNvSpPr txBox="true"/>
          <p:nvPr/>
        </p:nvSpPr>
        <p:spPr>
          <a:xfrm rot="0">
            <a:off x="9532620" y="4644390"/>
            <a:ext cx="8023860" cy="23507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52901" indent="-176451" lvl="1">
              <a:lnSpc>
                <a:spcPts val="2340"/>
              </a:lnSpc>
              <a:buFont typeface="Arial"/>
              <a:buChar char="•"/>
            </a:pPr>
            <a:r>
              <a:rPr lang="en-US" sz="1950">
                <a:solidFill>
                  <a:srgbClr val="2B2B2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Available donors appear in search and match results</a:t>
            </a:r>
          </a:p>
          <a:p>
            <a:pPr algn="l" marL="352901" indent="-176451" lvl="1">
              <a:lnSpc>
                <a:spcPts val="2340"/>
              </a:lnSpc>
              <a:buFont typeface="Arial"/>
              <a:buChar char="•"/>
            </a:pPr>
            <a:r>
              <a:rPr lang="en-US" sz="1950">
                <a:solidFill>
                  <a:srgbClr val="2B2B2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Unavailable donors are hidden but keep their profile</a:t>
            </a:r>
          </a:p>
          <a:p>
            <a:pPr algn="l" marL="352901" indent="-176451" lvl="1">
              <a:lnSpc>
                <a:spcPts val="2340"/>
              </a:lnSpc>
              <a:buFont typeface="Arial"/>
              <a:buChar char="•"/>
            </a:pPr>
            <a:r>
              <a:rPr lang="en-US" sz="1950">
                <a:solidFill>
                  <a:srgbClr val="2B2B2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Useful after a recent donation or when travelling</a:t>
            </a:r>
          </a:p>
        </p:txBody>
      </p:sp>
      <p:grpSp>
        <p:nvGrpSpPr>
          <p:cNvPr name="Group 57" id="57"/>
          <p:cNvGrpSpPr/>
          <p:nvPr/>
        </p:nvGrpSpPr>
        <p:grpSpPr>
          <a:xfrm rot="0">
            <a:off x="678656" y="7330916"/>
            <a:ext cx="16884968" cy="974407"/>
            <a:chOff x="0" y="0"/>
            <a:chExt cx="22513290" cy="129921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22513289" cy="1299210"/>
            </a:xfrm>
            <a:custGeom>
              <a:avLst/>
              <a:gdLst/>
              <a:ahLst/>
              <a:cxnLst/>
              <a:rect r="r" b="b" t="t" l="l"/>
              <a:pathLst>
                <a:path h="1299210" w="22513289">
                  <a:moveTo>
                    <a:pt x="0" y="0"/>
                  </a:moveTo>
                  <a:lnTo>
                    <a:pt x="22513289" y="0"/>
                  </a:lnTo>
                  <a:lnTo>
                    <a:pt x="22513289" y="1299210"/>
                  </a:lnTo>
                  <a:lnTo>
                    <a:pt x="0" y="1299210"/>
                  </a:lnTo>
                  <a:close/>
                </a:path>
              </a:pathLst>
            </a:custGeom>
            <a:solidFill>
              <a:srgbClr val="F7EDEA"/>
            </a:solidFill>
            <a:ln w="14288" cap="sq">
              <a:solidFill>
                <a:srgbClr val="E3CFC9"/>
              </a:solidFill>
              <a:prstDash val="solid"/>
              <a:miter/>
            </a:ln>
          </p:spPr>
        </p:sp>
      </p:grpSp>
      <p:grpSp>
        <p:nvGrpSpPr>
          <p:cNvPr name="Group 59" id="59"/>
          <p:cNvGrpSpPr/>
          <p:nvPr/>
        </p:nvGrpSpPr>
        <p:grpSpPr>
          <a:xfrm rot="0">
            <a:off x="960120" y="7338060"/>
            <a:ext cx="16322040" cy="960120"/>
            <a:chOff x="0" y="0"/>
            <a:chExt cx="21762720" cy="128016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21762720" cy="1280160"/>
            </a:xfrm>
            <a:custGeom>
              <a:avLst/>
              <a:gdLst/>
              <a:ahLst/>
              <a:cxnLst/>
              <a:rect r="r" b="b" t="t" l="l"/>
              <a:pathLst>
                <a:path h="1280160" w="21762720">
                  <a:moveTo>
                    <a:pt x="0" y="0"/>
                  </a:moveTo>
                  <a:lnTo>
                    <a:pt x="21762720" y="0"/>
                  </a:lnTo>
                  <a:lnTo>
                    <a:pt x="2176272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1245" r="0" b="-281245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19050"/>
              <a:ext cx="21762720" cy="12992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6E2723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Together these two features make sure every contact attempt reaches a person who is willing and able to help.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678656" y="8565356"/>
            <a:ext cx="16930230" cy="837248"/>
            <a:chOff x="0" y="0"/>
            <a:chExt cx="22573640" cy="111633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22573614" cy="1116330"/>
            </a:xfrm>
            <a:custGeom>
              <a:avLst/>
              <a:gdLst/>
              <a:ahLst/>
              <a:cxnLst/>
              <a:rect r="r" b="b" t="t" l="l"/>
              <a:pathLst>
                <a:path h="1116330" w="22573614">
                  <a:moveTo>
                    <a:pt x="0" y="0"/>
                  </a:moveTo>
                  <a:lnTo>
                    <a:pt x="22573614" y="0"/>
                  </a:lnTo>
                  <a:lnTo>
                    <a:pt x="22573614" y="1116330"/>
                  </a:lnTo>
                  <a:lnTo>
                    <a:pt x="0" y="1116330"/>
                  </a:lnTo>
                  <a:close/>
                </a:path>
              </a:pathLst>
            </a:custGeom>
            <a:solidFill>
              <a:srgbClr val="953734"/>
            </a:solidFill>
            <a:ln w="14288" cap="sq">
              <a:solidFill>
                <a:srgbClr val="953734"/>
              </a:solidFill>
              <a:prstDash val="solid"/>
              <a:miter/>
            </a:ln>
          </p:spPr>
        </p:sp>
      </p:grpSp>
      <p:grpSp>
        <p:nvGrpSpPr>
          <p:cNvPr name="Group 64" id="64"/>
          <p:cNvGrpSpPr/>
          <p:nvPr/>
        </p:nvGrpSpPr>
        <p:grpSpPr>
          <a:xfrm rot="0">
            <a:off x="754380" y="8572500"/>
            <a:ext cx="16778783" cy="822960"/>
            <a:chOff x="0" y="0"/>
            <a:chExt cx="22371710" cy="109728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22371710" cy="1097280"/>
            </a:xfrm>
            <a:custGeom>
              <a:avLst/>
              <a:gdLst/>
              <a:ahLst/>
              <a:cxnLst/>
              <a:rect r="r" b="b" t="t" l="l"/>
              <a:pathLst>
                <a:path h="1097280" w="22371710">
                  <a:moveTo>
                    <a:pt x="0" y="0"/>
                  </a:moveTo>
                  <a:lnTo>
                    <a:pt x="22371710" y="0"/>
                  </a:lnTo>
                  <a:lnTo>
                    <a:pt x="2237171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7267" r="0" b="-347267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19050"/>
              <a:ext cx="22371710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Design rule: fewer taps between an emergency and a conversation with a donor.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7144" y="102584"/>
            <a:ext cx="18301830" cy="864680"/>
            <a:chOff x="0" y="0"/>
            <a:chExt cx="24402440" cy="115290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152906"/>
            </a:xfrm>
            <a:custGeom>
              <a:avLst/>
              <a:gdLst/>
              <a:ahLst/>
              <a:cxnLst/>
              <a:rect r="r" b="b" t="t" l="l"/>
              <a:pathLst>
                <a:path h="1152906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152906"/>
                  </a:lnTo>
                  <a:lnTo>
                    <a:pt x="0" y="1152906"/>
                  </a:lnTo>
                  <a:close/>
                </a:path>
              </a:pathLst>
            </a:custGeom>
            <a:solidFill>
              <a:srgbClr val="953734"/>
            </a:solidFill>
            <a:ln w="14288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411480" y="109728"/>
            <a:ext cx="17464583" cy="850392"/>
            <a:chOff x="0" y="0"/>
            <a:chExt cx="23286110" cy="113385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3286110" cy="1133856"/>
            </a:xfrm>
            <a:custGeom>
              <a:avLst/>
              <a:gdLst/>
              <a:ahLst/>
              <a:cxnLst/>
              <a:rect r="r" b="b" t="t" l="l"/>
              <a:pathLst>
                <a:path h="1133856" w="23286110">
                  <a:moveTo>
                    <a:pt x="0" y="0"/>
                  </a:moveTo>
                  <a:lnTo>
                    <a:pt x="23286110" y="0"/>
                  </a:lnTo>
                  <a:lnTo>
                    <a:pt x="2328611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0166" r="0" b="-35016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23286110" cy="11529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60"/>
                </a:lnSpc>
              </a:pPr>
              <a:r>
                <a:rPr lang="en-US" sz="3300" b="true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Supporting Logic — Blood Compatibility &amp; Urgency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7323308" y="9738360"/>
            <a:ext cx="685800" cy="411480"/>
            <a:chOff x="0" y="0"/>
            <a:chExt cx="914400" cy="5486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91440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99999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10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78656" y="1295876"/>
            <a:ext cx="8655368" cy="480632"/>
            <a:chOff x="0" y="0"/>
            <a:chExt cx="11540490" cy="64084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1540490" cy="640842"/>
            </a:xfrm>
            <a:custGeom>
              <a:avLst/>
              <a:gdLst/>
              <a:ahLst/>
              <a:cxnLst/>
              <a:rect r="r" b="b" t="t" l="l"/>
              <a:pathLst>
                <a:path h="640842" w="11540490">
                  <a:moveTo>
                    <a:pt x="0" y="0"/>
                  </a:moveTo>
                  <a:lnTo>
                    <a:pt x="11540490" y="0"/>
                  </a:lnTo>
                  <a:lnTo>
                    <a:pt x="11540490" y="640842"/>
                  </a:lnTo>
                  <a:lnTo>
                    <a:pt x="0" y="640842"/>
                  </a:lnTo>
                  <a:close/>
                </a:path>
              </a:pathLst>
            </a:custGeom>
            <a:solidFill>
              <a:srgbClr val="6E2723"/>
            </a:solidFill>
            <a:ln w="14288" cap="sq">
              <a:solidFill>
                <a:srgbClr val="6E2723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754380" y="1303020"/>
            <a:ext cx="8503920" cy="466344"/>
            <a:chOff x="0" y="0"/>
            <a:chExt cx="11338560" cy="62179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1338560" cy="621792"/>
            </a:xfrm>
            <a:custGeom>
              <a:avLst/>
              <a:gdLst/>
              <a:ahLst/>
              <a:cxnLst/>
              <a:rect r="r" b="b" t="t" l="l"/>
              <a:pathLst>
                <a:path h="621792" w="11338560">
                  <a:moveTo>
                    <a:pt x="0" y="0"/>
                  </a:moveTo>
                  <a:lnTo>
                    <a:pt x="11338560" y="0"/>
                  </a:lnTo>
                  <a:lnTo>
                    <a:pt x="1133856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5315" r="0" b="-305315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19050"/>
              <a:ext cx="11338560" cy="6408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Donor Compatibility (Red Cell Donation)</a:t>
              </a:r>
            </a:p>
          </p:txBody>
        </p:sp>
      </p:grpSp>
      <p:graphicFrame>
        <p:nvGraphicFramePr>
          <p:cNvPr name="Table 15" id="15"/>
          <p:cNvGraphicFramePr>
            <a:graphicFrameLocks noGrp="true"/>
          </p:cNvGraphicFramePr>
          <p:nvPr/>
        </p:nvGraphicFramePr>
        <p:xfrm>
          <a:off x="685800" y="1920240"/>
          <a:ext cx="8629650" cy="5657850"/>
        </p:xfrm>
        <a:graphic>
          <a:graphicData uri="http://schemas.openxmlformats.org/drawingml/2006/table">
            <a:tbl>
              <a:tblPr/>
              <a:tblGrid>
                <a:gridCol w="2069528"/>
                <a:gridCol w="6560122"/>
              </a:tblGrid>
              <a:tr h="62865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40"/>
                        </a:lnSpc>
                        <a:defRPr/>
                      </a:pPr>
                      <a:r>
                        <a:rPr lang="en-US" sz="1950" b="true">
                          <a:solidFill>
                            <a:srgbClr val="FFFFFF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Donor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E3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3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3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3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5373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40"/>
                        </a:lnSpc>
                        <a:defRPr/>
                      </a:pPr>
                      <a:r>
                        <a:rPr lang="en-US" sz="1950" b="true">
                          <a:solidFill>
                            <a:srgbClr val="FFFFFF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Can donate to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E3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3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3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3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53734"/>
                    </a:solidFill>
                  </a:tcPr>
                </a:tc>
              </a:tr>
              <a:tr h="62865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40"/>
                        </a:lnSpc>
                        <a:defRPr/>
                      </a:pPr>
                      <a:r>
                        <a:rPr lang="en-US" sz="1950" b="true">
                          <a:solidFill>
                            <a:srgbClr val="2B2B2B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O−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E3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3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3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3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DE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2B2B2B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All groups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E3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3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3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3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DEA"/>
                    </a:solidFill>
                  </a:tcPr>
                </a:tc>
              </a:tr>
              <a:tr h="62865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40"/>
                        </a:lnSpc>
                        <a:defRPr/>
                      </a:pPr>
                      <a:r>
                        <a:rPr lang="en-US" sz="1950" b="true">
                          <a:solidFill>
                            <a:srgbClr val="2B2B2B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O+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E3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3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3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3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2B2B2B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O+, A+, B+, AB+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E3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3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3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3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40"/>
                        </a:lnSpc>
                        <a:defRPr/>
                      </a:pPr>
                      <a:r>
                        <a:rPr lang="en-US" sz="1950" b="true">
                          <a:solidFill>
                            <a:srgbClr val="2B2B2B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A−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E3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3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3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3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DE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2B2B2B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A−, A+, AB−, AB+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E3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3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3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3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DEA"/>
                    </a:solidFill>
                  </a:tcPr>
                </a:tc>
              </a:tr>
              <a:tr h="62865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40"/>
                        </a:lnSpc>
                        <a:defRPr/>
                      </a:pPr>
                      <a:r>
                        <a:rPr lang="en-US" sz="1950" b="true">
                          <a:solidFill>
                            <a:srgbClr val="2B2B2B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A+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E3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3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3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3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2B2B2B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A+, AB+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E3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3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3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3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40"/>
                        </a:lnSpc>
                        <a:defRPr/>
                      </a:pPr>
                      <a:r>
                        <a:rPr lang="en-US" sz="1950" b="true">
                          <a:solidFill>
                            <a:srgbClr val="2B2B2B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B−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E3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3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3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3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DE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2B2B2B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B−, B+, AB−, AB+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E3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3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3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3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DEA"/>
                    </a:solidFill>
                  </a:tcPr>
                </a:tc>
              </a:tr>
              <a:tr h="62865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40"/>
                        </a:lnSpc>
                        <a:defRPr/>
                      </a:pPr>
                      <a:r>
                        <a:rPr lang="en-US" sz="1950" b="true">
                          <a:solidFill>
                            <a:srgbClr val="2B2B2B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B+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E3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3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3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3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2B2B2B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B+, AB+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E3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3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3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3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40"/>
                        </a:lnSpc>
                        <a:defRPr/>
                      </a:pPr>
                      <a:r>
                        <a:rPr lang="en-US" sz="1950" b="true">
                          <a:solidFill>
                            <a:srgbClr val="2B2B2B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AB−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E3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3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3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3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DE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2B2B2B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AB−, AB+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E3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3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3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3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DEA"/>
                    </a:solidFill>
                  </a:tcPr>
                </a:tc>
              </a:tr>
              <a:tr h="62865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40"/>
                        </a:lnSpc>
                        <a:defRPr/>
                      </a:pPr>
                      <a:r>
                        <a:rPr lang="en-US" sz="1950" b="true">
                          <a:solidFill>
                            <a:srgbClr val="2B2B2B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AB+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E3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3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3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3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2B2B2B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AB+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E3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E3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E3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E3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name="TextBox 16" id="16"/>
          <p:cNvSpPr txBox="true"/>
          <p:nvPr/>
        </p:nvSpPr>
        <p:spPr>
          <a:xfrm rot="0">
            <a:off x="685800" y="7730490"/>
            <a:ext cx="8641080" cy="842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4A4A4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matching engine uses this table so an SOS for AB+ can also surface O and A donors.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9868376" y="1295876"/>
            <a:ext cx="7695247" cy="480632"/>
            <a:chOff x="0" y="0"/>
            <a:chExt cx="10260330" cy="64084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260330" cy="640842"/>
            </a:xfrm>
            <a:custGeom>
              <a:avLst/>
              <a:gdLst/>
              <a:ahLst/>
              <a:cxnLst/>
              <a:rect r="r" b="b" t="t" l="l"/>
              <a:pathLst>
                <a:path h="640842" w="10260330">
                  <a:moveTo>
                    <a:pt x="0" y="0"/>
                  </a:moveTo>
                  <a:lnTo>
                    <a:pt x="10260330" y="0"/>
                  </a:lnTo>
                  <a:lnTo>
                    <a:pt x="10260330" y="640842"/>
                  </a:lnTo>
                  <a:lnTo>
                    <a:pt x="0" y="640842"/>
                  </a:lnTo>
                  <a:close/>
                </a:path>
              </a:pathLst>
            </a:custGeom>
            <a:solidFill>
              <a:srgbClr val="444444"/>
            </a:solidFill>
            <a:ln w="14288" cap="sq">
              <a:solidFill>
                <a:srgbClr val="444444"/>
              </a:solidFill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9944100" y="1303020"/>
            <a:ext cx="7543800" cy="466344"/>
            <a:chOff x="0" y="0"/>
            <a:chExt cx="10058400" cy="62179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058400" cy="621792"/>
            </a:xfrm>
            <a:custGeom>
              <a:avLst/>
              <a:gdLst/>
              <a:ahLst/>
              <a:cxnLst/>
              <a:rect r="r" b="b" t="t" l="l"/>
              <a:pathLst>
                <a:path h="621792" w="10058400">
                  <a:moveTo>
                    <a:pt x="0" y="0"/>
                  </a:moveTo>
                  <a:lnTo>
                    <a:pt x="10058400" y="0"/>
                  </a:lnTo>
                  <a:lnTo>
                    <a:pt x="1005840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5199" r="0" b="-265199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19050"/>
              <a:ext cx="10058400" cy="6408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Urgency Classification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9868376" y="1913096"/>
            <a:ext cx="2620328" cy="768668"/>
            <a:chOff x="0" y="0"/>
            <a:chExt cx="3493770" cy="102489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493770" cy="1024890"/>
            </a:xfrm>
            <a:custGeom>
              <a:avLst/>
              <a:gdLst/>
              <a:ahLst/>
              <a:cxnLst/>
              <a:rect r="r" b="b" t="t" l="l"/>
              <a:pathLst>
                <a:path h="1024890" w="3493770">
                  <a:moveTo>
                    <a:pt x="0" y="0"/>
                  </a:moveTo>
                  <a:lnTo>
                    <a:pt x="3493770" y="0"/>
                  </a:lnTo>
                  <a:lnTo>
                    <a:pt x="3493770" y="1024890"/>
                  </a:lnTo>
                  <a:lnTo>
                    <a:pt x="0" y="1024890"/>
                  </a:lnTo>
                  <a:close/>
                </a:path>
              </a:pathLst>
            </a:custGeom>
            <a:solidFill>
              <a:srgbClr val="CC1414"/>
            </a:solidFill>
            <a:ln w="14288" cap="sq">
              <a:solidFill>
                <a:srgbClr val="CC1414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9944100" y="1920240"/>
            <a:ext cx="2468880" cy="754380"/>
            <a:chOff x="0" y="0"/>
            <a:chExt cx="3291840" cy="100584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3291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3291840">
                  <a:moveTo>
                    <a:pt x="0" y="0"/>
                  </a:moveTo>
                  <a:lnTo>
                    <a:pt x="3291840" y="0"/>
                  </a:lnTo>
                  <a:lnTo>
                    <a:pt x="32918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69" r="0" b="-13769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19050"/>
              <a:ext cx="3291840" cy="10248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CRITICAL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2755880" y="1920240"/>
            <a:ext cx="4800600" cy="754380"/>
            <a:chOff x="0" y="0"/>
            <a:chExt cx="6400800" cy="100584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6400800" cy="1005840"/>
            </a:xfrm>
            <a:custGeom>
              <a:avLst/>
              <a:gdLst/>
              <a:ahLst/>
              <a:cxnLst/>
              <a:rect r="r" b="b" t="t" l="l"/>
              <a:pathLst>
                <a:path h="1005840" w="6400800">
                  <a:moveTo>
                    <a:pt x="0" y="0"/>
                  </a:moveTo>
                  <a:lnTo>
                    <a:pt x="6400800" y="0"/>
                  </a:lnTo>
                  <a:lnTo>
                    <a:pt x="640080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3995" r="0" b="-73995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19050"/>
              <a:ext cx="6400800" cy="10248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2B2B2B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Needed immediately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9868376" y="2873216"/>
            <a:ext cx="2620328" cy="768668"/>
            <a:chOff x="0" y="0"/>
            <a:chExt cx="3493770" cy="102489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3493770" cy="1024890"/>
            </a:xfrm>
            <a:custGeom>
              <a:avLst/>
              <a:gdLst/>
              <a:ahLst/>
              <a:cxnLst/>
              <a:rect r="r" b="b" t="t" l="l"/>
              <a:pathLst>
                <a:path h="1024890" w="3493770">
                  <a:moveTo>
                    <a:pt x="0" y="0"/>
                  </a:moveTo>
                  <a:lnTo>
                    <a:pt x="3493770" y="0"/>
                  </a:lnTo>
                  <a:lnTo>
                    <a:pt x="3493770" y="1024890"/>
                  </a:lnTo>
                  <a:lnTo>
                    <a:pt x="0" y="1024890"/>
                  </a:lnTo>
                  <a:close/>
                </a:path>
              </a:pathLst>
            </a:custGeom>
            <a:solidFill>
              <a:srgbClr val="C98A2C"/>
            </a:solidFill>
            <a:ln w="14288" cap="sq">
              <a:solidFill>
                <a:srgbClr val="C98A2C"/>
              </a:solidFill>
              <a:prstDash val="solid"/>
              <a:miter/>
            </a:ln>
          </p:spPr>
        </p:sp>
      </p:grpSp>
      <p:grpSp>
        <p:nvGrpSpPr>
          <p:cNvPr name="Group 32" id="32"/>
          <p:cNvGrpSpPr/>
          <p:nvPr/>
        </p:nvGrpSpPr>
        <p:grpSpPr>
          <a:xfrm rot="0">
            <a:off x="9944100" y="2880360"/>
            <a:ext cx="2468880" cy="754380"/>
            <a:chOff x="0" y="0"/>
            <a:chExt cx="3291840" cy="100584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3291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3291840">
                  <a:moveTo>
                    <a:pt x="0" y="0"/>
                  </a:moveTo>
                  <a:lnTo>
                    <a:pt x="3291840" y="0"/>
                  </a:lnTo>
                  <a:lnTo>
                    <a:pt x="32918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69" r="0" b="-13769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19050"/>
              <a:ext cx="3291840" cy="10248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URGENT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2755880" y="2880360"/>
            <a:ext cx="4800600" cy="754380"/>
            <a:chOff x="0" y="0"/>
            <a:chExt cx="6400800" cy="100584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6400800" cy="1005840"/>
            </a:xfrm>
            <a:custGeom>
              <a:avLst/>
              <a:gdLst/>
              <a:ahLst/>
              <a:cxnLst/>
              <a:rect r="r" b="b" t="t" l="l"/>
              <a:pathLst>
                <a:path h="1005840" w="6400800">
                  <a:moveTo>
                    <a:pt x="0" y="0"/>
                  </a:moveTo>
                  <a:lnTo>
                    <a:pt x="6400800" y="0"/>
                  </a:lnTo>
                  <a:lnTo>
                    <a:pt x="640080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3995" r="0" b="-73995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19050"/>
              <a:ext cx="6400800" cy="10248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2B2B2B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Needed within hours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9868376" y="3833336"/>
            <a:ext cx="2620328" cy="768668"/>
            <a:chOff x="0" y="0"/>
            <a:chExt cx="3493770" cy="102489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3493770" cy="1024890"/>
            </a:xfrm>
            <a:custGeom>
              <a:avLst/>
              <a:gdLst/>
              <a:ahLst/>
              <a:cxnLst/>
              <a:rect r="r" b="b" t="t" l="l"/>
              <a:pathLst>
                <a:path h="1024890" w="3493770">
                  <a:moveTo>
                    <a:pt x="0" y="0"/>
                  </a:moveTo>
                  <a:lnTo>
                    <a:pt x="3493770" y="0"/>
                  </a:lnTo>
                  <a:lnTo>
                    <a:pt x="3493770" y="1024890"/>
                  </a:lnTo>
                  <a:lnTo>
                    <a:pt x="0" y="1024890"/>
                  </a:lnTo>
                  <a:close/>
                </a:path>
              </a:pathLst>
            </a:custGeom>
            <a:solidFill>
              <a:srgbClr val="028090"/>
            </a:solidFill>
            <a:ln w="14288" cap="sq">
              <a:solidFill>
                <a:srgbClr val="028090"/>
              </a:solidFill>
              <a:prstDash val="solid"/>
              <a:miter/>
            </a:ln>
          </p:spPr>
        </p:sp>
      </p:grpSp>
      <p:grpSp>
        <p:nvGrpSpPr>
          <p:cNvPr name="Group 40" id="40"/>
          <p:cNvGrpSpPr/>
          <p:nvPr/>
        </p:nvGrpSpPr>
        <p:grpSpPr>
          <a:xfrm rot="0">
            <a:off x="9944100" y="3840480"/>
            <a:ext cx="2468880" cy="754380"/>
            <a:chOff x="0" y="0"/>
            <a:chExt cx="3291840" cy="100584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3291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3291840">
                  <a:moveTo>
                    <a:pt x="0" y="0"/>
                  </a:moveTo>
                  <a:lnTo>
                    <a:pt x="3291840" y="0"/>
                  </a:lnTo>
                  <a:lnTo>
                    <a:pt x="32918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69" r="0" b="-13769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19050"/>
              <a:ext cx="3291840" cy="10248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PLANNED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2755880" y="3840480"/>
            <a:ext cx="4800600" cy="754380"/>
            <a:chOff x="0" y="0"/>
            <a:chExt cx="6400800" cy="100584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6400800" cy="1005840"/>
            </a:xfrm>
            <a:custGeom>
              <a:avLst/>
              <a:gdLst/>
              <a:ahLst/>
              <a:cxnLst/>
              <a:rect r="r" b="b" t="t" l="l"/>
              <a:pathLst>
                <a:path h="1005840" w="6400800">
                  <a:moveTo>
                    <a:pt x="0" y="0"/>
                  </a:moveTo>
                  <a:lnTo>
                    <a:pt x="6400800" y="0"/>
                  </a:lnTo>
                  <a:lnTo>
                    <a:pt x="640080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3995" r="0" b="-73995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19050"/>
              <a:ext cx="6400800" cy="10248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2B2B2B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Scheduled surgery / transfusion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9868376" y="4793456"/>
            <a:ext cx="2620328" cy="768668"/>
            <a:chOff x="0" y="0"/>
            <a:chExt cx="3493770" cy="102489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3493770" cy="1024890"/>
            </a:xfrm>
            <a:custGeom>
              <a:avLst/>
              <a:gdLst/>
              <a:ahLst/>
              <a:cxnLst/>
              <a:rect r="r" b="b" t="t" l="l"/>
              <a:pathLst>
                <a:path h="1024890" w="3493770">
                  <a:moveTo>
                    <a:pt x="0" y="0"/>
                  </a:moveTo>
                  <a:lnTo>
                    <a:pt x="3493770" y="0"/>
                  </a:lnTo>
                  <a:lnTo>
                    <a:pt x="3493770" y="1024890"/>
                  </a:lnTo>
                  <a:lnTo>
                    <a:pt x="0" y="1024890"/>
                  </a:lnTo>
                  <a:close/>
                </a:path>
              </a:pathLst>
            </a:custGeom>
            <a:solidFill>
              <a:srgbClr val="2E8B57"/>
            </a:solidFill>
            <a:ln w="14288" cap="sq">
              <a:solidFill>
                <a:srgbClr val="2E8B57"/>
              </a:solidFill>
              <a:prstDash val="solid"/>
              <a:miter/>
            </a:ln>
          </p:spPr>
        </p:sp>
      </p:grpSp>
      <p:grpSp>
        <p:nvGrpSpPr>
          <p:cNvPr name="Group 48" id="48"/>
          <p:cNvGrpSpPr/>
          <p:nvPr/>
        </p:nvGrpSpPr>
        <p:grpSpPr>
          <a:xfrm rot="0">
            <a:off x="9944100" y="4800600"/>
            <a:ext cx="2468880" cy="754380"/>
            <a:chOff x="0" y="0"/>
            <a:chExt cx="3291840" cy="100584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3291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3291840">
                  <a:moveTo>
                    <a:pt x="0" y="0"/>
                  </a:moveTo>
                  <a:lnTo>
                    <a:pt x="3291840" y="0"/>
                  </a:lnTo>
                  <a:lnTo>
                    <a:pt x="32918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69" r="0" b="-13769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19050"/>
              <a:ext cx="3291840" cy="10248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FULFILLED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12755880" y="4800600"/>
            <a:ext cx="4800600" cy="754380"/>
            <a:chOff x="0" y="0"/>
            <a:chExt cx="6400800" cy="100584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6400800" cy="1005840"/>
            </a:xfrm>
            <a:custGeom>
              <a:avLst/>
              <a:gdLst/>
              <a:ahLst/>
              <a:cxnLst/>
              <a:rect r="r" b="b" t="t" l="l"/>
              <a:pathLst>
                <a:path h="1005840" w="6400800">
                  <a:moveTo>
                    <a:pt x="0" y="0"/>
                  </a:moveTo>
                  <a:lnTo>
                    <a:pt x="6400800" y="0"/>
                  </a:lnTo>
                  <a:lnTo>
                    <a:pt x="640080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3995" r="0" b="-73995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19050"/>
              <a:ext cx="6400800" cy="10248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2B2B2B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Request closed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9868376" y="5959316"/>
            <a:ext cx="7695247" cy="480632"/>
            <a:chOff x="0" y="0"/>
            <a:chExt cx="10260330" cy="640842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0260330" cy="640842"/>
            </a:xfrm>
            <a:custGeom>
              <a:avLst/>
              <a:gdLst/>
              <a:ahLst/>
              <a:cxnLst/>
              <a:rect r="r" b="b" t="t" l="l"/>
              <a:pathLst>
                <a:path h="640842" w="10260330">
                  <a:moveTo>
                    <a:pt x="0" y="0"/>
                  </a:moveTo>
                  <a:lnTo>
                    <a:pt x="10260330" y="0"/>
                  </a:lnTo>
                  <a:lnTo>
                    <a:pt x="10260330" y="640842"/>
                  </a:lnTo>
                  <a:lnTo>
                    <a:pt x="0" y="640842"/>
                  </a:lnTo>
                  <a:close/>
                </a:path>
              </a:pathLst>
            </a:custGeom>
            <a:solidFill>
              <a:srgbClr val="953734"/>
            </a:solidFill>
            <a:ln w="14288" cap="sq">
              <a:solidFill>
                <a:srgbClr val="953734"/>
              </a:solidFill>
              <a:prstDash val="solid"/>
              <a:miter/>
            </a:ln>
          </p:spPr>
        </p:sp>
      </p:grpSp>
      <p:grpSp>
        <p:nvGrpSpPr>
          <p:cNvPr name="Group 56" id="56"/>
          <p:cNvGrpSpPr/>
          <p:nvPr/>
        </p:nvGrpSpPr>
        <p:grpSpPr>
          <a:xfrm rot="0">
            <a:off x="9944100" y="5966460"/>
            <a:ext cx="7543800" cy="466344"/>
            <a:chOff x="0" y="0"/>
            <a:chExt cx="10058400" cy="621792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0058400" cy="621792"/>
            </a:xfrm>
            <a:custGeom>
              <a:avLst/>
              <a:gdLst/>
              <a:ahLst/>
              <a:cxnLst/>
              <a:rect r="r" b="b" t="t" l="l"/>
              <a:pathLst>
                <a:path h="621792" w="10058400">
                  <a:moveTo>
                    <a:pt x="0" y="0"/>
                  </a:moveTo>
                  <a:lnTo>
                    <a:pt x="10058400" y="0"/>
                  </a:lnTo>
                  <a:lnTo>
                    <a:pt x="1005840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5199" r="0" b="-265199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19050"/>
              <a:ext cx="10058400" cy="6408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Each SOS Request Contains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9868376" y="6576536"/>
            <a:ext cx="3786188" cy="590360"/>
            <a:chOff x="0" y="0"/>
            <a:chExt cx="5048250" cy="787146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5048250" cy="787146"/>
            </a:xfrm>
            <a:custGeom>
              <a:avLst/>
              <a:gdLst/>
              <a:ahLst/>
              <a:cxnLst/>
              <a:rect r="r" b="b" t="t" l="l"/>
              <a:pathLst>
                <a:path h="787146" w="5048250">
                  <a:moveTo>
                    <a:pt x="0" y="0"/>
                  </a:moveTo>
                  <a:lnTo>
                    <a:pt x="5048250" y="0"/>
                  </a:lnTo>
                  <a:lnTo>
                    <a:pt x="5048250" y="787146"/>
                  </a:lnTo>
                  <a:lnTo>
                    <a:pt x="0" y="787146"/>
                  </a:lnTo>
                  <a:close/>
                </a:path>
              </a:pathLst>
            </a:custGeom>
            <a:solidFill>
              <a:srgbClr val="F7EDEA"/>
            </a:solidFill>
            <a:ln w="14288" cap="sq">
              <a:solidFill>
                <a:srgbClr val="E3CFC9"/>
              </a:solidFill>
              <a:prstDash val="solid"/>
              <a:miter/>
            </a:ln>
          </p:spPr>
        </p:sp>
      </p:grpSp>
      <p:grpSp>
        <p:nvGrpSpPr>
          <p:cNvPr name="Group 61" id="61"/>
          <p:cNvGrpSpPr/>
          <p:nvPr/>
        </p:nvGrpSpPr>
        <p:grpSpPr>
          <a:xfrm rot="0">
            <a:off x="9980486" y="6647497"/>
            <a:ext cx="448437" cy="448437"/>
            <a:chOff x="0" y="0"/>
            <a:chExt cx="597916" cy="597916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597916" cy="597916"/>
            </a:xfrm>
            <a:custGeom>
              <a:avLst/>
              <a:gdLst/>
              <a:ahLst/>
              <a:cxnLst/>
              <a:rect r="r" b="b" t="t" l="l"/>
              <a:pathLst>
                <a:path h="597916" w="597916">
                  <a:moveTo>
                    <a:pt x="0" y="298958"/>
                  </a:moveTo>
                  <a:cubicBezTo>
                    <a:pt x="0" y="133858"/>
                    <a:pt x="133858" y="0"/>
                    <a:pt x="298958" y="0"/>
                  </a:cubicBezTo>
                  <a:cubicBezTo>
                    <a:pt x="464058" y="0"/>
                    <a:pt x="597916" y="133858"/>
                    <a:pt x="597916" y="298958"/>
                  </a:cubicBezTo>
                  <a:cubicBezTo>
                    <a:pt x="597916" y="464058"/>
                    <a:pt x="464058" y="597916"/>
                    <a:pt x="298958" y="597916"/>
                  </a:cubicBezTo>
                  <a:cubicBezTo>
                    <a:pt x="133858" y="597916"/>
                    <a:pt x="0" y="464058"/>
                    <a:pt x="0" y="298958"/>
                  </a:cubicBezTo>
                  <a:close/>
                </a:path>
              </a:pathLst>
            </a:custGeom>
            <a:solidFill>
              <a:srgbClr val="953734"/>
            </a:solidFill>
            <a:ln w="9525" cap="sq">
              <a:solidFill>
                <a:srgbClr val="953734"/>
              </a:solidFill>
              <a:prstDash val="solid"/>
              <a:miter/>
            </a:ln>
          </p:spPr>
        </p:sp>
      </p:grpSp>
      <p:grpSp>
        <p:nvGrpSpPr>
          <p:cNvPr name="Group 63" id="63"/>
          <p:cNvGrpSpPr/>
          <p:nvPr/>
        </p:nvGrpSpPr>
        <p:grpSpPr>
          <a:xfrm rot="0">
            <a:off x="9985248" y="6652260"/>
            <a:ext cx="438912" cy="438912"/>
            <a:chOff x="0" y="0"/>
            <a:chExt cx="585216" cy="585216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0"/>
                  </a:moveTo>
                  <a:lnTo>
                    <a:pt x="585216" y="0"/>
                  </a:lnTo>
                  <a:lnTo>
                    <a:pt x="585216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19050"/>
              <a:ext cx="585216" cy="6042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1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10561320" y="6583680"/>
            <a:ext cx="3017520" cy="576072"/>
            <a:chOff x="0" y="0"/>
            <a:chExt cx="4023360" cy="768096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4023360" cy="768096"/>
            </a:xfrm>
            <a:custGeom>
              <a:avLst/>
              <a:gdLst/>
              <a:ahLst/>
              <a:cxnLst/>
              <a:rect r="r" b="b" t="t" l="l"/>
              <a:pathLst>
                <a:path h="768096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064" r="0" b="-52064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19050"/>
              <a:ext cx="4023360" cy="7871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2B2B2B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Blood Group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13777436" y="6576536"/>
            <a:ext cx="3786188" cy="590360"/>
            <a:chOff x="0" y="0"/>
            <a:chExt cx="5048250" cy="787146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5048250" cy="787146"/>
            </a:xfrm>
            <a:custGeom>
              <a:avLst/>
              <a:gdLst/>
              <a:ahLst/>
              <a:cxnLst/>
              <a:rect r="r" b="b" t="t" l="l"/>
              <a:pathLst>
                <a:path h="787146" w="5048250">
                  <a:moveTo>
                    <a:pt x="0" y="0"/>
                  </a:moveTo>
                  <a:lnTo>
                    <a:pt x="5048250" y="0"/>
                  </a:lnTo>
                  <a:lnTo>
                    <a:pt x="5048250" y="787146"/>
                  </a:lnTo>
                  <a:lnTo>
                    <a:pt x="0" y="787146"/>
                  </a:lnTo>
                  <a:close/>
                </a:path>
              </a:pathLst>
            </a:custGeom>
            <a:solidFill>
              <a:srgbClr val="F7EDEA"/>
            </a:solidFill>
            <a:ln w="14288" cap="sq">
              <a:solidFill>
                <a:srgbClr val="E3CFC9"/>
              </a:solidFill>
              <a:prstDash val="solid"/>
              <a:miter/>
            </a:ln>
          </p:spPr>
        </p:sp>
      </p:grpSp>
      <p:grpSp>
        <p:nvGrpSpPr>
          <p:cNvPr name="Group 71" id="71"/>
          <p:cNvGrpSpPr/>
          <p:nvPr/>
        </p:nvGrpSpPr>
        <p:grpSpPr>
          <a:xfrm rot="0">
            <a:off x="13889546" y="6647497"/>
            <a:ext cx="448437" cy="448437"/>
            <a:chOff x="0" y="0"/>
            <a:chExt cx="597916" cy="597916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597916" cy="597916"/>
            </a:xfrm>
            <a:custGeom>
              <a:avLst/>
              <a:gdLst/>
              <a:ahLst/>
              <a:cxnLst/>
              <a:rect r="r" b="b" t="t" l="l"/>
              <a:pathLst>
                <a:path h="597916" w="597916">
                  <a:moveTo>
                    <a:pt x="0" y="298958"/>
                  </a:moveTo>
                  <a:cubicBezTo>
                    <a:pt x="0" y="133858"/>
                    <a:pt x="133858" y="0"/>
                    <a:pt x="298958" y="0"/>
                  </a:cubicBezTo>
                  <a:cubicBezTo>
                    <a:pt x="464058" y="0"/>
                    <a:pt x="597916" y="133858"/>
                    <a:pt x="597916" y="298958"/>
                  </a:cubicBezTo>
                  <a:cubicBezTo>
                    <a:pt x="597916" y="464058"/>
                    <a:pt x="464058" y="597916"/>
                    <a:pt x="298958" y="597916"/>
                  </a:cubicBezTo>
                  <a:cubicBezTo>
                    <a:pt x="133858" y="597916"/>
                    <a:pt x="0" y="464058"/>
                    <a:pt x="0" y="298958"/>
                  </a:cubicBezTo>
                  <a:close/>
                </a:path>
              </a:pathLst>
            </a:custGeom>
            <a:solidFill>
              <a:srgbClr val="953734"/>
            </a:solidFill>
            <a:ln w="9525" cap="sq">
              <a:solidFill>
                <a:srgbClr val="953734"/>
              </a:solidFill>
              <a:prstDash val="solid"/>
              <a:miter/>
            </a:ln>
          </p:spPr>
        </p:sp>
      </p:grpSp>
      <p:grpSp>
        <p:nvGrpSpPr>
          <p:cNvPr name="Group 73" id="73"/>
          <p:cNvGrpSpPr/>
          <p:nvPr/>
        </p:nvGrpSpPr>
        <p:grpSpPr>
          <a:xfrm rot="0">
            <a:off x="13894308" y="6652260"/>
            <a:ext cx="438912" cy="438912"/>
            <a:chOff x="0" y="0"/>
            <a:chExt cx="585216" cy="585216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0"/>
                  </a:moveTo>
                  <a:lnTo>
                    <a:pt x="585216" y="0"/>
                  </a:lnTo>
                  <a:lnTo>
                    <a:pt x="585216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-19050"/>
              <a:ext cx="585216" cy="6042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2</a:t>
              </a:r>
            </a:p>
          </p:txBody>
        </p:sp>
      </p:grpSp>
      <p:grpSp>
        <p:nvGrpSpPr>
          <p:cNvPr name="Group 76" id="76"/>
          <p:cNvGrpSpPr/>
          <p:nvPr/>
        </p:nvGrpSpPr>
        <p:grpSpPr>
          <a:xfrm rot="0">
            <a:off x="14470380" y="6583680"/>
            <a:ext cx="3017520" cy="576072"/>
            <a:chOff x="0" y="0"/>
            <a:chExt cx="4023360" cy="768096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4023360" cy="768096"/>
            </a:xfrm>
            <a:custGeom>
              <a:avLst/>
              <a:gdLst/>
              <a:ahLst/>
              <a:cxnLst/>
              <a:rect r="r" b="b" t="t" l="l"/>
              <a:pathLst>
                <a:path h="768096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064" r="0" b="-52064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-19050"/>
              <a:ext cx="4023360" cy="7871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2B2B2B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Units Needed</a:t>
              </a:r>
            </a:p>
          </p:txBody>
        </p:sp>
      </p:grpSp>
      <p:grpSp>
        <p:nvGrpSpPr>
          <p:cNvPr name="Group 79" id="79"/>
          <p:cNvGrpSpPr/>
          <p:nvPr/>
        </p:nvGrpSpPr>
        <p:grpSpPr>
          <a:xfrm rot="0">
            <a:off x="9868376" y="7262336"/>
            <a:ext cx="3786188" cy="590360"/>
            <a:chOff x="0" y="0"/>
            <a:chExt cx="5048250" cy="787146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5048250" cy="787146"/>
            </a:xfrm>
            <a:custGeom>
              <a:avLst/>
              <a:gdLst/>
              <a:ahLst/>
              <a:cxnLst/>
              <a:rect r="r" b="b" t="t" l="l"/>
              <a:pathLst>
                <a:path h="787146" w="5048250">
                  <a:moveTo>
                    <a:pt x="0" y="0"/>
                  </a:moveTo>
                  <a:lnTo>
                    <a:pt x="5048250" y="0"/>
                  </a:lnTo>
                  <a:lnTo>
                    <a:pt x="5048250" y="787146"/>
                  </a:lnTo>
                  <a:lnTo>
                    <a:pt x="0" y="787146"/>
                  </a:lnTo>
                  <a:close/>
                </a:path>
              </a:pathLst>
            </a:custGeom>
            <a:solidFill>
              <a:srgbClr val="F7EDEA"/>
            </a:solidFill>
            <a:ln w="14288" cap="sq">
              <a:solidFill>
                <a:srgbClr val="E3CFC9"/>
              </a:solidFill>
              <a:prstDash val="solid"/>
              <a:miter/>
            </a:ln>
          </p:spPr>
        </p:sp>
      </p:grpSp>
      <p:grpSp>
        <p:nvGrpSpPr>
          <p:cNvPr name="Group 81" id="81"/>
          <p:cNvGrpSpPr/>
          <p:nvPr/>
        </p:nvGrpSpPr>
        <p:grpSpPr>
          <a:xfrm rot="0">
            <a:off x="9980486" y="7333297"/>
            <a:ext cx="448437" cy="448437"/>
            <a:chOff x="0" y="0"/>
            <a:chExt cx="597916" cy="597916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597916" cy="597916"/>
            </a:xfrm>
            <a:custGeom>
              <a:avLst/>
              <a:gdLst/>
              <a:ahLst/>
              <a:cxnLst/>
              <a:rect r="r" b="b" t="t" l="l"/>
              <a:pathLst>
                <a:path h="597916" w="597916">
                  <a:moveTo>
                    <a:pt x="0" y="298958"/>
                  </a:moveTo>
                  <a:cubicBezTo>
                    <a:pt x="0" y="133858"/>
                    <a:pt x="133858" y="0"/>
                    <a:pt x="298958" y="0"/>
                  </a:cubicBezTo>
                  <a:cubicBezTo>
                    <a:pt x="464058" y="0"/>
                    <a:pt x="597916" y="133858"/>
                    <a:pt x="597916" y="298958"/>
                  </a:cubicBezTo>
                  <a:cubicBezTo>
                    <a:pt x="597916" y="464058"/>
                    <a:pt x="464058" y="597916"/>
                    <a:pt x="298958" y="597916"/>
                  </a:cubicBezTo>
                  <a:cubicBezTo>
                    <a:pt x="133858" y="597916"/>
                    <a:pt x="0" y="464058"/>
                    <a:pt x="0" y="298958"/>
                  </a:cubicBezTo>
                  <a:close/>
                </a:path>
              </a:pathLst>
            </a:custGeom>
            <a:solidFill>
              <a:srgbClr val="953734"/>
            </a:solidFill>
            <a:ln w="9525" cap="sq">
              <a:solidFill>
                <a:srgbClr val="953734"/>
              </a:solidFill>
              <a:prstDash val="solid"/>
              <a:miter/>
            </a:ln>
          </p:spPr>
        </p:sp>
      </p:grpSp>
      <p:grpSp>
        <p:nvGrpSpPr>
          <p:cNvPr name="Group 83" id="83"/>
          <p:cNvGrpSpPr/>
          <p:nvPr/>
        </p:nvGrpSpPr>
        <p:grpSpPr>
          <a:xfrm rot="0">
            <a:off x="9985248" y="7338060"/>
            <a:ext cx="438912" cy="438912"/>
            <a:chOff x="0" y="0"/>
            <a:chExt cx="585216" cy="585216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0"/>
                  </a:moveTo>
                  <a:lnTo>
                    <a:pt x="585216" y="0"/>
                  </a:lnTo>
                  <a:lnTo>
                    <a:pt x="585216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-19050"/>
              <a:ext cx="585216" cy="6042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3</a:t>
              </a:r>
            </a:p>
          </p:txBody>
        </p:sp>
      </p:grpSp>
      <p:grpSp>
        <p:nvGrpSpPr>
          <p:cNvPr name="Group 86" id="86"/>
          <p:cNvGrpSpPr/>
          <p:nvPr/>
        </p:nvGrpSpPr>
        <p:grpSpPr>
          <a:xfrm rot="0">
            <a:off x="10561320" y="7269480"/>
            <a:ext cx="3017520" cy="576072"/>
            <a:chOff x="0" y="0"/>
            <a:chExt cx="4023360" cy="768096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4023360" cy="768096"/>
            </a:xfrm>
            <a:custGeom>
              <a:avLst/>
              <a:gdLst/>
              <a:ahLst/>
              <a:cxnLst/>
              <a:rect r="r" b="b" t="t" l="l"/>
              <a:pathLst>
                <a:path h="768096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064" r="0" b="-52064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19050"/>
              <a:ext cx="4023360" cy="7871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2B2B2B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Hospital</a:t>
              </a: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13777436" y="7262336"/>
            <a:ext cx="3786188" cy="590360"/>
            <a:chOff x="0" y="0"/>
            <a:chExt cx="5048250" cy="787146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5048250" cy="787146"/>
            </a:xfrm>
            <a:custGeom>
              <a:avLst/>
              <a:gdLst/>
              <a:ahLst/>
              <a:cxnLst/>
              <a:rect r="r" b="b" t="t" l="l"/>
              <a:pathLst>
                <a:path h="787146" w="5048250">
                  <a:moveTo>
                    <a:pt x="0" y="0"/>
                  </a:moveTo>
                  <a:lnTo>
                    <a:pt x="5048250" y="0"/>
                  </a:lnTo>
                  <a:lnTo>
                    <a:pt x="5048250" y="787146"/>
                  </a:lnTo>
                  <a:lnTo>
                    <a:pt x="0" y="787146"/>
                  </a:lnTo>
                  <a:close/>
                </a:path>
              </a:pathLst>
            </a:custGeom>
            <a:solidFill>
              <a:srgbClr val="F7EDEA"/>
            </a:solidFill>
            <a:ln w="14288" cap="sq">
              <a:solidFill>
                <a:srgbClr val="E3CFC9"/>
              </a:solidFill>
              <a:prstDash val="solid"/>
              <a:miter/>
            </a:ln>
          </p:spPr>
        </p:sp>
      </p:grpSp>
      <p:grpSp>
        <p:nvGrpSpPr>
          <p:cNvPr name="Group 91" id="91"/>
          <p:cNvGrpSpPr/>
          <p:nvPr/>
        </p:nvGrpSpPr>
        <p:grpSpPr>
          <a:xfrm rot="0">
            <a:off x="13889546" y="7333297"/>
            <a:ext cx="448437" cy="448437"/>
            <a:chOff x="0" y="0"/>
            <a:chExt cx="597916" cy="597916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597916" cy="597916"/>
            </a:xfrm>
            <a:custGeom>
              <a:avLst/>
              <a:gdLst/>
              <a:ahLst/>
              <a:cxnLst/>
              <a:rect r="r" b="b" t="t" l="l"/>
              <a:pathLst>
                <a:path h="597916" w="597916">
                  <a:moveTo>
                    <a:pt x="0" y="298958"/>
                  </a:moveTo>
                  <a:cubicBezTo>
                    <a:pt x="0" y="133858"/>
                    <a:pt x="133858" y="0"/>
                    <a:pt x="298958" y="0"/>
                  </a:cubicBezTo>
                  <a:cubicBezTo>
                    <a:pt x="464058" y="0"/>
                    <a:pt x="597916" y="133858"/>
                    <a:pt x="597916" y="298958"/>
                  </a:cubicBezTo>
                  <a:cubicBezTo>
                    <a:pt x="597916" y="464058"/>
                    <a:pt x="464058" y="597916"/>
                    <a:pt x="298958" y="597916"/>
                  </a:cubicBezTo>
                  <a:cubicBezTo>
                    <a:pt x="133858" y="597916"/>
                    <a:pt x="0" y="464058"/>
                    <a:pt x="0" y="298958"/>
                  </a:cubicBezTo>
                  <a:close/>
                </a:path>
              </a:pathLst>
            </a:custGeom>
            <a:solidFill>
              <a:srgbClr val="953734"/>
            </a:solidFill>
            <a:ln w="9525" cap="sq">
              <a:solidFill>
                <a:srgbClr val="953734"/>
              </a:solidFill>
              <a:prstDash val="solid"/>
              <a:miter/>
            </a:ln>
          </p:spPr>
        </p:sp>
      </p:grpSp>
      <p:grpSp>
        <p:nvGrpSpPr>
          <p:cNvPr name="Group 93" id="93"/>
          <p:cNvGrpSpPr/>
          <p:nvPr/>
        </p:nvGrpSpPr>
        <p:grpSpPr>
          <a:xfrm rot="0">
            <a:off x="13894308" y="7338060"/>
            <a:ext cx="438912" cy="438912"/>
            <a:chOff x="0" y="0"/>
            <a:chExt cx="585216" cy="585216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0"/>
                  </a:moveTo>
                  <a:lnTo>
                    <a:pt x="585216" y="0"/>
                  </a:lnTo>
                  <a:lnTo>
                    <a:pt x="585216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95" id="95"/>
            <p:cNvSpPr txBox="true"/>
            <p:nvPr/>
          </p:nvSpPr>
          <p:spPr>
            <a:xfrm>
              <a:off x="0" y="-19050"/>
              <a:ext cx="585216" cy="6042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4</a:t>
              </a:r>
            </a:p>
          </p:txBody>
        </p:sp>
      </p:grpSp>
      <p:grpSp>
        <p:nvGrpSpPr>
          <p:cNvPr name="Group 96" id="96"/>
          <p:cNvGrpSpPr/>
          <p:nvPr/>
        </p:nvGrpSpPr>
        <p:grpSpPr>
          <a:xfrm rot="0">
            <a:off x="14470380" y="7269480"/>
            <a:ext cx="3017520" cy="576072"/>
            <a:chOff x="0" y="0"/>
            <a:chExt cx="4023360" cy="768096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4023360" cy="768096"/>
            </a:xfrm>
            <a:custGeom>
              <a:avLst/>
              <a:gdLst/>
              <a:ahLst/>
              <a:cxnLst/>
              <a:rect r="r" b="b" t="t" l="l"/>
              <a:pathLst>
                <a:path h="768096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064" r="0" b="-52064"/>
              </a:stretch>
            </a:blipFill>
          </p:spPr>
        </p:sp>
        <p:sp>
          <p:nvSpPr>
            <p:cNvPr name="TextBox 98" id="98"/>
            <p:cNvSpPr txBox="true"/>
            <p:nvPr/>
          </p:nvSpPr>
          <p:spPr>
            <a:xfrm>
              <a:off x="0" y="-19050"/>
              <a:ext cx="4023360" cy="7871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2B2B2B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Locality</a:t>
              </a:r>
            </a:p>
          </p:txBody>
        </p:sp>
      </p:grpSp>
      <p:grpSp>
        <p:nvGrpSpPr>
          <p:cNvPr name="Group 99" id="99"/>
          <p:cNvGrpSpPr/>
          <p:nvPr/>
        </p:nvGrpSpPr>
        <p:grpSpPr>
          <a:xfrm rot="0">
            <a:off x="9868376" y="7948136"/>
            <a:ext cx="3786188" cy="590360"/>
            <a:chOff x="0" y="0"/>
            <a:chExt cx="5048250" cy="787146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5048250" cy="787146"/>
            </a:xfrm>
            <a:custGeom>
              <a:avLst/>
              <a:gdLst/>
              <a:ahLst/>
              <a:cxnLst/>
              <a:rect r="r" b="b" t="t" l="l"/>
              <a:pathLst>
                <a:path h="787146" w="5048250">
                  <a:moveTo>
                    <a:pt x="0" y="0"/>
                  </a:moveTo>
                  <a:lnTo>
                    <a:pt x="5048250" y="0"/>
                  </a:lnTo>
                  <a:lnTo>
                    <a:pt x="5048250" y="787146"/>
                  </a:lnTo>
                  <a:lnTo>
                    <a:pt x="0" y="787146"/>
                  </a:lnTo>
                  <a:close/>
                </a:path>
              </a:pathLst>
            </a:custGeom>
            <a:solidFill>
              <a:srgbClr val="F7EDEA"/>
            </a:solidFill>
            <a:ln w="14288" cap="sq">
              <a:solidFill>
                <a:srgbClr val="E3CFC9"/>
              </a:solidFill>
              <a:prstDash val="solid"/>
              <a:miter/>
            </a:ln>
          </p:spPr>
        </p:sp>
      </p:grpSp>
      <p:grpSp>
        <p:nvGrpSpPr>
          <p:cNvPr name="Group 101" id="101"/>
          <p:cNvGrpSpPr/>
          <p:nvPr/>
        </p:nvGrpSpPr>
        <p:grpSpPr>
          <a:xfrm rot="0">
            <a:off x="9980486" y="8019097"/>
            <a:ext cx="448437" cy="448437"/>
            <a:chOff x="0" y="0"/>
            <a:chExt cx="597916" cy="597916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597916" cy="597916"/>
            </a:xfrm>
            <a:custGeom>
              <a:avLst/>
              <a:gdLst/>
              <a:ahLst/>
              <a:cxnLst/>
              <a:rect r="r" b="b" t="t" l="l"/>
              <a:pathLst>
                <a:path h="597916" w="597916">
                  <a:moveTo>
                    <a:pt x="0" y="298958"/>
                  </a:moveTo>
                  <a:cubicBezTo>
                    <a:pt x="0" y="133858"/>
                    <a:pt x="133858" y="0"/>
                    <a:pt x="298958" y="0"/>
                  </a:cubicBezTo>
                  <a:cubicBezTo>
                    <a:pt x="464058" y="0"/>
                    <a:pt x="597916" y="133858"/>
                    <a:pt x="597916" y="298958"/>
                  </a:cubicBezTo>
                  <a:cubicBezTo>
                    <a:pt x="597916" y="464058"/>
                    <a:pt x="464058" y="597916"/>
                    <a:pt x="298958" y="597916"/>
                  </a:cubicBezTo>
                  <a:cubicBezTo>
                    <a:pt x="133858" y="597916"/>
                    <a:pt x="0" y="464058"/>
                    <a:pt x="0" y="298958"/>
                  </a:cubicBezTo>
                  <a:close/>
                </a:path>
              </a:pathLst>
            </a:custGeom>
            <a:solidFill>
              <a:srgbClr val="953734"/>
            </a:solidFill>
            <a:ln w="9525" cap="sq">
              <a:solidFill>
                <a:srgbClr val="953734"/>
              </a:solidFill>
              <a:prstDash val="solid"/>
              <a:miter/>
            </a:ln>
          </p:spPr>
        </p:sp>
      </p:grpSp>
      <p:grpSp>
        <p:nvGrpSpPr>
          <p:cNvPr name="Group 103" id="103"/>
          <p:cNvGrpSpPr/>
          <p:nvPr/>
        </p:nvGrpSpPr>
        <p:grpSpPr>
          <a:xfrm rot="0">
            <a:off x="9985248" y="8023860"/>
            <a:ext cx="438912" cy="438912"/>
            <a:chOff x="0" y="0"/>
            <a:chExt cx="585216" cy="585216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0"/>
                  </a:moveTo>
                  <a:lnTo>
                    <a:pt x="585216" y="0"/>
                  </a:lnTo>
                  <a:lnTo>
                    <a:pt x="585216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05" id="105"/>
            <p:cNvSpPr txBox="true"/>
            <p:nvPr/>
          </p:nvSpPr>
          <p:spPr>
            <a:xfrm>
              <a:off x="0" y="-19050"/>
              <a:ext cx="585216" cy="6042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5</a:t>
              </a:r>
            </a:p>
          </p:txBody>
        </p:sp>
      </p:grpSp>
      <p:grpSp>
        <p:nvGrpSpPr>
          <p:cNvPr name="Group 106" id="106"/>
          <p:cNvGrpSpPr/>
          <p:nvPr/>
        </p:nvGrpSpPr>
        <p:grpSpPr>
          <a:xfrm rot="0">
            <a:off x="10561320" y="7955280"/>
            <a:ext cx="3017520" cy="576072"/>
            <a:chOff x="0" y="0"/>
            <a:chExt cx="4023360" cy="768096"/>
          </a:xfrm>
        </p:grpSpPr>
        <p:sp>
          <p:nvSpPr>
            <p:cNvPr name="Freeform 107" id="107"/>
            <p:cNvSpPr/>
            <p:nvPr/>
          </p:nvSpPr>
          <p:spPr>
            <a:xfrm flipH="false" flipV="false" rot="0">
              <a:off x="0" y="0"/>
              <a:ext cx="4023360" cy="768096"/>
            </a:xfrm>
            <a:custGeom>
              <a:avLst/>
              <a:gdLst/>
              <a:ahLst/>
              <a:cxnLst/>
              <a:rect r="r" b="b" t="t" l="l"/>
              <a:pathLst>
                <a:path h="768096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064" r="0" b="-52064"/>
              </a:stretch>
            </a:blipFill>
          </p:spPr>
        </p:sp>
        <p:sp>
          <p:nvSpPr>
            <p:cNvPr name="TextBox 108" id="108"/>
            <p:cNvSpPr txBox="true"/>
            <p:nvPr/>
          </p:nvSpPr>
          <p:spPr>
            <a:xfrm>
              <a:off x="0" y="-19050"/>
              <a:ext cx="4023360" cy="7871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2B2B2B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Urgency</a:t>
              </a:r>
            </a:p>
          </p:txBody>
        </p:sp>
      </p:grpSp>
      <p:grpSp>
        <p:nvGrpSpPr>
          <p:cNvPr name="Group 109" id="109"/>
          <p:cNvGrpSpPr/>
          <p:nvPr/>
        </p:nvGrpSpPr>
        <p:grpSpPr>
          <a:xfrm rot="0">
            <a:off x="13777436" y="7948136"/>
            <a:ext cx="3786188" cy="590360"/>
            <a:chOff x="0" y="0"/>
            <a:chExt cx="5048250" cy="787146"/>
          </a:xfrm>
        </p:grpSpPr>
        <p:sp>
          <p:nvSpPr>
            <p:cNvPr name="Freeform 110" id="110"/>
            <p:cNvSpPr/>
            <p:nvPr/>
          </p:nvSpPr>
          <p:spPr>
            <a:xfrm flipH="false" flipV="false" rot="0">
              <a:off x="0" y="0"/>
              <a:ext cx="5048250" cy="787146"/>
            </a:xfrm>
            <a:custGeom>
              <a:avLst/>
              <a:gdLst/>
              <a:ahLst/>
              <a:cxnLst/>
              <a:rect r="r" b="b" t="t" l="l"/>
              <a:pathLst>
                <a:path h="787146" w="5048250">
                  <a:moveTo>
                    <a:pt x="0" y="0"/>
                  </a:moveTo>
                  <a:lnTo>
                    <a:pt x="5048250" y="0"/>
                  </a:lnTo>
                  <a:lnTo>
                    <a:pt x="5048250" y="787146"/>
                  </a:lnTo>
                  <a:lnTo>
                    <a:pt x="0" y="787146"/>
                  </a:lnTo>
                  <a:close/>
                </a:path>
              </a:pathLst>
            </a:custGeom>
            <a:solidFill>
              <a:srgbClr val="F7EDEA"/>
            </a:solidFill>
            <a:ln w="14288" cap="sq">
              <a:solidFill>
                <a:srgbClr val="E3CFC9"/>
              </a:solidFill>
              <a:prstDash val="solid"/>
              <a:miter/>
            </a:ln>
          </p:spPr>
        </p:sp>
      </p:grpSp>
      <p:grpSp>
        <p:nvGrpSpPr>
          <p:cNvPr name="Group 111" id="111"/>
          <p:cNvGrpSpPr/>
          <p:nvPr/>
        </p:nvGrpSpPr>
        <p:grpSpPr>
          <a:xfrm rot="0">
            <a:off x="13889546" y="8019097"/>
            <a:ext cx="448437" cy="448437"/>
            <a:chOff x="0" y="0"/>
            <a:chExt cx="597916" cy="597916"/>
          </a:xfrm>
        </p:grpSpPr>
        <p:sp>
          <p:nvSpPr>
            <p:cNvPr name="Freeform 112" id="112"/>
            <p:cNvSpPr/>
            <p:nvPr/>
          </p:nvSpPr>
          <p:spPr>
            <a:xfrm flipH="false" flipV="false" rot="0">
              <a:off x="0" y="0"/>
              <a:ext cx="597916" cy="597916"/>
            </a:xfrm>
            <a:custGeom>
              <a:avLst/>
              <a:gdLst/>
              <a:ahLst/>
              <a:cxnLst/>
              <a:rect r="r" b="b" t="t" l="l"/>
              <a:pathLst>
                <a:path h="597916" w="597916">
                  <a:moveTo>
                    <a:pt x="0" y="298958"/>
                  </a:moveTo>
                  <a:cubicBezTo>
                    <a:pt x="0" y="133858"/>
                    <a:pt x="133858" y="0"/>
                    <a:pt x="298958" y="0"/>
                  </a:cubicBezTo>
                  <a:cubicBezTo>
                    <a:pt x="464058" y="0"/>
                    <a:pt x="597916" y="133858"/>
                    <a:pt x="597916" y="298958"/>
                  </a:cubicBezTo>
                  <a:cubicBezTo>
                    <a:pt x="597916" y="464058"/>
                    <a:pt x="464058" y="597916"/>
                    <a:pt x="298958" y="597916"/>
                  </a:cubicBezTo>
                  <a:cubicBezTo>
                    <a:pt x="133858" y="597916"/>
                    <a:pt x="0" y="464058"/>
                    <a:pt x="0" y="298958"/>
                  </a:cubicBezTo>
                  <a:close/>
                </a:path>
              </a:pathLst>
            </a:custGeom>
            <a:solidFill>
              <a:srgbClr val="953734"/>
            </a:solidFill>
            <a:ln w="9525" cap="sq">
              <a:solidFill>
                <a:srgbClr val="953734"/>
              </a:solidFill>
              <a:prstDash val="solid"/>
              <a:miter/>
            </a:ln>
          </p:spPr>
        </p:sp>
      </p:grpSp>
      <p:grpSp>
        <p:nvGrpSpPr>
          <p:cNvPr name="Group 113" id="113"/>
          <p:cNvGrpSpPr/>
          <p:nvPr/>
        </p:nvGrpSpPr>
        <p:grpSpPr>
          <a:xfrm rot="0">
            <a:off x="13894308" y="8023860"/>
            <a:ext cx="438912" cy="438912"/>
            <a:chOff x="0" y="0"/>
            <a:chExt cx="585216" cy="585216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0" y="0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0"/>
                  </a:moveTo>
                  <a:lnTo>
                    <a:pt x="585216" y="0"/>
                  </a:lnTo>
                  <a:lnTo>
                    <a:pt x="585216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15" id="115"/>
            <p:cNvSpPr txBox="true"/>
            <p:nvPr/>
          </p:nvSpPr>
          <p:spPr>
            <a:xfrm>
              <a:off x="0" y="-19050"/>
              <a:ext cx="585216" cy="6042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6</a:t>
              </a:r>
            </a:p>
          </p:txBody>
        </p:sp>
      </p:grpSp>
      <p:grpSp>
        <p:nvGrpSpPr>
          <p:cNvPr name="Group 116" id="116"/>
          <p:cNvGrpSpPr/>
          <p:nvPr/>
        </p:nvGrpSpPr>
        <p:grpSpPr>
          <a:xfrm rot="0">
            <a:off x="14470380" y="7955280"/>
            <a:ext cx="3017520" cy="576072"/>
            <a:chOff x="0" y="0"/>
            <a:chExt cx="4023360" cy="768096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0" y="0"/>
              <a:ext cx="4023360" cy="768096"/>
            </a:xfrm>
            <a:custGeom>
              <a:avLst/>
              <a:gdLst/>
              <a:ahLst/>
              <a:cxnLst/>
              <a:rect r="r" b="b" t="t" l="l"/>
              <a:pathLst>
                <a:path h="768096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064" r="0" b="-52064"/>
              </a:stretch>
            </a:blipFill>
          </p:spPr>
        </p:sp>
        <p:sp>
          <p:nvSpPr>
            <p:cNvPr name="TextBox 118" id="118"/>
            <p:cNvSpPr txBox="true"/>
            <p:nvPr/>
          </p:nvSpPr>
          <p:spPr>
            <a:xfrm>
              <a:off x="0" y="-19050"/>
              <a:ext cx="4023360" cy="7871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2B2B2B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Contact Number</a:t>
              </a:r>
            </a:p>
          </p:txBody>
        </p:sp>
      </p:grpSp>
      <p:grpSp>
        <p:nvGrpSpPr>
          <p:cNvPr name="Group 119" id="119"/>
          <p:cNvGrpSpPr/>
          <p:nvPr/>
        </p:nvGrpSpPr>
        <p:grpSpPr>
          <a:xfrm rot="0">
            <a:off x="678656" y="8908256"/>
            <a:ext cx="16930230" cy="700088"/>
            <a:chOff x="0" y="0"/>
            <a:chExt cx="22573640" cy="933450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0" y="0"/>
              <a:ext cx="22573614" cy="933450"/>
            </a:xfrm>
            <a:custGeom>
              <a:avLst/>
              <a:gdLst/>
              <a:ahLst/>
              <a:cxnLst/>
              <a:rect r="r" b="b" t="t" l="l"/>
              <a:pathLst>
                <a:path h="933450" w="22573614">
                  <a:moveTo>
                    <a:pt x="0" y="0"/>
                  </a:moveTo>
                  <a:lnTo>
                    <a:pt x="22573614" y="0"/>
                  </a:lnTo>
                  <a:lnTo>
                    <a:pt x="22573614" y="933450"/>
                  </a:lnTo>
                  <a:lnTo>
                    <a:pt x="0" y="933450"/>
                  </a:lnTo>
                  <a:close/>
                </a:path>
              </a:pathLst>
            </a:custGeom>
            <a:solidFill>
              <a:srgbClr val="6E2723"/>
            </a:solidFill>
            <a:ln w="14288" cap="sq">
              <a:solidFill>
                <a:srgbClr val="6E2723"/>
              </a:solidFill>
              <a:prstDash val="solid"/>
              <a:miter/>
            </a:ln>
          </p:spPr>
        </p:sp>
      </p:grpSp>
      <p:grpSp>
        <p:nvGrpSpPr>
          <p:cNvPr name="Group 121" id="121"/>
          <p:cNvGrpSpPr/>
          <p:nvPr/>
        </p:nvGrpSpPr>
        <p:grpSpPr>
          <a:xfrm rot="0">
            <a:off x="754380" y="8915400"/>
            <a:ext cx="16778783" cy="685800"/>
            <a:chOff x="0" y="0"/>
            <a:chExt cx="22371710" cy="914400"/>
          </a:xfrm>
        </p:grpSpPr>
        <p:sp>
          <p:nvSpPr>
            <p:cNvPr name="Freeform 122" id="122"/>
            <p:cNvSpPr/>
            <p:nvPr/>
          </p:nvSpPr>
          <p:spPr>
            <a:xfrm flipH="false" flipV="false" rot="0">
              <a:off x="0" y="0"/>
              <a:ext cx="22371710" cy="914400"/>
            </a:xfrm>
            <a:custGeom>
              <a:avLst/>
              <a:gdLst/>
              <a:ahLst/>
              <a:cxnLst/>
              <a:rect r="r" b="b" t="t" l="l"/>
              <a:pathLst>
                <a:path h="914400" w="22371710">
                  <a:moveTo>
                    <a:pt x="0" y="0"/>
                  </a:moveTo>
                  <a:lnTo>
                    <a:pt x="22371710" y="0"/>
                  </a:lnTo>
                  <a:lnTo>
                    <a:pt x="2237171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26720" r="0" b="-426720"/>
              </a:stretch>
            </a:blipFill>
          </p:spPr>
        </p:sp>
        <p:sp>
          <p:nvSpPr>
            <p:cNvPr name="TextBox 123" id="123"/>
            <p:cNvSpPr txBox="true"/>
            <p:nvPr/>
          </p:nvSpPr>
          <p:spPr>
            <a:xfrm>
              <a:off x="0" y="-19050"/>
              <a:ext cx="22371710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Compatibility and urgency together decide who is shown first on the board.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7144" y="102584"/>
            <a:ext cx="18301830" cy="864680"/>
            <a:chOff x="0" y="0"/>
            <a:chExt cx="24402440" cy="115290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152906"/>
            </a:xfrm>
            <a:custGeom>
              <a:avLst/>
              <a:gdLst/>
              <a:ahLst/>
              <a:cxnLst/>
              <a:rect r="r" b="b" t="t" l="l"/>
              <a:pathLst>
                <a:path h="1152906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152906"/>
                  </a:lnTo>
                  <a:lnTo>
                    <a:pt x="0" y="1152906"/>
                  </a:lnTo>
                  <a:close/>
                </a:path>
              </a:pathLst>
            </a:custGeom>
            <a:solidFill>
              <a:srgbClr val="953734"/>
            </a:solidFill>
            <a:ln w="14288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411480" y="109728"/>
            <a:ext cx="17464583" cy="850392"/>
            <a:chOff x="0" y="0"/>
            <a:chExt cx="23286110" cy="113385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3286110" cy="1133856"/>
            </a:xfrm>
            <a:custGeom>
              <a:avLst/>
              <a:gdLst/>
              <a:ahLst/>
              <a:cxnLst/>
              <a:rect r="r" b="b" t="t" l="l"/>
              <a:pathLst>
                <a:path h="1133856" w="23286110">
                  <a:moveTo>
                    <a:pt x="0" y="0"/>
                  </a:moveTo>
                  <a:lnTo>
                    <a:pt x="23286110" y="0"/>
                  </a:lnTo>
                  <a:lnTo>
                    <a:pt x="2328611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0166" r="0" b="-35016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23286110" cy="11529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60"/>
                </a:lnSpc>
              </a:pPr>
              <a:r>
                <a:rPr lang="en-US" sz="3300" b="true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Objectives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7323308" y="9738360"/>
            <a:ext cx="685800" cy="411480"/>
            <a:chOff x="0" y="0"/>
            <a:chExt cx="914400" cy="5486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91440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99999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11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78656" y="1295876"/>
            <a:ext cx="16884968" cy="837248"/>
            <a:chOff x="0" y="0"/>
            <a:chExt cx="22513290" cy="111633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2513289" cy="1116330"/>
            </a:xfrm>
            <a:custGeom>
              <a:avLst/>
              <a:gdLst/>
              <a:ahLst/>
              <a:cxnLst/>
              <a:rect r="r" b="b" t="t" l="l"/>
              <a:pathLst>
                <a:path h="1116330" w="22513289">
                  <a:moveTo>
                    <a:pt x="0" y="0"/>
                  </a:moveTo>
                  <a:lnTo>
                    <a:pt x="22513289" y="0"/>
                  </a:lnTo>
                  <a:lnTo>
                    <a:pt x="22513289" y="1116330"/>
                  </a:lnTo>
                  <a:lnTo>
                    <a:pt x="0" y="1116330"/>
                  </a:lnTo>
                  <a:close/>
                </a:path>
              </a:pathLst>
            </a:custGeom>
            <a:solidFill>
              <a:srgbClr val="953734"/>
            </a:solidFill>
            <a:ln w="14288" cap="sq">
              <a:solidFill>
                <a:srgbClr val="953734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754380" y="1303020"/>
            <a:ext cx="16733520" cy="822960"/>
            <a:chOff x="0" y="0"/>
            <a:chExt cx="22311360" cy="109728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2311361" cy="1097280"/>
            </a:xfrm>
            <a:custGeom>
              <a:avLst/>
              <a:gdLst/>
              <a:ahLst/>
              <a:cxnLst/>
              <a:rect r="r" b="b" t="t" l="l"/>
              <a:pathLst>
                <a:path h="1097280" w="22311361">
                  <a:moveTo>
                    <a:pt x="0" y="0"/>
                  </a:moveTo>
                  <a:lnTo>
                    <a:pt x="22311361" y="0"/>
                  </a:lnTo>
                  <a:lnTo>
                    <a:pt x="22311361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6195" r="0" b="-346195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19050"/>
              <a:ext cx="22311360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Primary Objective: To build a fast, neighbourhood-level web directory that connects emergency blood requests to matching donors.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678656" y="2461736"/>
            <a:ext cx="4060508" cy="3237548"/>
            <a:chOff x="0" y="0"/>
            <a:chExt cx="5414010" cy="431673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414010" cy="4316730"/>
            </a:xfrm>
            <a:custGeom>
              <a:avLst/>
              <a:gdLst/>
              <a:ahLst/>
              <a:cxnLst/>
              <a:rect r="r" b="b" t="t" l="l"/>
              <a:pathLst>
                <a:path h="4316730" w="5414010">
                  <a:moveTo>
                    <a:pt x="0" y="0"/>
                  </a:moveTo>
                  <a:lnTo>
                    <a:pt x="5414010" y="0"/>
                  </a:lnTo>
                  <a:lnTo>
                    <a:pt x="5414010" y="4316730"/>
                  </a:lnTo>
                  <a:lnTo>
                    <a:pt x="0" y="4316730"/>
                  </a:lnTo>
                  <a:close/>
                </a:path>
              </a:pathLst>
            </a:custGeom>
            <a:solidFill>
              <a:srgbClr val="F7EDEA"/>
            </a:solidFill>
            <a:ln w="14288" cap="sq">
              <a:solidFill>
                <a:srgbClr val="E3CFC9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886777" y="2669858"/>
            <a:ext cx="475869" cy="475869"/>
            <a:chOff x="0" y="0"/>
            <a:chExt cx="634492" cy="63449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34492" cy="634492"/>
            </a:xfrm>
            <a:custGeom>
              <a:avLst/>
              <a:gdLst/>
              <a:ahLst/>
              <a:cxnLst/>
              <a:rect r="r" b="b" t="t" l="l"/>
              <a:pathLst>
                <a:path h="634492" w="634492">
                  <a:moveTo>
                    <a:pt x="0" y="317246"/>
                  </a:moveTo>
                  <a:cubicBezTo>
                    <a:pt x="0" y="141986"/>
                    <a:pt x="141986" y="0"/>
                    <a:pt x="317246" y="0"/>
                  </a:cubicBezTo>
                  <a:cubicBezTo>
                    <a:pt x="492506" y="0"/>
                    <a:pt x="634492" y="141986"/>
                    <a:pt x="634492" y="317246"/>
                  </a:cubicBezTo>
                  <a:cubicBezTo>
                    <a:pt x="634492" y="492506"/>
                    <a:pt x="492506" y="634492"/>
                    <a:pt x="317246" y="634492"/>
                  </a:cubicBezTo>
                  <a:cubicBezTo>
                    <a:pt x="141986" y="634492"/>
                    <a:pt x="0" y="492506"/>
                    <a:pt x="0" y="317246"/>
                  </a:cubicBezTo>
                  <a:close/>
                </a:path>
              </a:pathLst>
            </a:custGeom>
            <a:solidFill>
              <a:srgbClr val="953734"/>
            </a:solidFill>
            <a:ln w="9525" cap="sq">
              <a:solidFill>
                <a:srgbClr val="953734"/>
              </a:solidFill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891540" y="2674620"/>
            <a:ext cx="466344" cy="466344"/>
            <a:chOff x="0" y="0"/>
            <a:chExt cx="621792" cy="62179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21792" cy="621792"/>
            </a:xfrm>
            <a:custGeom>
              <a:avLst/>
              <a:gdLst/>
              <a:ahLst/>
              <a:cxnLst/>
              <a:rect r="r" b="b" t="t" l="l"/>
              <a:pathLst>
                <a:path h="621792" w="621792">
                  <a:moveTo>
                    <a:pt x="0" y="0"/>
                  </a:moveTo>
                  <a:lnTo>
                    <a:pt x="621792" y="0"/>
                  </a:lnTo>
                  <a:lnTo>
                    <a:pt x="621792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19050"/>
              <a:ext cx="621792" cy="6408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1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508760" y="2633472"/>
            <a:ext cx="3017520" cy="548640"/>
            <a:chOff x="0" y="0"/>
            <a:chExt cx="4023360" cy="73152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023360" cy="731520"/>
            </a:xfrm>
            <a:custGeom>
              <a:avLst/>
              <a:gdLst/>
              <a:ahLst/>
              <a:cxnLst/>
              <a:rect r="r" b="b" t="t" l="l"/>
              <a:pathLst>
                <a:path h="731520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7167" r="0" b="-57167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19050"/>
              <a:ext cx="402336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2B2B2B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Donor Registration</a:t>
              </a: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960120" y="3245358"/>
            <a:ext cx="3497580" cy="2282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4A4A4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Register volunteers by blood group and locality.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4930616" y="2461736"/>
            <a:ext cx="4060508" cy="3237548"/>
            <a:chOff x="0" y="0"/>
            <a:chExt cx="5414010" cy="431673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414010" cy="4316730"/>
            </a:xfrm>
            <a:custGeom>
              <a:avLst/>
              <a:gdLst/>
              <a:ahLst/>
              <a:cxnLst/>
              <a:rect r="r" b="b" t="t" l="l"/>
              <a:pathLst>
                <a:path h="4316730" w="5414010">
                  <a:moveTo>
                    <a:pt x="0" y="0"/>
                  </a:moveTo>
                  <a:lnTo>
                    <a:pt x="5414010" y="0"/>
                  </a:lnTo>
                  <a:lnTo>
                    <a:pt x="5414010" y="4316730"/>
                  </a:lnTo>
                  <a:lnTo>
                    <a:pt x="0" y="4316730"/>
                  </a:lnTo>
                  <a:close/>
                </a:path>
              </a:pathLst>
            </a:custGeom>
            <a:solidFill>
              <a:srgbClr val="F7EDEA"/>
            </a:solidFill>
            <a:ln w="14288" cap="sq">
              <a:solidFill>
                <a:srgbClr val="E3CFC9"/>
              </a:solidFill>
              <a:prstDash val="solid"/>
              <a:miter/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5138738" y="2669858"/>
            <a:ext cx="475869" cy="475869"/>
            <a:chOff x="0" y="0"/>
            <a:chExt cx="634492" cy="634492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634492" cy="634492"/>
            </a:xfrm>
            <a:custGeom>
              <a:avLst/>
              <a:gdLst/>
              <a:ahLst/>
              <a:cxnLst/>
              <a:rect r="r" b="b" t="t" l="l"/>
              <a:pathLst>
                <a:path h="634492" w="634492">
                  <a:moveTo>
                    <a:pt x="0" y="317246"/>
                  </a:moveTo>
                  <a:cubicBezTo>
                    <a:pt x="0" y="141986"/>
                    <a:pt x="141986" y="0"/>
                    <a:pt x="317246" y="0"/>
                  </a:cubicBezTo>
                  <a:cubicBezTo>
                    <a:pt x="492506" y="0"/>
                    <a:pt x="634492" y="141986"/>
                    <a:pt x="634492" y="317246"/>
                  </a:cubicBezTo>
                  <a:cubicBezTo>
                    <a:pt x="634492" y="492506"/>
                    <a:pt x="492506" y="634492"/>
                    <a:pt x="317246" y="634492"/>
                  </a:cubicBezTo>
                  <a:cubicBezTo>
                    <a:pt x="141986" y="634492"/>
                    <a:pt x="0" y="492506"/>
                    <a:pt x="0" y="317246"/>
                  </a:cubicBezTo>
                  <a:close/>
                </a:path>
              </a:pathLst>
            </a:custGeom>
            <a:solidFill>
              <a:srgbClr val="028090"/>
            </a:solidFill>
            <a:ln w="9525" cap="sq">
              <a:solidFill>
                <a:srgbClr val="028090"/>
              </a:solidFill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5143500" y="2674620"/>
            <a:ext cx="466344" cy="466344"/>
            <a:chOff x="0" y="0"/>
            <a:chExt cx="621792" cy="621792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621792" cy="621792"/>
            </a:xfrm>
            <a:custGeom>
              <a:avLst/>
              <a:gdLst/>
              <a:ahLst/>
              <a:cxnLst/>
              <a:rect r="r" b="b" t="t" l="l"/>
              <a:pathLst>
                <a:path h="621792" w="621792">
                  <a:moveTo>
                    <a:pt x="0" y="0"/>
                  </a:moveTo>
                  <a:lnTo>
                    <a:pt x="621792" y="0"/>
                  </a:lnTo>
                  <a:lnTo>
                    <a:pt x="621792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19050"/>
              <a:ext cx="621792" cy="6408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2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5760720" y="2633472"/>
            <a:ext cx="3017520" cy="548640"/>
            <a:chOff x="0" y="0"/>
            <a:chExt cx="4023360" cy="73152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4023360" cy="731520"/>
            </a:xfrm>
            <a:custGeom>
              <a:avLst/>
              <a:gdLst/>
              <a:ahLst/>
              <a:cxnLst/>
              <a:rect r="r" b="b" t="t" l="l"/>
              <a:pathLst>
                <a:path h="731520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7167" r="0" b="-57167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19050"/>
              <a:ext cx="402336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2B2B2B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Emergency Broadcast</a:t>
              </a:r>
            </a:p>
          </p:txBody>
        </p:sp>
      </p:grpSp>
      <p:sp>
        <p:nvSpPr>
          <p:cNvPr name="TextBox 36" id="36"/>
          <p:cNvSpPr txBox="true"/>
          <p:nvPr/>
        </p:nvSpPr>
        <p:spPr>
          <a:xfrm rot="0">
            <a:off x="5212080" y="3245358"/>
            <a:ext cx="3497580" cy="2282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4A4A4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Publish SOS requests on a shared board.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9182576" y="2461736"/>
            <a:ext cx="4060508" cy="3237548"/>
            <a:chOff x="0" y="0"/>
            <a:chExt cx="5414010" cy="431673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5414010" cy="4316730"/>
            </a:xfrm>
            <a:custGeom>
              <a:avLst/>
              <a:gdLst/>
              <a:ahLst/>
              <a:cxnLst/>
              <a:rect r="r" b="b" t="t" l="l"/>
              <a:pathLst>
                <a:path h="4316730" w="5414010">
                  <a:moveTo>
                    <a:pt x="0" y="0"/>
                  </a:moveTo>
                  <a:lnTo>
                    <a:pt x="5414010" y="0"/>
                  </a:lnTo>
                  <a:lnTo>
                    <a:pt x="5414010" y="4316730"/>
                  </a:lnTo>
                  <a:lnTo>
                    <a:pt x="0" y="4316730"/>
                  </a:lnTo>
                  <a:close/>
                </a:path>
              </a:pathLst>
            </a:custGeom>
            <a:solidFill>
              <a:srgbClr val="F7EDEA"/>
            </a:solidFill>
            <a:ln w="14288" cap="sq">
              <a:solidFill>
                <a:srgbClr val="E3CFC9"/>
              </a:solidFill>
              <a:prstDash val="solid"/>
              <a:miter/>
            </a:ln>
          </p:spPr>
        </p:sp>
      </p:grpSp>
      <p:grpSp>
        <p:nvGrpSpPr>
          <p:cNvPr name="Group 39" id="39"/>
          <p:cNvGrpSpPr/>
          <p:nvPr/>
        </p:nvGrpSpPr>
        <p:grpSpPr>
          <a:xfrm rot="0">
            <a:off x="9390698" y="2669858"/>
            <a:ext cx="475869" cy="475869"/>
            <a:chOff x="0" y="0"/>
            <a:chExt cx="634492" cy="634492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634492" cy="634492"/>
            </a:xfrm>
            <a:custGeom>
              <a:avLst/>
              <a:gdLst/>
              <a:ahLst/>
              <a:cxnLst/>
              <a:rect r="r" b="b" t="t" l="l"/>
              <a:pathLst>
                <a:path h="634492" w="634492">
                  <a:moveTo>
                    <a:pt x="0" y="317246"/>
                  </a:moveTo>
                  <a:cubicBezTo>
                    <a:pt x="0" y="141986"/>
                    <a:pt x="141986" y="0"/>
                    <a:pt x="317246" y="0"/>
                  </a:cubicBezTo>
                  <a:cubicBezTo>
                    <a:pt x="492506" y="0"/>
                    <a:pt x="634492" y="141986"/>
                    <a:pt x="634492" y="317246"/>
                  </a:cubicBezTo>
                  <a:cubicBezTo>
                    <a:pt x="634492" y="492506"/>
                    <a:pt x="492506" y="634492"/>
                    <a:pt x="317246" y="634492"/>
                  </a:cubicBezTo>
                  <a:cubicBezTo>
                    <a:pt x="141986" y="634492"/>
                    <a:pt x="0" y="492506"/>
                    <a:pt x="0" y="317246"/>
                  </a:cubicBezTo>
                  <a:close/>
                </a:path>
              </a:pathLst>
            </a:custGeom>
            <a:solidFill>
              <a:srgbClr val="C98A2C"/>
            </a:solidFill>
            <a:ln w="9525" cap="sq">
              <a:solidFill>
                <a:srgbClr val="C98A2C"/>
              </a:solidFill>
              <a:prstDash val="solid"/>
              <a:miter/>
            </a:ln>
          </p:spPr>
        </p:sp>
      </p:grpSp>
      <p:grpSp>
        <p:nvGrpSpPr>
          <p:cNvPr name="Group 41" id="41"/>
          <p:cNvGrpSpPr/>
          <p:nvPr/>
        </p:nvGrpSpPr>
        <p:grpSpPr>
          <a:xfrm rot="0">
            <a:off x="9395460" y="2674620"/>
            <a:ext cx="466344" cy="466344"/>
            <a:chOff x="0" y="0"/>
            <a:chExt cx="621792" cy="621792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621792" cy="621792"/>
            </a:xfrm>
            <a:custGeom>
              <a:avLst/>
              <a:gdLst/>
              <a:ahLst/>
              <a:cxnLst/>
              <a:rect r="r" b="b" t="t" l="l"/>
              <a:pathLst>
                <a:path h="621792" w="621792">
                  <a:moveTo>
                    <a:pt x="0" y="0"/>
                  </a:moveTo>
                  <a:lnTo>
                    <a:pt x="621792" y="0"/>
                  </a:lnTo>
                  <a:lnTo>
                    <a:pt x="621792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19050"/>
              <a:ext cx="621792" cy="6408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3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0012680" y="2633472"/>
            <a:ext cx="3017520" cy="548640"/>
            <a:chOff x="0" y="0"/>
            <a:chExt cx="4023360" cy="73152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4023360" cy="731520"/>
            </a:xfrm>
            <a:custGeom>
              <a:avLst/>
              <a:gdLst/>
              <a:ahLst/>
              <a:cxnLst/>
              <a:rect r="r" b="b" t="t" l="l"/>
              <a:pathLst>
                <a:path h="731520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7167" r="0" b="-57167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19050"/>
              <a:ext cx="402336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2B2B2B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Smart Matching</a:t>
              </a:r>
            </a:p>
          </p:txBody>
        </p:sp>
      </p:grpSp>
      <p:sp>
        <p:nvSpPr>
          <p:cNvPr name="TextBox 47" id="47"/>
          <p:cNvSpPr txBox="true"/>
          <p:nvPr/>
        </p:nvSpPr>
        <p:spPr>
          <a:xfrm rot="0">
            <a:off x="9464040" y="3245358"/>
            <a:ext cx="3497580" cy="2282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4A4A4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Filter donors by group, locality and status.</a:t>
            </a:r>
          </a:p>
        </p:txBody>
      </p:sp>
      <p:grpSp>
        <p:nvGrpSpPr>
          <p:cNvPr name="Group 48" id="48"/>
          <p:cNvGrpSpPr/>
          <p:nvPr/>
        </p:nvGrpSpPr>
        <p:grpSpPr>
          <a:xfrm rot="0">
            <a:off x="13434536" y="2461736"/>
            <a:ext cx="4060508" cy="3237548"/>
            <a:chOff x="0" y="0"/>
            <a:chExt cx="5414010" cy="431673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5414010" cy="4316730"/>
            </a:xfrm>
            <a:custGeom>
              <a:avLst/>
              <a:gdLst/>
              <a:ahLst/>
              <a:cxnLst/>
              <a:rect r="r" b="b" t="t" l="l"/>
              <a:pathLst>
                <a:path h="4316730" w="5414010">
                  <a:moveTo>
                    <a:pt x="0" y="0"/>
                  </a:moveTo>
                  <a:lnTo>
                    <a:pt x="5414010" y="0"/>
                  </a:lnTo>
                  <a:lnTo>
                    <a:pt x="5414010" y="4316730"/>
                  </a:lnTo>
                  <a:lnTo>
                    <a:pt x="0" y="4316730"/>
                  </a:lnTo>
                  <a:close/>
                </a:path>
              </a:pathLst>
            </a:custGeom>
            <a:solidFill>
              <a:srgbClr val="F7EDEA"/>
            </a:solidFill>
            <a:ln w="14288" cap="sq">
              <a:solidFill>
                <a:srgbClr val="E3CFC9"/>
              </a:solidFill>
              <a:prstDash val="solid"/>
              <a:miter/>
            </a:ln>
          </p:spPr>
        </p:sp>
      </p:grpSp>
      <p:grpSp>
        <p:nvGrpSpPr>
          <p:cNvPr name="Group 50" id="50"/>
          <p:cNvGrpSpPr/>
          <p:nvPr/>
        </p:nvGrpSpPr>
        <p:grpSpPr>
          <a:xfrm rot="0">
            <a:off x="13642657" y="2669858"/>
            <a:ext cx="475869" cy="475869"/>
            <a:chOff x="0" y="0"/>
            <a:chExt cx="634492" cy="634492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634492" cy="634492"/>
            </a:xfrm>
            <a:custGeom>
              <a:avLst/>
              <a:gdLst/>
              <a:ahLst/>
              <a:cxnLst/>
              <a:rect r="r" b="b" t="t" l="l"/>
              <a:pathLst>
                <a:path h="634492" w="634492">
                  <a:moveTo>
                    <a:pt x="0" y="317246"/>
                  </a:moveTo>
                  <a:cubicBezTo>
                    <a:pt x="0" y="141986"/>
                    <a:pt x="141986" y="0"/>
                    <a:pt x="317246" y="0"/>
                  </a:cubicBezTo>
                  <a:cubicBezTo>
                    <a:pt x="492506" y="0"/>
                    <a:pt x="634492" y="141986"/>
                    <a:pt x="634492" y="317246"/>
                  </a:cubicBezTo>
                  <a:cubicBezTo>
                    <a:pt x="634492" y="492506"/>
                    <a:pt x="492506" y="634492"/>
                    <a:pt x="317246" y="634492"/>
                  </a:cubicBezTo>
                  <a:cubicBezTo>
                    <a:pt x="141986" y="634492"/>
                    <a:pt x="0" y="492506"/>
                    <a:pt x="0" y="317246"/>
                  </a:cubicBezTo>
                  <a:close/>
                </a:path>
              </a:pathLst>
            </a:custGeom>
            <a:solidFill>
              <a:srgbClr val="6E2723"/>
            </a:solidFill>
            <a:ln w="9525" cap="sq">
              <a:solidFill>
                <a:srgbClr val="6E2723"/>
              </a:solidFill>
              <a:prstDash val="solid"/>
              <a:miter/>
            </a:ln>
          </p:spPr>
        </p:sp>
      </p:grpSp>
      <p:grpSp>
        <p:nvGrpSpPr>
          <p:cNvPr name="Group 52" id="52"/>
          <p:cNvGrpSpPr/>
          <p:nvPr/>
        </p:nvGrpSpPr>
        <p:grpSpPr>
          <a:xfrm rot="0">
            <a:off x="13647420" y="2674620"/>
            <a:ext cx="466344" cy="466344"/>
            <a:chOff x="0" y="0"/>
            <a:chExt cx="621792" cy="621792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621792" cy="621792"/>
            </a:xfrm>
            <a:custGeom>
              <a:avLst/>
              <a:gdLst/>
              <a:ahLst/>
              <a:cxnLst/>
              <a:rect r="r" b="b" t="t" l="l"/>
              <a:pathLst>
                <a:path h="621792" w="621792">
                  <a:moveTo>
                    <a:pt x="0" y="0"/>
                  </a:moveTo>
                  <a:lnTo>
                    <a:pt x="621792" y="0"/>
                  </a:lnTo>
                  <a:lnTo>
                    <a:pt x="621792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19050"/>
              <a:ext cx="621792" cy="6408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4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14264640" y="2633472"/>
            <a:ext cx="3017520" cy="548640"/>
            <a:chOff x="0" y="0"/>
            <a:chExt cx="4023360" cy="73152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4023360" cy="731520"/>
            </a:xfrm>
            <a:custGeom>
              <a:avLst/>
              <a:gdLst/>
              <a:ahLst/>
              <a:cxnLst/>
              <a:rect r="r" b="b" t="t" l="l"/>
              <a:pathLst>
                <a:path h="731520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7167" r="0" b="-57167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19050"/>
              <a:ext cx="402336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2B2B2B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Instant Contact</a:t>
              </a:r>
            </a:p>
          </p:txBody>
        </p:sp>
      </p:grpSp>
      <p:sp>
        <p:nvSpPr>
          <p:cNvPr name="TextBox 58" id="58"/>
          <p:cNvSpPr txBox="true"/>
          <p:nvPr/>
        </p:nvSpPr>
        <p:spPr>
          <a:xfrm rot="0">
            <a:off x="13716000" y="3245358"/>
            <a:ext cx="3497580" cy="2282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4A4A4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Give one-click call and WhatsApp links.</a:t>
            </a:r>
          </a:p>
        </p:txBody>
      </p:sp>
      <p:grpSp>
        <p:nvGrpSpPr>
          <p:cNvPr name="Group 59" id="59"/>
          <p:cNvGrpSpPr/>
          <p:nvPr/>
        </p:nvGrpSpPr>
        <p:grpSpPr>
          <a:xfrm rot="0">
            <a:off x="678656" y="5959316"/>
            <a:ext cx="4060508" cy="3237548"/>
            <a:chOff x="0" y="0"/>
            <a:chExt cx="5414010" cy="431673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5414010" cy="4316730"/>
            </a:xfrm>
            <a:custGeom>
              <a:avLst/>
              <a:gdLst/>
              <a:ahLst/>
              <a:cxnLst/>
              <a:rect r="r" b="b" t="t" l="l"/>
              <a:pathLst>
                <a:path h="4316730" w="5414010">
                  <a:moveTo>
                    <a:pt x="0" y="0"/>
                  </a:moveTo>
                  <a:lnTo>
                    <a:pt x="5414010" y="0"/>
                  </a:lnTo>
                  <a:lnTo>
                    <a:pt x="5414010" y="4316730"/>
                  </a:lnTo>
                  <a:lnTo>
                    <a:pt x="0" y="4316730"/>
                  </a:lnTo>
                  <a:close/>
                </a:path>
              </a:pathLst>
            </a:custGeom>
            <a:solidFill>
              <a:srgbClr val="F7EDEA"/>
            </a:solidFill>
            <a:ln w="14288" cap="sq">
              <a:solidFill>
                <a:srgbClr val="E3CFC9"/>
              </a:solidFill>
              <a:prstDash val="solid"/>
              <a:miter/>
            </a:ln>
          </p:spPr>
        </p:sp>
      </p:grpSp>
      <p:grpSp>
        <p:nvGrpSpPr>
          <p:cNvPr name="Group 61" id="61"/>
          <p:cNvGrpSpPr/>
          <p:nvPr/>
        </p:nvGrpSpPr>
        <p:grpSpPr>
          <a:xfrm rot="0">
            <a:off x="886777" y="6167438"/>
            <a:ext cx="475869" cy="475869"/>
            <a:chOff x="0" y="0"/>
            <a:chExt cx="634492" cy="634492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634492" cy="634492"/>
            </a:xfrm>
            <a:custGeom>
              <a:avLst/>
              <a:gdLst/>
              <a:ahLst/>
              <a:cxnLst/>
              <a:rect r="r" b="b" t="t" l="l"/>
              <a:pathLst>
                <a:path h="634492" w="634492">
                  <a:moveTo>
                    <a:pt x="0" y="317246"/>
                  </a:moveTo>
                  <a:cubicBezTo>
                    <a:pt x="0" y="141986"/>
                    <a:pt x="141986" y="0"/>
                    <a:pt x="317246" y="0"/>
                  </a:cubicBezTo>
                  <a:cubicBezTo>
                    <a:pt x="492506" y="0"/>
                    <a:pt x="634492" y="141986"/>
                    <a:pt x="634492" y="317246"/>
                  </a:cubicBezTo>
                  <a:cubicBezTo>
                    <a:pt x="634492" y="492506"/>
                    <a:pt x="492506" y="634492"/>
                    <a:pt x="317246" y="634492"/>
                  </a:cubicBezTo>
                  <a:cubicBezTo>
                    <a:pt x="141986" y="634492"/>
                    <a:pt x="0" y="492506"/>
                    <a:pt x="0" y="317246"/>
                  </a:cubicBezTo>
                  <a:close/>
                </a:path>
              </a:pathLst>
            </a:custGeom>
            <a:solidFill>
              <a:srgbClr val="953734"/>
            </a:solidFill>
            <a:ln w="9525" cap="sq">
              <a:solidFill>
                <a:srgbClr val="953734"/>
              </a:solidFill>
              <a:prstDash val="solid"/>
              <a:miter/>
            </a:ln>
          </p:spPr>
        </p:sp>
      </p:grpSp>
      <p:grpSp>
        <p:nvGrpSpPr>
          <p:cNvPr name="Group 63" id="63"/>
          <p:cNvGrpSpPr/>
          <p:nvPr/>
        </p:nvGrpSpPr>
        <p:grpSpPr>
          <a:xfrm rot="0">
            <a:off x="891540" y="6172200"/>
            <a:ext cx="466344" cy="466344"/>
            <a:chOff x="0" y="0"/>
            <a:chExt cx="621792" cy="621792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621792" cy="621792"/>
            </a:xfrm>
            <a:custGeom>
              <a:avLst/>
              <a:gdLst/>
              <a:ahLst/>
              <a:cxnLst/>
              <a:rect r="r" b="b" t="t" l="l"/>
              <a:pathLst>
                <a:path h="621792" w="621792">
                  <a:moveTo>
                    <a:pt x="0" y="0"/>
                  </a:moveTo>
                  <a:lnTo>
                    <a:pt x="621792" y="0"/>
                  </a:lnTo>
                  <a:lnTo>
                    <a:pt x="621792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19050"/>
              <a:ext cx="621792" cy="6408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5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1508760" y="6131052"/>
            <a:ext cx="3017520" cy="548640"/>
            <a:chOff x="0" y="0"/>
            <a:chExt cx="4023360" cy="73152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4023360" cy="731520"/>
            </a:xfrm>
            <a:custGeom>
              <a:avLst/>
              <a:gdLst/>
              <a:ahLst/>
              <a:cxnLst/>
              <a:rect r="r" b="b" t="t" l="l"/>
              <a:pathLst>
                <a:path h="731520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7167" r="0" b="-57167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19050"/>
              <a:ext cx="402336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2B2B2B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Availability Control</a:t>
              </a:r>
            </a:p>
          </p:txBody>
        </p:sp>
      </p:grpSp>
      <p:sp>
        <p:nvSpPr>
          <p:cNvPr name="TextBox 69" id="69"/>
          <p:cNvSpPr txBox="true"/>
          <p:nvPr/>
        </p:nvSpPr>
        <p:spPr>
          <a:xfrm rot="0">
            <a:off x="960120" y="6742938"/>
            <a:ext cx="3497580" cy="2282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4A4A4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Let donors toggle availability themselves.</a:t>
            </a:r>
          </a:p>
        </p:txBody>
      </p:sp>
      <p:grpSp>
        <p:nvGrpSpPr>
          <p:cNvPr name="Group 70" id="70"/>
          <p:cNvGrpSpPr/>
          <p:nvPr/>
        </p:nvGrpSpPr>
        <p:grpSpPr>
          <a:xfrm rot="0">
            <a:off x="4930616" y="5959316"/>
            <a:ext cx="4060508" cy="3237548"/>
            <a:chOff x="0" y="0"/>
            <a:chExt cx="5414010" cy="431673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5414010" cy="4316730"/>
            </a:xfrm>
            <a:custGeom>
              <a:avLst/>
              <a:gdLst/>
              <a:ahLst/>
              <a:cxnLst/>
              <a:rect r="r" b="b" t="t" l="l"/>
              <a:pathLst>
                <a:path h="4316730" w="5414010">
                  <a:moveTo>
                    <a:pt x="0" y="0"/>
                  </a:moveTo>
                  <a:lnTo>
                    <a:pt x="5414010" y="0"/>
                  </a:lnTo>
                  <a:lnTo>
                    <a:pt x="5414010" y="4316730"/>
                  </a:lnTo>
                  <a:lnTo>
                    <a:pt x="0" y="4316730"/>
                  </a:lnTo>
                  <a:close/>
                </a:path>
              </a:pathLst>
            </a:custGeom>
            <a:solidFill>
              <a:srgbClr val="F7EDEA"/>
            </a:solidFill>
            <a:ln w="14288" cap="sq">
              <a:solidFill>
                <a:srgbClr val="E3CFC9"/>
              </a:solidFill>
              <a:prstDash val="solid"/>
              <a:miter/>
            </a:ln>
          </p:spPr>
        </p:sp>
      </p:grpSp>
      <p:grpSp>
        <p:nvGrpSpPr>
          <p:cNvPr name="Group 72" id="72"/>
          <p:cNvGrpSpPr/>
          <p:nvPr/>
        </p:nvGrpSpPr>
        <p:grpSpPr>
          <a:xfrm rot="0">
            <a:off x="5138738" y="6167438"/>
            <a:ext cx="475869" cy="475869"/>
            <a:chOff x="0" y="0"/>
            <a:chExt cx="634492" cy="634492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634492" cy="634492"/>
            </a:xfrm>
            <a:custGeom>
              <a:avLst/>
              <a:gdLst/>
              <a:ahLst/>
              <a:cxnLst/>
              <a:rect r="r" b="b" t="t" l="l"/>
              <a:pathLst>
                <a:path h="634492" w="634492">
                  <a:moveTo>
                    <a:pt x="0" y="317246"/>
                  </a:moveTo>
                  <a:cubicBezTo>
                    <a:pt x="0" y="141986"/>
                    <a:pt x="141986" y="0"/>
                    <a:pt x="317246" y="0"/>
                  </a:cubicBezTo>
                  <a:cubicBezTo>
                    <a:pt x="492506" y="0"/>
                    <a:pt x="634492" y="141986"/>
                    <a:pt x="634492" y="317246"/>
                  </a:cubicBezTo>
                  <a:cubicBezTo>
                    <a:pt x="634492" y="492506"/>
                    <a:pt x="492506" y="634492"/>
                    <a:pt x="317246" y="634492"/>
                  </a:cubicBezTo>
                  <a:cubicBezTo>
                    <a:pt x="141986" y="634492"/>
                    <a:pt x="0" y="492506"/>
                    <a:pt x="0" y="317246"/>
                  </a:cubicBezTo>
                  <a:close/>
                </a:path>
              </a:pathLst>
            </a:custGeom>
            <a:solidFill>
              <a:srgbClr val="028090"/>
            </a:solidFill>
            <a:ln w="9525" cap="sq">
              <a:solidFill>
                <a:srgbClr val="028090"/>
              </a:solidFill>
              <a:prstDash val="solid"/>
              <a:miter/>
            </a:ln>
          </p:spPr>
        </p:sp>
      </p:grpSp>
      <p:grpSp>
        <p:nvGrpSpPr>
          <p:cNvPr name="Group 74" id="74"/>
          <p:cNvGrpSpPr/>
          <p:nvPr/>
        </p:nvGrpSpPr>
        <p:grpSpPr>
          <a:xfrm rot="0">
            <a:off x="5143500" y="6172200"/>
            <a:ext cx="466344" cy="466344"/>
            <a:chOff x="0" y="0"/>
            <a:chExt cx="621792" cy="621792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621792" cy="621792"/>
            </a:xfrm>
            <a:custGeom>
              <a:avLst/>
              <a:gdLst/>
              <a:ahLst/>
              <a:cxnLst/>
              <a:rect r="r" b="b" t="t" l="l"/>
              <a:pathLst>
                <a:path h="621792" w="621792">
                  <a:moveTo>
                    <a:pt x="0" y="0"/>
                  </a:moveTo>
                  <a:lnTo>
                    <a:pt x="621792" y="0"/>
                  </a:lnTo>
                  <a:lnTo>
                    <a:pt x="621792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19050"/>
              <a:ext cx="621792" cy="6408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6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5760720" y="6131052"/>
            <a:ext cx="3017520" cy="548640"/>
            <a:chOff x="0" y="0"/>
            <a:chExt cx="4023360" cy="73152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4023360" cy="731520"/>
            </a:xfrm>
            <a:custGeom>
              <a:avLst/>
              <a:gdLst/>
              <a:ahLst/>
              <a:cxnLst/>
              <a:rect r="r" b="b" t="t" l="l"/>
              <a:pathLst>
                <a:path h="731520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7167" r="0" b="-57167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19050"/>
              <a:ext cx="402336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2B2B2B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Urgency Levels</a:t>
              </a:r>
            </a:p>
          </p:txBody>
        </p:sp>
      </p:grpSp>
      <p:sp>
        <p:nvSpPr>
          <p:cNvPr name="TextBox 80" id="80"/>
          <p:cNvSpPr txBox="true"/>
          <p:nvPr/>
        </p:nvSpPr>
        <p:spPr>
          <a:xfrm rot="0">
            <a:off x="5212080" y="6742938"/>
            <a:ext cx="3497580" cy="2282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4A4A4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Highlight critical requests first.</a:t>
            </a:r>
          </a:p>
        </p:txBody>
      </p:sp>
      <p:grpSp>
        <p:nvGrpSpPr>
          <p:cNvPr name="Group 81" id="81"/>
          <p:cNvGrpSpPr/>
          <p:nvPr/>
        </p:nvGrpSpPr>
        <p:grpSpPr>
          <a:xfrm rot="0">
            <a:off x="9182576" y="5959316"/>
            <a:ext cx="4060508" cy="3237548"/>
            <a:chOff x="0" y="0"/>
            <a:chExt cx="5414010" cy="4316730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5414010" cy="4316730"/>
            </a:xfrm>
            <a:custGeom>
              <a:avLst/>
              <a:gdLst/>
              <a:ahLst/>
              <a:cxnLst/>
              <a:rect r="r" b="b" t="t" l="l"/>
              <a:pathLst>
                <a:path h="4316730" w="5414010">
                  <a:moveTo>
                    <a:pt x="0" y="0"/>
                  </a:moveTo>
                  <a:lnTo>
                    <a:pt x="5414010" y="0"/>
                  </a:lnTo>
                  <a:lnTo>
                    <a:pt x="5414010" y="4316730"/>
                  </a:lnTo>
                  <a:lnTo>
                    <a:pt x="0" y="4316730"/>
                  </a:lnTo>
                  <a:close/>
                </a:path>
              </a:pathLst>
            </a:custGeom>
            <a:solidFill>
              <a:srgbClr val="F7EDEA"/>
            </a:solidFill>
            <a:ln w="14288" cap="sq">
              <a:solidFill>
                <a:srgbClr val="E3CFC9"/>
              </a:solidFill>
              <a:prstDash val="solid"/>
              <a:miter/>
            </a:ln>
          </p:spPr>
        </p:sp>
      </p:grpSp>
      <p:grpSp>
        <p:nvGrpSpPr>
          <p:cNvPr name="Group 83" id="83"/>
          <p:cNvGrpSpPr/>
          <p:nvPr/>
        </p:nvGrpSpPr>
        <p:grpSpPr>
          <a:xfrm rot="0">
            <a:off x="9390698" y="6167438"/>
            <a:ext cx="475869" cy="475869"/>
            <a:chOff x="0" y="0"/>
            <a:chExt cx="634492" cy="634492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634492" cy="634492"/>
            </a:xfrm>
            <a:custGeom>
              <a:avLst/>
              <a:gdLst/>
              <a:ahLst/>
              <a:cxnLst/>
              <a:rect r="r" b="b" t="t" l="l"/>
              <a:pathLst>
                <a:path h="634492" w="634492">
                  <a:moveTo>
                    <a:pt x="0" y="317246"/>
                  </a:moveTo>
                  <a:cubicBezTo>
                    <a:pt x="0" y="141986"/>
                    <a:pt x="141986" y="0"/>
                    <a:pt x="317246" y="0"/>
                  </a:cubicBezTo>
                  <a:cubicBezTo>
                    <a:pt x="492506" y="0"/>
                    <a:pt x="634492" y="141986"/>
                    <a:pt x="634492" y="317246"/>
                  </a:cubicBezTo>
                  <a:cubicBezTo>
                    <a:pt x="634492" y="492506"/>
                    <a:pt x="492506" y="634492"/>
                    <a:pt x="317246" y="634492"/>
                  </a:cubicBezTo>
                  <a:cubicBezTo>
                    <a:pt x="141986" y="634492"/>
                    <a:pt x="0" y="492506"/>
                    <a:pt x="0" y="317246"/>
                  </a:cubicBezTo>
                  <a:close/>
                </a:path>
              </a:pathLst>
            </a:custGeom>
            <a:solidFill>
              <a:srgbClr val="C98A2C"/>
            </a:solidFill>
            <a:ln w="9525" cap="sq">
              <a:solidFill>
                <a:srgbClr val="C98A2C"/>
              </a:solidFill>
              <a:prstDash val="solid"/>
              <a:miter/>
            </a:ln>
          </p:spPr>
        </p:sp>
      </p:grpSp>
      <p:grpSp>
        <p:nvGrpSpPr>
          <p:cNvPr name="Group 85" id="85"/>
          <p:cNvGrpSpPr/>
          <p:nvPr/>
        </p:nvGrpSpPr>
        <p:grpSpPr>
          <a:xfrm rot="0">
            <a:off x="9395460" y="6172200"/>
            <a:ext cx="466344" cy="466344"/>
            <a:chOff x="0" y="0"/>
            <a:chExt cx="621792" cy="621792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621792" cy="621792"/>
            </a:xfrm>
            <a:custGeom>
              <a:avLst/>
              <a:gdLst/>
              <a:ahLst/>
              <a:cxnLst/>
              <a:rect r="r" b="b" t="t" l="l"/>
              <a:pathLst>
                <a:path h="621792" w="621792">
                  <a:moveTo>
                    <a:pt x="0" y="0"/>
                  </a:moveTo>
                  <a:lnTo>
                    <a:pt x="621792" y="0"/>
                  </a:lnTo>
                  <a:lnTo>
                    <a:pt x="621792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87" id="87"/>
            <p:cNvSpPr txBox="true"/>
            <p:nvPr/>
          </p:nvSpPr>
          <p:spPr>
            <a:xfrm>
              <a:off x="0" y="-19050"/>
              <a:ext cx="621792" cy="6408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7</a:t>
              </a:r>
            </a:p>
          </p:txBody>
        </p:sp>
      </p:grpSp>
      <p:grpSp>
        <p:nvGrpSpPr>
          <p:cNvPr name="Group 88" id="88"/>
          <p:cNvGrpSpPr/>
          <p:nvPr/>
        </p:nvGrpSpPr>
        <p:grpSpPr>
          <a:xfrm rot="0">
            <a:off x="10012680" y="6131052"/>
            <a:ext cx="3017520" cy="548640"/>
            <a:chOff x="0" y="0"/>
            <a:chExt cx="4023360" cy="731520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4023360" cy="731520"/>
            </a:xfrm>
            <a:custGeom>
              <a:avLst/>
              <a:gdLst/>
              <a:ahLst/>
              <a:cxnLst/>
              <a:rect r="r" b="b" t="t" l="l"/>
              <a:pathLst>
                <a:path h="731520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7167" r="0" b="-57167"/>
              </a:stretch>
            </a:blipFill>
          </p:spPr>
        </p:sp>
        <p:sp>
          <p:nvSpPr>
            <p:cNvPr name="TextBox 90" id="90"/>
            <p:cNvSpPr txBox="true"/>
            <p:nvPr/>
          </p:nvSpPr>
          <p:spPr>
            <a:xfrm>
              <a:off x="0" y="-19050"/>
              <a:ext cx="402336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2B2B2B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Secure Access</a:t>
              </a:r>
            </a:p>
          </p:txBody>
        </p:sp>
      </p:grpSp>
      <p:sp>
        <p:nvSpPr>
          <p:cNvPr name="TextBox 91" id="91"/>
          <p:cNvSpPr txBox="true"/>
          <p:nvPr/>
        </p:nvSpPr>
        <p:spPr>
          <a:xfrm rot="0">
            <a:off x="9464040" y="6742938"/>
            <a:ext cx="3497580" cy="2282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4A4A4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Protect donor data with login and validation.</a:t>
            </a:r>
          </a:p>
        </p:txBody>
      </p:sp>
      <p:grpSp>
        <p:nvGrpSpPr>
          <p:cNvPr name="Group 92" id="92"/>
          <p:cNvGrpSpPr/>
          <p:nvPr/>
        </p:nvGrpSpPr>
        <p:grpSpPr>
          <a:xfrm rot="0">
            <a:off x="13434536" y="5959316"/>
            <a:ext cx="4060508" cy="3237548"/>
            <a:chOff x="0" y="0"/>
            <a:chExt cx="5414010" cy="4316730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5414010" cy="4316730"/>
            </a:xfrm>
            <a:custGeom>
              <a:avLst/>
              <a:gdLst/>
              <a:ahLst/>
              <a:cxnLst/>
              <a:rect r="r" b="b" t="t" l="l"/>
              <a:pathLst>
                <a:path h="4316730" w="5414010">
                  <a:moveTo>
                    <a:pt x="0" y="0"/>
                  </a:moveTo>
                  <a:lnTo>
                    <a:pt x="5414010" y="0"/>
                  </a:lnTo>
                  <a:lnTo>
                    <a:pt x="5414010" y="4316730"/>
                  </a:lnTo>
                  <a:lnTo>
                    <a:pt x="0" y="4316730"/>
                  </a:lnTo>
                  <a:close/>
                </a:path>
              </a:pathLst>
            </a:custGeom>
            <a:solidFill>
              <a:srgbClr val="F7EDEA"/>
            </a:solidFill>
            <a:ln w="14288" cap="sq">
              <a:solidFill>
                <a:srgbClr val="E3CFC9"/>
              </a:solidFill>
              <a:prstDash val="solid"/>
              <a:miter/>
            </a:ln>
          </p:spPr>
        </p:sp>
      </p:grpSp>
      <p:grpSp>
        <p:nvGrpSpPr>
          <p:cNvPr name="Group 94" id="94"/>
          <p:cNvGrpSpPr/>
          <p:nvPr/>
        </p:nvGrpSpPr>
        <p:grpSpPr>
          <a:xfrm rot="0">
            <a:off x="13642657" y="6167438"/>
            <a:ext cx="475869" cy="475869"/>
            <a:chOff x="0" y="0"/>
            <a:chExt cx="634492" cy="634492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634492" cy="634492"/>
            </a:xfrm>
            <a:custGeom>
              <a:avLst/>
              <a:gdLst/>
              <a:ahLst/>
              <a:cxnLst/>
              <a:rect r="r" b="b" t="t" l="l"/>
              <a:pathLst>
                <a:path h="634492" w="634492">
                  <a:moveTo>
                    <a:pt x="0" y="317246"/>
                  </a:moveTo>
                  <a:cubicBezTo>
                    <a:pt x="0" y="141986"/>
                    <a:pt x="141986" y="0"/>
                    <a:pt x="317246" y="0"/>
                  </a:cubicBezTo>
                  <a:cubicBezTo>
                    <a:pt x="492506" y="0"/>
                    <a:pt x="634492" y="141986"/>
                    <a:pt x="634492" y="317246"/>
                  </a:cubicBezTo>
                  <a:cubicBezTo>
                    <a:pt x="634492" y="492506"/>
                    <a:pt x="492506" y="634492"/>
                    <a:pt x="317246" y="634492"/>
                  </a:cubicBezTo>
                  <a:cubicBezTo>
                    <a:pt x="141986" y="634492"/>
                    <a:pt x="0" y="492506"/>
                    <a:pt x="0" y="317246"/>
                  </a:cubicBezTo>
                  <a:close/>
                </a:path>
              </a:pathLst>
            </a:custGeom>
            <a:solidFill>
              <a:srgbClr val="6E2723"/>
            </a:solidFill>
            <a:ln w="9525" cap="sq">
              <a:solidFill>
                <a:srgbClr val="6E2723"/>
              </a:solidFill>
              <a:prstDash val="solid"/>
              <a:miter/>
            </a:ln>
          </p:spPr>
        </p:sp>
      </p:grpSp>
      <p:grpSp>
        <p:nvGrpSpPr>
          <p:cNvPr name="Group 96" id="96"/>
          <p:cNvGrpSpPr/>
          <p:nvPr/>
        </p:nvGrpSpPr>
        <p:grpSpPr>
          <a:xfrm rot="0">
            <a:off x="13647420" y="6172200"/>
            <a:ext cx="466344" cy="466344"/>
            <a:chOff x="0" y="0"/>
            <a:chExt cx="621792" cy="621792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621792" cy="621792"/>
            </a:xfrm>
            <a:custGeom>
              <a:avLst/>
              <a:gdLst/>
              <a:ahLst/>
              <a:cxnLst/>
              <a:rect r="r" b="b" t="t" l="l"/>
              <a:pathLst>
                <a:path h="621792" w="621792">
                  <a:moveTo>
                    <a:pt x="0" y="0"/>
                  </a:moveTo>
                  <a:lnTo>
                    <a:pt x="621792" y="0"/>
                  </a:lnTo>
                  <a:lnTo>
                    <a:pt x="621792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98" id="98"/>
            <p:cNvSpPr txBox="true"/>
            <p:nvPr/>
          </p:nvSpPr>
          <p:spPr>
            <a:xfrm>
              <a:off x="0" y="-19050"/>
              <a:ext cx="621792" cy="6408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8</a:t>
              </a:r>
            </a:p>
          </p:txBody>
        </p:sp>
      </p:grpSp>
      <p:grpSp>
        <p:nvGrpSpPr>
          <p:cNvPr name="Group 99" id="99"/>
          <p:cNvGrpSpPr/>
          <p:nvPr/>
        </p:nvGrpSpPr>
        <p:grpSpPr>
          <a:xfrm rot="0">
            <a:off x="14264640" y="6131052"/>
            <a:ext cx="3017520" cy="548640"/>
            <a:chOff x="0" y="0"/>
            <a:chExt cx="4023360" cy="731520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4023360" cy="731520"/>
            </a:xfrm>
            <a:custGeom>
              <a:avLst/>
              <a:gdLst/>
              <a:ahLst/>
              <a:cxnLst/>
              <a:rect r="r" b="b" t="t" l="l"/>
              <a:pathLst>
                <a:path h="731520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7167" r="0" b="-57167"/>
              </a:stretch>
            </a:blipFill>
          </p:spPr>
        </p:sp>
        <p:sp>
          <p:nvSpPr>
            <p:cNvPr name="TextBox 101" id="101"/>
            <p:cNvSpPr txBox="true"/>
            <p:nvPr/>
          </p:nvSpPr>
          <p:spPr>
            <a:xfrm>
              <a:off x="0" y="-19050"/>
              <a:ext cx="402336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2B2B2B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Simple Interface</a:t>
              </a:r>
            </a:p>
          </p:txBody>
        </p:sp>
      </p:grpSp>
      <p:sp>
        <p:nvSpPr>
          <p:cNvPr name="TextBox 102" id="102"/>
          <p:cNvSpPr txBox="true"/>
          <p:nvPr/>
        </p:nvSpPr>
        <p:spPr>
          <a:xfrm rot="0">
            <a:off x="13716000" y="6742938"/>
            <a:ext cx="3497580" cy="2282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4A4A4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Keep the UI usable under stress on any phone.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7144" y="102584"/>
            <a:ext cx="18301830" cy="864680"/>
            <a:chOff x="0" y="0"/>
            <a:chExt cx="24402440" cy="115290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152906"/>
            </a:xfrm>
            <a:custGeom>
              <a:avLst/>
              <a:gdLst/>
              <a:ahLst/>
              <a:cxnLst/>
              <a:rect r="r" b="b" t="t" l="l"/>
              <a:pathLst>
                <a:path h="1152906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152906"/>
                  </a:lnTo>
                  <a:lnTo>
                    <a:pt x="0" y="1152906"/>
                  </a:lnTo>
                  <a:close/>
                </a:path>
              </a:pathLst>
            </a:custGeom>
            <a:solidFill>
              <a:srgbClr val="953734"/>
            </a:solidFill>
            <a:ln w="14288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411480" y="109728"/>
            <a:ext cx="17464583" cy="850392"/>
            <a:chOff x="0" y="0"/>
            <a:chExt cx="23286110" cy="113385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3286110" cy="1133856"/>
            </a:xfrm>
            <a:custGeom>
              <a:avLst/>
              <a:gdLst/>
              <a:ahLst/>
              <a:cxnLst/>
              <a:rect r="r" b="b" t="t" l="l"/>
              <a:pathLst>
                <a:path h="1133856" w="23286110">
                  <a:moveTo>
                    <a:pt x="0" y="0"/>
                  </a:moveTo>
                  <a:lnTo>
                    <a:pt x="23286110" y="0"/>
                  </a:lnTo>
                  <a:lnTo>
                    <a:pt x="2328611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0166" r="0" b="-35016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23286110" cy="11529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60"/>
                </a:lnSpc>
              </a:pPr>
              <a:r>
                <a:rPr lang="en-US" sz="3300" b="true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Scope of the Project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7323308" y="9738360"/>
            <a:ext cx="685800" cy="411480"/>
            <a:chOff x="0" y="0"/>
            <a:chExt cx="914400" cy="5486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91440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99999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12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78656" y="1295876"/>
            <a:ext cx="8312468" cy="3923347"/>
            <a:chOff x="0" y="0"/>
            <a:chExt cx="11083290" cy="523113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1083290" cy="5231130"/>
            </a:xfrm>
            <a:custGeom>
              <a:avLst/>
              <a:gdLst/>
              <a:ahLst/>
              <a:cxnLst/>
              <a:rect r="r" b="b" t="t" l="l"/>
              <a:pathLst>
                <a:path h="5231130" w="11083290">
                  <a:moveTo>
                    <a:pt x="0" y="0"/>
                  </a:moveTo>
                  <a:lnTo>
                    <a:pt x="11083290" y="0"/>
                  </a:lnTo>
                  <a:lnTo>
                    <a:pt x="11083290" y="5231130"/>
                  </a:lnTo>
                  <a:lnTo>
                    <a:pt x="0" y="5231130"/>
                  </a:lnTo>
                  <a:close/>
                </a:path>
              </a:pathLst>
            </a:custGeom>
            <a:solidFill>
              <a:srgbClr val="F7EDEA"/>
            </a:solidFill>
            <a:ln w="14288" cap="sq">
              <a:solidFill>
                <a:srgbClr val="E3CFC9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678656" y="1295876"/>
            <a:ext cx="8312468" cy="562928"/>
            <a:chOff x="0" y="0"/>
            <a:chExt cx="11083290" cy="75057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1083290" cy="750570"/>
            </a:xfrm>
            <a:custGeom>
              <a:avLst/>
              <a:gdLst/>
              <a:ahLst/>
              <a:cxnLst/>
              <a:rect r="r" b="b" t="t" l="l"/>
              <a:pathLst>
                <a:path h="750570" w="11083290">
                  <a:moveTo>
                    <a:pt x="0" y="0"/>
                  </a:moveTo>
                  <a:lnTo>
                    <a:pt x="11083290" y="0"/>
                  </a:lnTo>
                  <a:lnTo>
                    <a:pt x="11083290" y="750570"/>
                  </a:lnTo>
                  <a:lnTo>
                    <a:pt x="0" y="750570"/>
                  </a:lnTo>
                  <a:close/>
                </a:path>
              </a:pathLst>
            </a:custGeom>
            <a:solidFill>
              <a:srgbClr val="953734"/>
            </a:solidFill>
            <a:ln w="14288" cap="sq">
              <a:solidFill>
                <a:srgbClr val="953734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754380" y="1303020"/>
            <a:ext cx="8161020" cy="548640"/>
            <a:chOff x="0" y="0"/>
            <a:chExt cx="10881360" cy="73152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881360" cy="731520"/>
            </a:xfrm>
            <a:custGeom>
              <a:avLst/>
              <a:gdLst/>
              <a:ahLst/>
              <a:cxnLst/>
              <a:rect r="r" b="b" t="t" l="l"/>
              <a:pathLst>
                <a:path h="731520" w="10881360">
                  <a:moveTo>
                    <a:pt x="0" y="0"/>
                  </a:moveTo>
                  <a:lnTo>
                    <a:pt x="10881360" y="0"/>
                  </a:lnTo>
                  <a:lnTo>
                    <a:pt x="108813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9839" r="0" b="-239839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19050"/>
              <a:ext cx="1088136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Functional Scope</a:t>
              </a: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028700" y="2038350"/>
            <a:ext cx="7680960" cy="3036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07194" indent="-203597" lvl="1">
              <a:lnSpc>
                <a:spcPts val="2700"/>
              </a:lnSpc>
              <a:buFont typeface="Arial"/>
              <a:buChar char="•"/>
            </a:pPr>
            <a:r>
              <a:rPr lang="en-US" sz="2250">
                <a:solidFill>
                  <a:srgbClr val="2B2B2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Donor registration and login</a:t>
            </a:r>
          </a:p>
          <a:p>
            <a:pPr algn="l" marL="407194" indent="-203597" lvl="1">
              <a:lnSpc>
                <a:spcPts val="2700"/>
              </a:lnSpc>
              <a:buFont typeface="Arial"/>
              <a:buChar char="•"/>
            </a:pPr>
            <a:r>
              <a:rPr lang="en-US" sz="2250">
                <a:solidFill>
                  <a:srgbClr val="2B2B2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Blood-group and locality search</a:t>
            </a:r>
          </a:p>
          <a:p>
            <a:pPr algn="l" marL="407194" indent="-203597" lvl="1">
              <a:lnSpc>
                <a:spcPts val="2700"/>
              </a:lnSpc>
              <a:buFont typeface="Arial"/>
              <a:buChar char="•"/>
            </a:pPr>
            <a:r>
              <a:rPr lang="en-US" sz="2250">
                <a:solidFill>
                  <a:srgbClr val="2B2B2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SOS request creation</a:t>
            </a:r>
          </a:p>
          <a:p>
            <a:pPr algn="l" marL="407194" indent="-203597" lvl="1">
              <a:lnSpc>
                <a:spcPts val="2700"/>
              </a:lnSpc>
              <a:buFont typeface="Arial"/>
              <a:buChar char="•"/>
            </a:pPr>
            <a:r>
              <a:rPr lang="en-US" sz="2250">
                <a:solidFill>
                  <a:srgbClr val="2B2B2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Live urgent request board</a:t>
            </a:r>
          </a:p>
          <a:p>
            <a:pPr algn="l" marL="407194" indent="-203597" lvl="1">
              <a:lnSpc>
                <a:spcPts val="2700"/>
              </a:lnSpc>
              <a:buFont typeface="Arial"/>
              <a:buChar char="•"/>
            </a:pPr>
            <a:r>
              <a:rPr lang="en-US" sz="2250">
                <a:solidFill>
                  <a:srgbClr val="2B2B2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One-click contact links</a:t>
            </a:r>
          </a:p>
          <a:p>
            <a:pPr algn="l" marL="407194" indent="-203597" lvl="1">
              <a:lnSpc>
                <a:spcPts val="2700"/>
              </a:lnSpc>
              <a:buFont typeface="Arial"/>
              <a:buChar char="•"/>
            </a:pPr>
            <a:r>
              <a:rPr lang="en-US" sz="2250">
                <a:solidFill>
                  <a:srgbClr val="2B2B2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Availability toggle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9251156" y="1295876"/>
            <a:ext cx="8312468" cy="3923347"/>
            <a:chOff x="0" y="0"/>
            <a:chExt cx="11083290" cy="523113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1083290" cy="5231130"/>
            </a:xfrm>
            <a:custGeom>
              <a:avLst/>
              <a:gdLst/>
              <a:ahLst/>
              <a:cxnLst/>
              <a:rect r="r" b="b" t="t" l="l"/>
              <a:pathLst>
                <a:path h="5231130" w="11083290">
                  <a:moveTo>
                    <a:pt x="0" y="0"/>
                  </a:moveTo>
                  <a:lnTo>
                    <a:pt x="11083290" y="0"/>
                  </a:lnTo>
                  <a:lnTo>
                    <a:pt x="11083290" y="5231130"/>
                  </a:lnTo>
                  <a:lnTo>
                    <a:pt x="0" y="5231130"/>
                  </a:lnTo>
                  <a:close/>
                </a:path>
              </a:pathLst>
            </a:custGeom>
            <a:solidFill>
              <a:srgbClr val="F7EDEA"/>
            </a:solidFill>
            <a:ln w="14288" cap="sq">
              <a:solidFill>
                <a:srgbClr val="E3CFC9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9251156" y="1295876"/>
            <a:ext cx="8312468" cy="562928"/>
            <a:chOff x="0" y="0"/>
            <a:chExt cx="11083290" cy="75057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1083290" cy="750570"/>
            </a:xfrm>
            <a:custGeom>
              <a:avLst/>
              <a:gdLst/>
              <a:ahLst/>
              <a:cxnLst/>
              <a:rect r="r" b="b" t="t" l="l"/>
              <a:pathLst>
                <a:path h="750570" w="11083290">
                  <a:moveTo>
                    <a:pt x="0" y="0"/>
                  </a:moveTo>
                  <a:lnTo>
                    <a:pt x="11083290" y="0"/>
                  </a:lnTo>
                  <a:lnTo>
                    <a:pt x="11083290" y="750570"/>
                  </a:lnTo>
                  <a:lnTo>
                    <a:pt x="0" y="750570"/>
                  </a:lnTo>
                  <a:close/>
                </a:path>
              </a:pathLst>
            </a:custGeom>
            <a:solidFill>
              <a:srgbClr val="028090"/>
            </a:solidFill>
            <a:ln w="14288" cap="sq">
              <a:solidFill>
                <a:srgbClr val="028090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9326880" y="1303020"/>
            <a:ext cx="8161020" cy="548640"/>
            <a:chOff x="0" y="0"/>
            <a:chExt cx="10881360" cy="73152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881360" cy="731520"/>
            </a:xfrm>
            <a:custGeom>
              <a:avLst/>
              <a:gdLst/>
              <a:ahLst/>
              <a:cxnLst/>
              <a:rect r="r" b="b" t="t" l="l"/>
              <a:pathLst>
                <a:path h="731520" w="10881360">
                  <a:moveTo>
                    <a:pt x="0" y="0"/>
                  </a:moveTo>
                  <a:lnTo>
                    <a:pt x="10881360" y="0"/>
                  </a:lnTo>
                  <a:lnTo>
                    <a:pt x="108813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9839" r="0" b="-239839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19050"/>
              <a:ext cx="1088136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Users</a:t>
              </a: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9601200" y="2038350"/>
            <a:ext cx="7680960" cy="3036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07194" indent="-203597" lvl="1">
              <a:lnSpc>
                <a:spcPts val="2700"/>
              </a:lnSpc>
              <a:buFont typeface="Arial"/>
              <a:buChar char="•"/>
            </a:pPr>
            <a:r>
              <a:rPr lang="en-US" sz="2250">
                <a:solidFill>
                  <a:srgbClr val="2B2B2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Volunteer donors</a:t>
            </a:r>
          </a:p>
          <a:p>
            <a:pPr algn="l" marL="407194" indent="-203597" lvl="1">
              <a:lnSpc>
                <a:spcPts val="2700"/>
              </a:lnSpc>
              <a:buFont typeface="Arial"/>
              <a:buChar char="•"/>
            </a:pPr>
            <a:r>
              <a:rPr lang="en-US" sz="2250">
                <a:solidFill>
                  <a:srgbClr val="2B2B2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Requesters (patients’ families)</a:t>
            </a:r>
          </a:p>
          <a:p>
            <a:pPr algn="l" marL="407194" indent="-203597" lvl="1">
              <a:lnSpc>
                <a:spcPts val="2700"/>
              </a:lnSpc>
              <a:buFont typeface="Arial"/>
              <a:buChar char="•"/>
            </a:pPr>
            <a:r>
              <a:rPr lang="en-US" sz="2250">
                <a:solidFill>
                  <a:srgbClr val="2B2B2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Society / neighbourhood members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678656" y="5410676"/>
            <a:ext cx="8312468" cy="3923347"/>
            <a:chOff x="0" y="0"/>
            <a:chExt cx="11083290" cy="523113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1083290" cy="5231130"/>
            </a:xfrm>
            <a:custGeom>
              <a:avLst/>
              <a:gdLst/>
              <a:ahLst/>
              <a:cxnLst/>
              <a:rect r="r" b="b" t="t" l="l"/>
              <a:pathLst>
                <a:path h="5231130" w="11083290">
                  <a:moveTo>
                    <a:pt x="0" y="0"/>
                  </a:moveTo>
                  <a:lnTo>
                    <a:pt x="11083290" y="0"/>
                  </a:lnTo>
                  <a:lnTo>
                    <a:pt x="11083290" y="5231130"/>
                  </a:lnTo>
                  <a:lnTo>
                    <a:pt x="0" y="5231130"/>
                  </a:lnTo>
                  <a:close/>
                </a:path>
              </a:pathLst>
            </a:custGeom>
            <a:solidFill>
              <a:srgbClr val="F7EDEA"/>
            </a:solidFill>
            <a:ln w="14288" cap="sq">
              <a:solidFill>
                <a:srgbClr val="E3CFC9"/>
              </a:solidFill>
              <a:prstDash val="solid"/>
              <a:miter/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678656" y="5410676"/>
            <a:ext cx="8312468" cy="562928"/>
            <a:chOff x="0" y="0"/>
            <a:chExt cx="11083290" cy="75057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1083290" cy="750570"/>
            </a:xfrm>
            <a:custGeom>
              <a:avLst/>
              <a:gdLst/>
              <a:ahLst/>
              <a:cxnLst/>
              <a:rect r="r" b="b" t="t" l="l"/>
              <a:pathLst>
                <a:path h="750570" w="11083290">
                  <a:moveTo>
                    <a:pt x="0" y="0"/>
                  </a:moveTo>
                  <a:lnTo>
                    <a:pt x="11083290" y="0"/>
                  </a:lnTo>
                  <a:lnTo>
                    <a:pt x="11083290" y="750570"/>
                  </a:lnTo>
                  <a:lnTo>
                    <a:pt x="0" y="750570"/>
                  </a:lnTo>
                  <a:close/>
                </a:path>
              </a:pathLst>
            </a:custGeom>
            <a:solidFill>
              <a:srgbClr val="C98A2C"/>
            </a:solidFill>
            <a:ln w="14288" cap="sq">
              <a:solidFill>
                <a:srgbClr val="C98A2C"/>
              </a:solidFill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754380" y="5417820"/>
            <a:ext cx="8161020" cy="548640"/>
            <a:chOff x="0" y="0"/>
            <a:chExt cx="10881360" cy="73152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0881360" cy="731520"/>
            </a:xfrm>
            <a:custGeom>
              <a:avLst/>
              <a:gdLst/>
              <a:ahLst/>
              <a:cxnLst/>
              <a:rect r="r" b="b" t="t" l="l"/>
              <a:pathLst>
                <a:path h="731520" w="10881360">
                  <a:moveTo>
                    <a:pt x="0" y="0"/>
                  </a:moveTo>
                  <a:lnTo>
                    <a:pt x="10881360" y="0"/>
                  </a:lnTo>
                  <a:lnTo>
                    <a:pt x="108813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9839" r="0" b="-239839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19050"/>
              <a:ext cx="1088136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Supporting Scope</a:t>
              </a:r>
            </a:p>
          </p:txBody>
        </p:sp>
      </p:grpSp>
      <p:sp>
        <p:nvSpPr>
          <p:cNvPr name="TextBox 33" id="33"/>
          <p:cNvSpPr txBox="true"/>
          <p:nvPr/>
        </p:nvSpPr>
        <p:spPr>
          <a:xfrm rot="0">
            <a:off x="1028700" y="6153150"/>
            <a:ext cx="7680960" cy="3036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07194" indent="-203597" lvl="1">
              <a:lnSpc>
                <a:spcPts val="2700"/>
              </a:lnSpc>
              <a:buFont typeface="Arial"/>
              <a:buChar char="•"/>
            </a:pPr>
            <a:r>
              <a:rPr lang="en-US" sz="2250">
                <a:solidFill>
                  <a:srgbClr val="2B2B2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Urgency levels and request status</a:t>
            </a:r>
          </a:p>
          <a:p>
            <a:pPr algn="l" marL="407194" indent="-203597" lvl="1">
              <a:lnSpc>
                <a:spcPts val="2700"/>
              </a:lnSpc>
              <a:buFont typeface="Arial"/>
              <a:buChar char="•"/>
            </a:pPr>
            <a:r>
              <a:rPr lang="en-US" sz="2250">
                <a:solidFill>
                  <a:srgbClr val="2B2B2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Blood compatibility matching</a:t>
            </a:r>
          </a:p>
          <a:p>
            <a:pPr algn="l" marL="407194" indent="-203597" lvl="1">
              <a:lnSpc>
                <a:spcPts val="2700"/>
              </a:lnSpc>
              <a:buFont typeface="Arial"/>
              <a:buChar char="•"/>
            </a:pPr>
            <a:r>
              <a:rPr lang="en-US" sz="2250">
                <a:solidFill>
                  <a:srgbClr val="2B2B2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Input validation and error handling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9251156" y="5410676"/>
            <a:ext cx="8312468" cy="3923347"/>
            <a:chOff x="0" y="0"/>
            <a:chExt cx="11083290" cy="523113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1083290" cy="5231130"/>
            </a:xfrm>
            <a:custGeom>
              <a:avLst/>
              <a:gdLst/>
              <a:ahLst/>
              <a:cxnLst/>
              <a:rect r="r" b="b" t="t" l="l"/>
              <a:pathLst>
                <a:path h="5231130" w="11083290">
                  <a:moveTo>
                    <a:pt x="0" y="0"/>
                  </a:moveTo>
                  <a:lnTo>
                    <a:pt x="11083290" y="0"/>
                  </a:lnTo>
                  <a:lnTo>
                    <a:pt x="11083290" y="5231130"/>
                  </a:lnTo>
                  <a:lnTo>
                    <a:pt x="0" y="5231130"/>
                  </a:lnTo>
                  <a:close/>
                </a:path>
              </a:pathLst>
            </a:custGeom>
            <a:solidFill>
              <a:srgbClr val="F7EDEA"/>
            </a:solidFill>
            <a:ln w="14288" cap="sq">
              <a:solidFill>
                <a:srgbClr val="E3CFC9"/>
              </a:solidFill>
              <a:prstDash val="solid"/>
              <a:miter/>
            </a:ln>
          </p:spPr>
        </p:sp>
      </p:grpSp>
      <p:grpSp>
        <p:nvGrpSpPr>
          <p:cNvPr name="Group 36" id="36"/>
          <p:cNvGrpSpPr/>
          <p:nvPr/>
        </p:nvGrpSpPr>
        <p:grpSpPr>
          <a:xfrm rot="0">
            <a:off x="9251156" y="5410676"/>
            <a:ext cx="8312468" cy="562928"/>
            <a:chOff x="0" y="0"/>
            <a:chExt cx="11083290" cy="75057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1083290" cy="750570"/>
            </a:xfrm>
            <a:custGeom>
              <a:avLst/>
              <a:gdLst/>
              <a:ahLst/>
              <a:cxnLst/>
              <a:rect r="r" b="b" t="t" l="l"/>
              <a:pathLst>
                <a:path h="750570" w="11083290">
                  <a:moveTo>
                    <a:pt x="0" y="0"/>
                  </a:moveTo>
                  <a:lnTo>
                    <a:pt x="11083290" y="0"/>
                  </a:lnTo>
                  <a:lnTo>
                    <a:pt x="11083290" y="750570"/>
                  </a:lnTo>
                  <a:lnTo>
                    <a:pt x="0" y="750570"/>
                  </a:lnTo>
                  <a:close/>
                </a:path>
              </a:pathLst>
            </a:custGeom>
            <a:solidFill>
              <a:srgbClr val="444444"/>
            </a:solidFill>
            <a:ln w="14288" cap="sq">
              <a:solidFill>
                <a:srgbClr val="444444"/>
              </a:solidFill>
              <a:prstDash val="solid"/>
              <a:miter/>
            </a:ln>
          </p:spPr>
        </p:sp>
      </p:grpSp>
      <p:grpSp>
        <p:nvGrpSpPr>
          <p:cNvPr name="Group 38" id="38"/>
          <p:cNvGrpSpPr/>
          <p:nvPr/>
        </p:nvGrpSpPr>
        <p:grpSpPr>
          <a:xfrm rot="0">
            <a:off x="9326880" y="5417820"/>
            <a:ext cx="8161020" cy="548640"/>
            <a:chOff x="0" y="0"/>
            <a:chExt cx="10881360" cy="73152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0881360" cy="731520"/>
            </a:xfrm>
            <a:custGeom>
              <a:avLst/>
              <a:gdLst/>
              <a:ahLst/>
              <a:cxnLst/>
              <a:rect r="r" b="b" t="t" l="l"/>
              <a:pathLst>
                <a:path h="731520" w="10881360">
                  <a:moveTo>
                    <a:pt x="0" y="0"/>
                  </a:moveTo>
                  <a:lnTo>
                    <a:pt x="10881360" y="0"/>
                  </a:lnTo>
                  <a:lnTo>
                    <a:pt x="108813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9839" r="0" b="-239839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19050"/>
              <a:ext cx="1088136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Limitations</a:t>
              </a:r>
            </a:p>
          </p:txBody>
        </p:sp>
      </p:grpSp>
      <p:sp>
        <p:nvSpPr>
          <p:cNvPr name="TextBox 41" id="41"/>
          <p:cNvSpPr txBox="true"/>
          <p:nvPr/>
        </p:nvSpPr>
        <p:spPr>
          <a:xfrm rot="0">
            <a:off x="9601200" y="6153150"/>
            <a:ext cx="7680960" cy="3036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07194" indent="-203597" lvl="1">
              <a:lnSpc>
                <a:spcPts val="2700"/>
              </a:lnSpc>
              <a:buFont typeface="Arial"/>
              <a:buChar char="•"/>
            </a:pPr>
            <a:r>
              <a:rPr lang="en-US" sz="2250">
                <a:solidFill>
                  <a:srgbClr val="2B2B2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Web-based; no native mobile app</a:t>
            </a:r>
          </a:p>
          <a:p>
            <a:pPr algn="l" marL="407194" indent="-203597" lvl="1">
              <a:lnSpc>
                <a:spcPts val="2700"/>
              </a:lnSpc>
              <a:buFont typeface="Arial"/>
              <a:buChar char="•"/>
            </a:pPr>
            <a:r>
              <a:rPr lang="en-US" sz="2250">
                <a:solidFill>
                  <a:srgbClr val="2B2B2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 medical eligibility verification</a:t>
            </a:r>
          </a:p>
          <a:p>
            <a:pPr algn="l" marL="407194" indent="-203597" lvl="1">
              <a:lnSpc>
                <a:spcPts val="2700"/>
              </a:lnSpc>
              <a:buFont typeface="Arial"/>
              <a:buChar char="•"/>
            </a:pPr>
            <a:r>
              <a:rPr lang="en-US" sz="2250">
                <a:solidFill>
                  <a:srgbClr val="2B2B2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 SMS / push alerts in this version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7144" y="102584"/>
            <a:ext cx="18301830" cy="864680"/>
            <a:chOff x="0" y="0"/>
            <a:chExt cx="24402440" cy="115290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152906"/>
            </a:xfrm>
            <a:custGeom>
              <a:avLst/>
              <a:gdLst/>
              <a:ahLst/>
              <a:cxnLst/>
              <a:rect r="r" b="b" t="t" l="l"/>
              <a:pathLst>
                <a:path h="1152906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152906"/>
                  </a:lnTo>
                  <a:lnTo>
                    <a:pt x="0" y="1152906"/>
                  </a:lnTo>
                  <a:close/>
                </a:path>
              </a:pathLst>
            </a:custGeom>
            <a:solidFill>
              <a:srgbClr val="953734"/>
            </a:solidFill>
            <a:ln w="14288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411480" y="109728"/>
            <a:ext cx="17464583" cy="850392"/>
            <a:chOff x="0" y="0"/>
            <a:chExt cx="23286110" cy="113385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3286110" cy="1133856"/>
            </a:xfrm>
            <a:custGeom>
              <a:avLst/>
              <a:gdLst/>
              <a:ahLst/>
              <a:cxnLst/>
              <a:rect r="r" b="b" t="t" l="l"/>
              <a:pathLst>
                <a:path h="1133856" w="23286110">
                  <a:moveTo>
                    <a:pt x="0" y="0"/>
                  </a:moveTo>
                  <a:lnTo>
                    <a:pt x="23286110" y="0"/>
                  </a:lnTo>
                  <a:lnTo>
                    <a:pt x="2328611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0166" r="0" b="-35016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23286110" cy="11529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60"/>
                </a:lnSpc>
              </a:pPr>
              <a:r>
                <a:rPr lang="en-US" sz="3300" b="true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Literature Survey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7323308" y="9738360"/>
            <a:ext cx="685800" cy="411480"/>
            <a:chOff x="0" y="0"/>
            <a:chExt cx="914400" cy="5486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91440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99999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13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78656" y="1295876"/>
            <a:ext cx="16884968" cy="1180148"/>
            <a:chOff x="0" y="0"/>
            <a:chExt cx="22513290" cy="157353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2513289" cy="1573530"/>
            </a:xfrm>
            <a:custGeom>
              <a:avLst/>
              <a:gdLst/>
              <a:ahLst/>
              <a:cxnLst/>
              <a:rect r="r" b="b" t="t" l="l"/>
              <a:pathLst>
                <a:path h="1573530" w="22513289">
                  <a:moveTo>
                    <a:pt x="0" y="0"/>
                  </a:moveTo>
                  <a:lnTo>
                    <a:pt x="22513289" y="0"/>
                  </a:lnTo>
                  <a:lnTo>
                    <a:pt x="22513289" y="1573530"/>
                  </a:lnTo>
                  <a:lnTo>
                    <a:pt x="0" y="1573530"/>
                  </a:lnTo>
                  <a:close/>
                </a:path>
              </a:pathLst>
            </a:custGeom>
            <a:solidFill>
              <a:srgbClr val="F7EDEA"/>
            </a:solidFill>
            <a:ln w="14288" cap="sq">
              <a:solidFill>
                <a:srgbClr val="E3CFC9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927926" y="1641158"/>
            <a:ext cx="503301" cy="503301"/>
            <a:chOff x="0" y="0"/>
            <a:chExt cx="671068" cy="67106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71068" cy="671068"/>
            </a:xfrm>
            <a:custGeom>
              <a:avLst/>
              <a:gdLst/>
              <a:ahLst/>
              <a:cxnLst/>
              <a:rect r="r" b="b" t="t" l="l"/>
              <a:pathLst>
                <a:path h="671068" w="671068">
                  <a:moveTo>
                    <a:pt x="0" y="335534"/>
                  </a:moveTo>
                  <a:cubicBezTo>
                    <a:pt x="0" y="150241"/>
                    <a:pt x="150241" y="0"/>
                    <a:pt x="335534" y="0"/>
                  </a:cubicBezTo>
                  <a:cubicBezTo>
                    <a:pt x="520827" y="0"/>
                    <a:pt x="671068" y="150241"/>
                    <a:pt x="671068" y="335534"/>
                  </a:cubicBezTo>
                  <a:cubicBezTo>
                    <a:pt x="671068" y="520827"/>
                    <a:pt x="520827" y="671068"/>
                    <a:pt x="335534" y="671068"/>
                  </a:cubicBezTo>
                  <a:cubicBezTo>
                    <a:pt x="150241" y="671068"/>
                    <a:pt x="0" y="520827"/>
                    <a:pt x="0" y="335534"/>
                  </a:cubicBezTo>
                  <a:close/>
                </a:path>
              </a:pathLst>
            </a:custGeom>
            <a:solidFill>
              <a:srgbClr val="953734"/>
            </a:solidFill>
            <a:ln w="9525" cap="sq">
              <a:solidFill>
                <a:srgbClr val="953734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932688" y="1645920"/>
            <a:ext cx="493776" cy="493776"/>
            <a:chOff x="0" y="0"/>
            <a:chExt cx="658368" cy="65836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58368" cy="658368"/>
            </a:xfrm>
            <a:custGeom>
              <a:avLst/>
              <a:gdLst/>
              <a:ahLst/>
              <a:cxnLst/>
              <a:rect r="r" b="b" t="t" l="l"/>
              <a:pathLst>
                <a:path h="658368" w="658368">
                  <a:moveTo>
                    <a:pt x="0" y="0"/>
                  </a:moveTo>
                  <a:lnTo>
                    <a:pt x="658368" y="0"/>
                  </a:lnTo>
                  <a:lnTo>
                    <a:pt x="658368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19050"/>
              <a:ext cx="658368" cy="67741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1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783080" y="1303020"/>
            <a:ext cx="15499080" cy="1165860"/>
            <a:chOff x="0" y="0"/>
            <a:chExt cx="20665440" cy="155448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0665439" cy="1554480"/>
            </a:xfrm>
            <a:custGeom>
              <a:avLst/>
              <a:gdLst/>
              <a:ahLst/>
              <a:cxnLst/>
              <a:rect r="r" b="b" t="t" l="l"/>
              <a:pathLst>
                <a:path h="1554480" w="20665439">
                  <a:moveTo>
                    <a:pt x="0" y="0"/>
                  </a:moveTo>
                  <a:lnTo>
                    <a:pt x="20665439" y="0"/>
                  </a:lnTo>
                  <a:lnTo>
                    <a:pt x="20665439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9036" r="0" b="-209036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19050"/>
              <a:ext cx="20665440" cy="15735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2B2B2B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WHO — Blood Safety and Availability: </a:t>
              </a:r>
              <a:r>
                <a:rPr lang="en-US" sz="1950">
                  <a:solidFill>
                    <a:srgbClr val="2B2B2B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Studied the importance of voluntary, regular donors and timely access to safe blood.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678656" y="2640044"/>
            <a:ext cx="16884968" cy="1180148"/>
            <a:chOff x="0" y="0"/>
            <a:chExt cx="22513290" cy="157353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2513289" cy="1573530"/>
            </a:xfrm>
            <a:custGeom>
              <a:avLst/>
              <a:gdLst/>
              <a:ahLst/>
              <a:cxnLst/>
              <a:rect r="r" b="b" t="t" l="l"/>
              <a:pathLst>
                <a:path h="1573530" w="22513289">
                  <a:moveTo>
                    <a:pt x="0" y="0"/>
                  </a:moveTo>
                  <a:lnTo>
                    <a:pt x="22513289" y="0"/>
                  </a:lnTo>
                  <a:lnTo>
                    <a:pt x="22513289" y="1573530"/>
                  </a:lnTo>
                  <a:lnTo>
                    <a:pt x="0" y="1573530"/>
                  </a:lnTo>
                  <a:close/>
                </a:path>
              </a:pathLst>
            </a:custGeom>
            <a:solidFill>
              <a:srgbClr val="F7EDEA"/>
            </a:solidFill>
            <a:ln w="14288" cap="sq">
              <a:solidFill>
                <a:srgbClr val="E3CFC9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927926" y="2985326"/>
            <a:ext cx="503301" cy="503301"/>
            <a:chOff x="0" y="0"/>
            <a:chExt cx="671068" cy="67106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71068" cy="671068"/>
            </a:xfrm>
            <a:custGeom>
              <a:avLst/>
              <a:gdLst/>
              <a:ahLst/>
              <a:cxnLst/>
              <a:rect r="r" b="b" t="t" l="l"/>
              <a:pathLst>
                <a:path h="671068" w="671068">
                  <a:moveTo>
                    <a:pt x="0" y="335534"/>
                  </a:moveTo>
                  <a:cubicBezTo>
                    <a:pt x="0" y="150241"/>
                    <a:pt x="150241" y="0"/>
                    <a:pt x="335534" y="0"/>
                  </a:cubicBezTo>
                  <a:cubicBezTo>
                    <a:pt x="520827" y="0"/>
                    <a:pt x="671068" y="150241"/>
                    <a:pt x="671068" y="335534"/>
                  </a:cubicBezTo>
                  <a:cubicBezTo>
                    <a:pt x="671068" y="520827"/>
                    <a:pt x="520827" y="671068"/>
                    <a:pt x="335534" y="671068"/>
                  </a:cubicBezTo>
                  <a:cubicBezTo>
                    <a:pt x="150241" y="671068"/>
                    <a:pt x="0" y="520827"/>
                    <a:pt x="0" y="335534"/>
                  </a:cubicBezTo>
                  <a:close/>
                </a:path>
              </a:pathLst>
            </a:custGeom>
            <a:solidFill>
              <a:srgbClr val="028090"/>
            </a:solidFill>
            <a:ln w="9525" cap="sq">
              <a:solidFill>
                <a:srgbClr val="028090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932688" y="2990088"/>
            <a:ext cx="493776" cy="493776"/>
            <a:chOff x="0" y="0"/>
            <a:chExt cx="658368" cy="65836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58368" cy="658368"/>
            </a:xfrm>
            <a:custGeom>
              <a:avLst/>
              <a:gdLst/>
              <a:ahLst/>
              <a:cxnLst/>
              <a:rect r="r" b="b" t="t" l="l"/>
              <a:pathLst>
                <a:path h="658368" w="658368">
                  <a:moveTo>
                    <a:pt x="0" y="0"/>
                  </a:moveTo>
                  <a:lnTo>
                    <a:pt x="658368" y="0"/>
                  </a:lnTo>
                  <a:lnTo>
                    <a:pt x="658368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19050"/>
              <a:ext cx="658368" cy="67741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2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783080" y="2647188"/>
            <a:ext cx="15499080" cy="1165860"/>
            <a:chOff x="0" y="0"/>
            <a:chExt cx="20665440" cy="155448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0665439" cy="1554480"/>
            </a:xfrm>
            <a:custGeom>
              <a:avLst/>
              <a:gdLst/>
              <a:ahLst/>
              <a:cxnLst/>
              <a:rect r="r" b="b" t="t" l="l"/>
              <a:pathLst>
                <a:path h="1554480" w="20665439">
                  <a:moveTo>
                    <a:pt x="0" y="0"/>
                  </a:moveTo>
                  <a:lnTo>
                    <a:pt x="20665439" y="0"/>
                  </a:lnTo>
                  <a:lnTo>
                    <a:pt x="20665439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9036" r="0" b="-209036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19050"/>
              <a:ext cx="20665440" cy="15735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2B2B2B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e-RaktKosh (Government of India): </a:t>
              </a:r>
              <a:r>
                <a:rPr lang="en-US" sz="1950">
                  <a:solidFill>
                    <a:srgbClr val="2B2B2B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Studied the national blood bank information portal for locating blood stock at licensed centres.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678656" y="3984212"/>
            <a:ext cx="16884968" cy="1180148"/>
            <a:chOff x="0" y="0"/>
            <a:chExt cx="22513290" cy="157353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2513289" cy="1573530"/>
            </a:xfrm>
            <a:custGeom>
              <a:avLst/>
              <a:gdLst/>
              <a:ahLst/>
              <a:cxnLst/>
              <a:rect r="r" b="b" t="t" l="l"/>
              <a:pathLst>
                <a:path h="1573530" w="22513289">
                  <a:moveTo>
                    <a:pt x="0" y="0"/>
                  </a:moveTo>
                  <a:lnTo>
                    <a:pt x="22513289" y="0"/>
                  </a:lnTo>
                  <a:lnTo>
                    <a:pt x="22513289" y="1573530"/>
                  </a:lnTo>
                  <a:lnTo>
                    <a:pt x="0" y="1573530"/>
                  </a:lnTo>
                  <a:close/>
                </a:path>
              </a:pathLst>
            </a:custGeom>
            <a:solidFill>
              <a:srgbClr val="F7EDEA"/>
            </a:solidFill>
            <a:ln w="14288" cap="sq">
              <a:solidFill>
                <a:srgbClr val="E3CFC9"/>
              </a:solidFill>
              <a:prstDash val="solid"/>
              <a:miter/>
            </a:ln>
          </p:spPr>
        </p:sp>
      </p:grpSp>
      <p:grpSp>
        <p:nvGrpSpPr>
          <p:cNvPr name="Group 32" id="32"/>
          <p:cNvGrpSpPr/>
          <p:nvPr/>
        </p:nvGrpSpPr>
        <p:grpSpPr>
          <a:xfrm rot="0">
            <a:off x="927926" y="4329494"/>
            <a:ext cx="503301" cy="503301"/>
            <a:chOff x="0" y="0"/>
            <a:chExt cx="671068" cy="671068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671068" cy="671068"/>
            </a:xfrm>
            <a:custGeom>
              <a:avLst/>
              <a:gdLst/>
              <a:ahLst/>
              <a:cxnLst/>
              <a:rect r="r" b="b" t="t" l="l"/>
              <a:pathLst>
                <a:path h="671068" w="671068">
                  <a:moveTo>
                    <a:pt x="0" y="335534"/>
                  </a:moveTo>
                  <a:cubicBezTo>
                    <a:pt x="0" y="150241"/>
                    <a:pt x="150241" y="0"/>
                    <a:pt x="335534" y="0"/>
                  </a:cubicBezTo>
                  <a:cubicBezTo>
                    <a:pt x="520827" y="0"/>
                    <a:pt x="671068" y="150241"/>
                    <a:pt x="671068" y="335534"/>
                  </a:cubicBezTo>
                  <a:cubicBezTo>
                    <a:pt x="671068" y="520827"/>
                    <a:pt x="520827" y="671068"/>
                    <a:pt x="335534" y="671068"/>
                  </a:cubicBezTo>
                  <a:cubicBezTo>
                    <a:pt x="150241" y="671068"/>
                    <a:pt x="0" y="520827"/>
                    <a:pt x="0" y="335534"/>
                  </a:cubicBezTo>
                  <a:close/>
                </a:path>
              </a:pathLst>
            </a:custGeom>
            <a:solidFill>
              <a:srgbClr val="C98A2C"/>
            </a:solidFill>
            <a:ln w="9525" cap="sq">
              <a:solidFill>
                <a:srgbClr val="C98A2C"/>
              </a:solidFill>
              <a:prstDash val="solid"/>
              <a:miter/>
            </a:ln>
          </p:spPr>
        </p:sp>
      </p:grpSp>
      <p:grpSp>
        <p:nvGrpSpPr>
          <p:cNvPr name="Group 34" id="34"/>
          <p:cNvGrpSpPr/>
          <p:nvPr/>
        </p:nvGrpSpPr>
        <p:grpSpPr>
          <a:xfrm rot="0">
            <a:off x="932688" y="4334256"/>
            <a:ext cx="493776" cy="493776"/>
            <a:chOff x="0" y="0"/>
            <a:chExt cx="658368" cy="658368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658368" cy="658368"/>
            </a:xfrm>
            <a:custGeom>
              <a:avLst/>
              <a:gdLst/>
              <a:ahLst/>
              <a:cxnLst/>
              <a:rect r="r" b="b" t="t" l="l"/>
              <a:pathLst>
                <a:path h="658368" w="658368">
                  <a:moveTo>
                    <a:pt x="0" y="0"/>
                  </a:moveTo>
                  <a:lnTo>
                    <a:pt x="658368" y="0"/>
                  </a:lnTo>
                  <a:lnTo>
                    <a:pt x="658368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19050"/>
              <a:ext cx="658368" cy="67741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3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783080" y="3991356"/>
            <a:ext cx="15499080" cy="1165860"/>
            <a:chOff x="0" y="0"/>
            <a:chExt cx="20665440" cy="155448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0665439" cy="1554480"/>
            </a:xfrm>
            <a:custGeom>
              <a:avLst/>
              <a:gdLst/>
              <a:ahLst/>
              <a:cxnLst/>
              <a:rect r="r" b="b" t="t" l="l"/>
              <a:pathLst>
                <a:path h="1554480" w="20665439">
                  <a:moveTo>
                    <a:pt x="0" y="0"/>
                  </a:moveTo>
                  <a:lnTo>
                    <a:pt x="20665439" y="0"/>
                  </a:lnTo>
                  <a:lnTo>
                    <a:pt x="20665439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9036" r="0" b="-209036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19050"/>
              <a:ext cx="20665440" cy="15735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2B2B2B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Friends2Support: </a:t>
              </a:r>
              <a:r>
                <a:rPr lang="en-US" sz="1950">
                  <a:solidFill>
                    <a:srgbClr val="2B2B2B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Studied a volunteer donor network that connects patients with donors through online requests.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678656" y="5328380"/>
            <a:ext cx="16884968" cy="1180148"/>
            <a:chOff x="0" y="0"/>
            <a:chExt cx="22513290" cy="157353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22513289" cy="1573530"/>
            </a:xfrm>
            <a:custGeom>
              <a:avLst/>
              <a:gdLst/>
              <a:ahLst/>
              <a:cxnLst/>
              <a:rect r="r" b="b" t="t" l="l"/>
              <a:pathLst>
                <a:path h="1573530" w="22513289">
                  <a:moveTo>
                    <a:pt x="0" y="0"/>
                  </a:moveTo>
                  <a:lnTo>
                    <a:pt x="22513289" y="0"/>
                  </a:lnTo>
                  <a:lnTo>
                    <a:pt x="22513289" y="1573530"/>
                  </a:lnTo>
                  <a:lnTo>
                    <a:pt x="0" y="1573530"/>
                  </a:lnTo>
                  <a:close/>
                </a:path>
              </a:pathLst>
            </a:custGeom>
            <a:solidFill>
              <a:srgbClr val="F7EDEA"/>
            </a:solidFill>
            <a:ln w="14288" cap="sq">
              <a:solidFill>
                <a:srgbClr val="E3CFC9"/>
              </a:solidFill>
              <a:prstDash val="solid"/>
              <a:miter/>
            </a:ln>
          </p:spPr>
        </p:sp>
      </p:grpSp>
      <p:grpSp>
        <p:nvGrpSpPr>
          <p:cNvPr name="Group 42" id="42"/>
          <p:cNvGrpSpPr/>
          <p:nvPr/>
        </p:nvGrpSpPr>
        <p:grpSpPr>
          <a:xfrm rot="0">
            <a:off x="927926" y="5673662"/>
            <a:ext cx="503301" cy="503301"/>
            <a:chOff x="0" y="0"/>
            <a:chExt cx="671068" cy="671068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671068" cy="671068"/>
            </a:xfrm>
            <a:custGeom>
              <a:avLst/>
              <a:gdLst/>
              <a:ahLst/>
              <a:cxnLst/>
              <a:rect r="r" b="b" t="t" l="l"/>
              <a:pathLst>
                <a:path h="671068" w="671068">
                  <a:moveTo>
                    <a:pt x="0" y="335534"/>
                  </a:moveTo>
                  <a:cubicBezTo>
                    <a:pt x="0" y="150241"/>
                    <a:pt x="150241" y="0"/>
                    <a:pt x="335534" y="0"/>
                  </a:cubicBezTo>
                  <a:cubicBezTo>
                    <a:pt x="520827" y="0"/>
                    <a:pt x="671068" y="150241"/>
                    <a:pt x="671068" y="335534"/>
                  </a:cubicBezTo>
                  <a:cubicBezTo>
                    <a:pt x="671068" y="520827"/>
                    <a:pt x="520827" y="671068"/>
                    <a:pt x="335534" y="671068"/>
                  </a:cubicBezTo>
                  <a:cubicBezTo>
                    <a:pt x="150241" y="671068"/>
                    <a:pt x="0" y="520827"/>
                    <a:pt x="0" y="335534"/>
                  </a:cubicBezTo>
                  <a:close/>
                </a:path>
              </a:pathLst>
            </a:custGeom>
            <a:solidFill>
              <a:srgbClr val="6E2723"/>
            </a:solidFill>
            <a:ln w="9525" cap="sq">
              <a:solidFill>
                <a:srgbClr val="6E2723"/>
              </a:solidFill>
              <a:prstDash val="solid"/>
              <a:miter/>
            </a:ln>
          </p:spPr>
        </p:sp>
      </p:grpSp>
      <p:grpSp>
        <p:nvGrpSpPr>
          <p:cNvPr name="Group 44" id="44"/>
          <p:cNvGrpSpPr/>
          <p:nvPr/>
        </p:nvGrpSpPr>
        <p:grpSpPr>
          <a:xfrm rot="0">
            <a:off x="932688" y="5678424"/>
            <a:ext cx="493776" cy="493776"/>
            <a:chOff x="0" y="0"/>
            <a:chExt cx="658368" cy="658368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658368" cy="658368"/>
            </a:xfrm>
            <a:custGeom>
              <a:avLst/>
              <a:gdLst/>
              <a:ahLst/>
              <a:cxnLst/>
              <a:rect r="r" b="b" t="t" l="l"/>
              <a:pathLst>
                <a:path h="658368" w="658368">
                  <a:moveTo>
                    <a:pt x="0" y="0"/>
                  </a:moveTo>
                  <a:lnTo>
                    <a:pt x="658368" y="0"/>
                  </a:lnTo>
                  <a:lnTo>
                    <a:pt x="658368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19050"/>
              <a:ext cx="658368" cy="67741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4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783080" y="5335524"/>
            <a:ext cx="15499080" cy="1165860"/>
            <a:chOff x="0" y="0"/>
            <a:chExt cx="20665440" cy="155448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20665439" cy="1554480"/>
            </a:xfrm>
            <a:custGeom>
              <a:avLst/>
              <a:gdLst/>
              <a:ahLst/>
              <a:cxnLst/>
              <a:rect r="r" b="b" t="t" l="l"/>
              <a:pathLst>
                <a:path h="1554480" w="20665439">
                  <a:moveTo>
                    <a:pt x="0" y="0"/>
                  </a:moveTo>
                  <a:lnTo>
                    <a:pt x="20665439" y="0"/>
                  </a:lnTo>
                  <a:lnTo>
                    <a:pt x="20665439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9036" r="0" b="-209036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19050"/>
              <a:ext cx="20665440" cy="15735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2B2B2B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Social Media and Messaging Appeals: </a:t>
              </a:r>
              <a:r>
                <a:rPr lang="en-US" sz="1950">
                  <a:solidFill>
                    <a:srgbClr val="2B2B2B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Studied how informal SOS messages spread quickly but lack verification and structure.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678656" y="6672548"/>
            <a:ext cx="16884968" cy="1180148"/>
            <a:chOff x="0" y="0"/>
            <a:chExt cx="22513290" cy="157353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22513289" cy="1573530"/>
            </a:xfrm>
            <a:custGeom>
              <a:avLst/>
              <a:gdLst/>
              <a:ahLst/>
              <a:cxnLst/>
              <a:rect r="r" b="b" t="t" l="l"/>
              <a:pathLst>
                <a:path h="1573530" w="22513289">
                  <a:moveTo>
                    <a:pt x="0" y="0"/>
                  </a:moveTo>
                  <a:lnTo>
                    <a:pt x="22513289" y="0"/>
                  </a:lnTo>
                  <a:lnTo>
                    <a:pt x="22513289" y="1573530"/>
                  </a:lnTo>
                  <a:lnTo>
                    <a:pt x="0" y="1573530"/>
                  </a:lnTo>
                  <a:close/>
                </a:path>
              </a:pathLst>
            </a:custGeom>
            <a:solidFill>
              <a:srgbClr val="F7EDEA"/>
            </a:solidFill>
            <a:ln w="14288" cap="sq">
              <a:solidFill>
                <a:srgbClr val="E3CFC9"/>
              </a:solidFill>
              <a:prstDash val="solid"/>
              <a:miter/>
            </a:ln>
          </p:spPr>
        </p:sp>
      </p:grpSp>
      <p:grpSp>
        <p:nvGrpSpPr>
          <p:cNvPr name="Group 52" id="52"/>
          <p:cNvGrpSpPr/>
          <p:nvPr/>
        </p:nvGrpSpPr>
        <p:grpSpPr>
          <a:xfrm rot="0">
            <a:off x="927926" y="7017830"/>
            <a:ext cx="503301" cy="503301"/>
            <a:chOff x="0" y="0"/>
            <a:chExt cx="671068" cy="671068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671068" cy="671068"/>
            </a:xfrm>
            <a:custGeom>
              <a:avLst/>
              <a:gdLst/>
              <a:ahLst/>
              <a:cxnLst/>
              <a:rect r="r" b="b" t="t" l="l"/>
              <a:pathLst>
                <a:path h="671068" w="671068">
                  <a:moveTo>
                    <a:pt x="0" y="335534"/>
                  </a:moveTo>
                  <a:cubicBezTo>
                    <a:pt x="0" y="150241"/>
                    <a:pt x="150241" y="0"/>
                    <a:pt x="335534" y="0"/>
                  </a:cubicBezTo>
                  <a:cubicBezTo>
                    <a:pt x="520827" y="0"/>
                    <a:pt x="671068" y="150241"/>
                    <a:pt x="671068" y="335534"/>
                  </a:cubicBezTo>
                  <a:cubicBezTo>
                    <a:pt x="671068" y="520827"/>
                    <a:pt x="520827" y="671068"/>
                    <a:pt x="335534" y="671068"/>
                  </a:cubicBezTo>
                  <a:cubicBezTo>
                    <a:pt x="150241" y="671068"/>
                    <a:pt x="0" y="520827"/>
                    <a:pt x="0" y="335534"/>
                  </a:cubicBezTo>
                  <a:close/>
                </a:path>
              </a:pathLst>
            </a:custGeom>
            <a:solidFill>
              <a:srgbClr val="444444"/>
            </a:solidFill>
            <a:ln w="9525" cap="sq">
              <a:solidFill>
                <a:srgbClr val="444444"/>
              </a:solidFill>
              <a:prstDash val="solid"/>
              <a:miter/>
            </a:ln>
          </p:spPr>
        </p:sp>
      </p:grpSp>
      <p:grpSp>
        <p:nvGrpSpPr>
          <p:cNvPr name="Group 54" id="54"/>
          <p:cNvGrpSpPr/>
          <p:nvPr/>
        </p:nvGrpSpPr>
        <p:grpSpPr>
          <a:xfrm rot="0">
            <a:off x="932688" y="7022592"/>
            <a:ext cx="493776" cy="493776"/>
            <a:chOff x="0" y="0"/>
            <a:chExt cx="658368" cy="658368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658368" cy="658368"/>
            </a:xfrm>
            <a:custGeom>
              <a:avLst/>
              <a:gdLst/>
              <a:ahLst/>
              <a:cxnLst/>
              <a:rect r="r" b="b" t="t" l="l"/>
              <a:pathLst>
                <a:path h="658368" w="658368">
                  <a:moveTo>
                    <a:pt x="0" y="0"/>
                  </a:moveTo>
                  <a:lnTo>
                    <a:pt x="658368" y="0"/>
                  </a:lnTo>
                  <a:lnTo>
                    <a:pt x="658368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19050"/>
              <a:ext cx="658368" cy="67741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5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1783080" y="6679692"/>
            <a:ext cx="15499080" cy="1165860"/>
            <a:chOff x="0" y="0"/>
            <a:chExt cx="20665440" cy="155448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20665439" cy="1554480"/>
            </a:xfrm>
            <a:custGeom>
              <a:avLst/>
              <a:gdLst/>
              <a:ahLst/>
              <a:cxnLst/>
              <a:rect r="r" b="b" t="t" l="l"/>
              <a:pathLst>
                <a:path h="1554480" w="20665439">
                  <a:moveTo>
                    <a:pt x="0" y="0"/>
                  </a:moveTo>
                  <a:lnTo>
                    <a:pt x="20665439" y="0"/>
                  </a:lnTo>
                  <a:lnTo>
                    <a:pt x="20665439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9036" r="0" b="-209036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19050"/>
              <a:ext cx="20665440" cy="15735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2B2B2B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REST API Design and MERN Stack Documentation: </a:t>
              </a:r>
              <a:r>
                <a:rPr lang="en-US" sz="1950">
                  <a:solidFill>
                    <a:srgbClr val="2B2B2B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Studied best practices for building the registration, request and search modules.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678656" y="8016716"/>
            <a:ext cx="16884968" cy="1180148"/>
            <a:chOff x="0" y="0"/>
            <a:chExt cx="22513290" cy="157353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22513289" cy="1573530"/>
            </a:xfrm>
            <a:custGeom>
              <a:avLst/>
              <a:gdLst/>
              <a:ahLst/>
              <a:cxnLst/>
              <a:rect r="r" b="b" t="t" l="l"/>
              <a:pathLst>
                <a:path h="1573530" w="22513289">
                  <a:moveTo>
                    <a:pt x="0" y="0"/>
                  </a:moveTo>
                  <a:lnTo>
                    <a:pt x="22513289" y="0"/>
                  </a:lnTo>
                  <a:lnTo>
                    <a:pt x="22513289" y="1573530"/>
                  </a:lnTo>
                  <a:lnTo>
                    <a:pt x="0" y="1573530"/>
                  </a:lnTo>
                  <a:close/>
                </a:path>
              </a:pathLst>
            </a:custGeom>
            <a:solidFill>
              <a:srgbClr val="F7EDEA"/>
            </a:solidFill>
            <a:ln w="14288" cap="sq">
              <a:solidFill>
                <a:srgbClr val="E3CFC9"/>
              </a:solidFill>
              <a:prstDash val="solid"/>
              <a:miter/>
            </a:ln>
          </p:spPr>
        </p:sp>
      </p:grpSp>
      <p:grpSp>
        <p:nvGrpSpPr>
          <p:cNvPr name="Group 62" id="62"/>
          <p:cNvGrpSpPr/>
          <p:nvPr/>
        </p:nvGrpSpPr>
        <p:grpSpPr>
          <a:xfrm rot="0">
            <a:off x="927926" y="8361997"/>
            <a:ext cx="503301" cy="503301"/>
            <a:chOff x="0" y="0"/>
            <a:chExt cx="671068" cy="671068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671068" cy="671068"/>
            </a:xfrm>
            <a:custGeom>
              <a:avLst/>
              <a:gdLst/>
              <a:ahLst/>
              <a:cxnLst/>
              <a:rect r="r" b="b" t="t" l="l"/>
              <a:pathLst>
                <a:path h="671068" w="671068">
                  <a:moveTo>
                    <a:pt x="0" y="335534"/>
                  </a:moveTo>
                  <a:cubicBezTo>
                    <a:pt x="0" y="150241"/>
                    <a:pt x="150241" y="0"/>
                    <a:pt x="335534" y="0"/>
                  </a:cubicBezTo>
                  <a:cubicBezTo>
                    <a:pt x="520827" y="0"/>
                    <a:pt x="671068" y="150241"/>
                    <a:pt x="671068" y="335534"/>
                  </a:cubicBezTo>
                  <a:cubicBezTo>
                    <a:pt x="671068" y="520827"/>
                    <a:pt x="520827" y="671068"/>
                    <a:pt x="335534" y="671068"/>
                  </a:cubicBezTo>
                  <a:cubicBezTo>
                    <a:pt x="150241" y="671068"/>
                    <a:pt x="0" y="520827"/>
                    <a:pt x="0" y="335534"/>
                  </a:cubicBezTo>
                  <a:close/>
                </a:path>
              </a:pathLst>
            </a:custGeom>
            <a:solidFill>
              <a:srgbClr val="953734"/>
            </a:solidFill>
            <a:ln w="9525" cap="sq">
              <a:solidFill>
                <a:srgbClr val="953734"/>
              </a:solidFill>
              <a:prstDash val="solid"/>
              <a:miter/>
            </a:ln>
          </p:spPr>
        </p:sp>
      </p:grpSp>
      <p:grpSp>
        <p:nvGrpSpPr>
          <p:cNvPr name="Group 64" id="64"/>
          <p:cNvGrpSpPr/>
          <p:nvPr/>
        </p:nvGrpSpPr>
        <p:grpSpPr>
          <a:xfrm rot="0">
            <a:off x="932688" y="8366760"/>
            <a:ext cx="493776" cy="493776"/>
            <a:chOff x="0" y="0"/>
            <a:chExt cx="658368" cy="658368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658368" cy="658368"/>
            </a:xfrm>
            <a:custGeom>
              <a:avLst/>
              <a:gdLst/>
              <a:ahLst/>
              <a:cxnLst/>
              <a:rect r="r" b="b" t="t" l="l"/>
              <a:pathLst>
                <a:path h="658368" w="658368">
                  <a:moveTo>
                    <a:pt x="0" y="0"/>
                  </a:moveTo>
                  <a:lnTo>
                    <a:pt x="658368" y="0"/>
                  </a:lnTo>
                  <a:lnTo>
                    <a:pt x="658368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19050"/>
              <a:ext cx="658368" cy="67741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6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1783080" y="8023860"/>
            <a:ext cx="15499080" cy="1165860"/>
            <a:chOff x="0" y="0"/>
            <a:chExt cx="20665440" cy="155448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20665439" cy="1554480"/>
            </a:xfrm>
            <a:custGeom>
              <a:avLst/>
              <a:gdLst/>
              <a:ahLst/>
              <a:cxnLst/>
              <a:rect r="r" b="b" t="t" l="l"/>
              <a:pathLst>
                <a:path h="1554480" w="20665439">
                  <a:moveTo>
                    <a:pt x="0" y="0"/>
                  </a:moveTo>
                  <a:lnTo>
                    <a:pt x="20665439" y="0"/>
                  </a:lnTo>
                  <a:lnTo>
                    <a:pt x="20665439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9036" r="0" b="-209036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19050"/>
              <a:ext cx="20665440" cy="15735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2B2B2B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Web Security Basics (OWASP): </a:t>
              </a:r>
              <a:r>
                <a:rPr lang="en-US" sz="1950">
                  <a:solidFill>
                    <a:srgbClr val="2B2B2B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Studied authentication and input validation practices for protecting donor data.</a:t>
              </a:r>
            </a:p>
          </p:txBody>
        </p:sp>
      </p:grp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7144" y="102584"/>
            <a:ext cx="18301830" cy="864680"/>
            <a:chOff x="0" y="0"/>
            <a:chExt cx="24402440" cy="115290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152906"/>
            </a:xfrm>
            <a:custGeom>
              <a:avLst/>
              <a:gdLst/>
              <a:ahLst/>
              <a:cxnLst/>
              <a:rect r="r" b="b" t="t" l="l"/>
              <a:pathLst>
                <a:path h="1152906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152906"/>
                  </a:lnTo>
                  <a:lnTo>
                    <a:pt x="0" y="1152906"/>
                  </a:lnTo>
                  <a:close/>
                </a:path>
              </a:pathLst>
            </a:custGeom>
            <a:solidFill>
              <a:srgbClr val="953734"/>
            </a:solidFill>
            <a:ln w="14288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411480" y="109728"/>
            <a:ext cx="17464583" cy="850392"/>
            <a:chOff x="0" y="0"/>
            <a:chExt cx="23286110" cy="113385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3286110" cy="1133856"/>
            </a:xfrm>
            <a:custGeom>
              <a:avLst/>
              <a:gdLst/>
              <a:ahLst/>
              <a:cxnLst/>
              <a:rect r="r" b="b" t="t" l="l"/>
              <a:pathLst>
                <a:path h="1133856" w="23286110">
                  <a:moveTo>
                    <a:pt x="0" y="0"/>
                  </a:moveTo>
                  <a:lnTo>
                    <a:pt x="23286110" y="0"/>
                  </a:lnTo>
                  <a:lnTo>
                    <a:pt x="2328611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0166" r="0" b="-35016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23286110" cy="11529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60"/>
                </a:lnSpc>
              </a:pPr>
              <a:r>
                <a:rPr lang="en-US" sz="3300" b="true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Functional Requirements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7323308" y="9738360"/>
            <a:ext cx="685800" cy="411480"/>
            <a:chOff x="0" y="0"/>
            <a:chExt cx="914400" cy="5486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91440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99999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14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85800" y="1165860"/>
            <a:ext cx="16870680" cy="685800"/>
            <a:chOff x="0" y="0"/>
            <a:chExt cx="22494240" cy="9144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2494239" cy="914400"/>
            </a:xfrm>
            <a:custGeom>
              <a:avLst/>
              <a:gdLst/>
              <a:ahLst/>
              <a:cxnLst/>
              <a:rect r="r" b="b" t="t" l="l"/>
              <a:pathLst>
                <a:path h="914400" w="22494239">
                  <a:moveTo>
                    <a:pt x="0" y="0"/>
                  </a:moveTo>
                  <a:lnTo>
                    <a:pt x="22494239" y="0"/>
                  </a:lnTo>
                  <a:lnTo>
                    <a:pt x="22494239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29331" r="0" b="-429331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22494240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2B2B2B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Functional requirements define WHAT the system must do — the features and behaviours it provides to its users.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678656" y="2050256"/>
            <a:ext cx="8312468" cy="1687640"/>
            <a:chOff x="0" y="0"/>
            <a:chExt cx="11083290" cy="225018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1083290" cy="2250186"/>
            </a:xfrm>
            <a:custGeom>
              <a:avLst/>
              <a:gdLst/>
              <a:ahLst/>
              <a:cxnLst/>
              <a:rect r="r" b="b" t="t" l="l"/>
              <a:pathLst>
                <a:path h="2250186" w="11083290">
                  <a:moveTo>
                    <a:pt x="0" y="0"/>
                  </a:moveTo>
                  <a:lnTo>
                    <a:pt x="11083290" y="0"/>
                  </a:lnTo>
                  <a:lnTo>
                    <a:pt x="11083290" y="2250186"/>
                  </a:lnTo>
                  <a:lnTo>
                    <a:pt x="0" y="2250186"/>
                  </a:lnTo>
                  <a:close/>
                </a:path>
              </a:pathLst>
            </a:custGeom>
            <a:solidFill>
              <a:srgbClr val="F7EDEA"/>
            </a:solidFill>
            <a:ln w="14288" cap="sq">
              <a:solidFill>
                <a:srgbClr val="E3CFC9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886777" y="2258378"/>
            <a:ext cx="475869" cy="475869"/>
            <a:chOff x="0" y="0"/>
            <a:chExt cx="634492" cy="63449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34492" cy="634492"/>
            </a:xfrm>
            <a:custGeom>
              <a:avLst/>
              <a:gdLst/>
              <a:ahLst/>
              <a:cxnLst/>
              <a:rect r="r" b="b" t="t" l="l"/>
              <a:pathLst>
                <a:path h="634492" w="634492">
                  <a:moveTo>
                    <a:pt x="0" y="317246"/>
                  </a:moveTo>
                  <a:cubicBezTo>
                    <a:pt x="0" y="141986"/>
                    <a:pt x="141986" y="0"/>
                    <a:pt x="317246" y="0"/>
                  </a:cubicBezTo>
                  <a:cubicBezTo>
                    <a:pt x="492506" y="0"/>
                    <a:pt x="634492" y="141986"/>
                    <a:pt x="634492" y="317246"/>
                  </a:cubicBezTo>
                  <a:cubicBezTo>
                    <a:pt x="634492" y="492506"/>
                    <a:pt x="492506" y="634492"/>
                    <a:pt x="317246" y="634492"/>
                  </a:cubicBezTo>
                  <a:cubicBezTo>
                    <a:pt x="141986" y="634492"/>
                    <a:pt x="0" y="492506"/>
                    <a:pt x="0" y="317246"/>
                  </a:cubicBezTo>
                  <a:close/>
                </a:path>
              </a:pathLst>
            </a:custGeom>
            <a:solidFill>
              <a:srgbClr val="953734"/>
            </a:solidFill>
            <a:ln w="9525" cap="sq">
              <a:solidFill>
                <a:srgbClr val="953734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891540" y="2263140"/>
            <a:ext cx="466344" cy="466344"/>
            <a:chOff x="0" y="0"/>
            <a:chExt cx="621792" cy="62179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21792" cy="621792"/>
            </a:xfrm>
            <a:custGeom>
              <a:avLst/>
              <a:gdLst/>
              <a:ahLst/>
              <a:cxnLst/>
              <a:rect r="r" b="b" t="t" l="l"/>
              <a:pathLst>
                <a:path h="621792" w="621792">
                  <a:moveTo>
                    <a:pt x="0" y="0"/>
                  </a:moveTo>
                  <a:lnTo>
                    <a:pt x="621792" y="0"/>
                  </a:lnTo>
                  <a:lnTo>
                    <a:pt x="621792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19050"/>
              <a:ext cx="621792" cy="6408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1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508760" y="2221992"/>
            <a:ext cx="7269480" cy="548640"/>
            <a:chOff x="0" y="0"/>
            <a:chExt cx="9692640" cy="73152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9692640" cy="731520"/>
            </a:xfrm>
            <a:custGeom>
              <a:avLst/>
              <a:gdLst/>
              <a:ahLst/>
              <a:cxnLst/>
              <a:rect r="r" b="b" t="t" l="l"/>
              <a:pathLst>
                <a:path h="731520" w="9692640">
                  <a:moveTo>
                    <a:pt x="0" y="0"/>
                  </a:moveTo>
                  <a:lnTo>
                    <a:pt x="9692640" y="0"/>
                  </a:lnTo>
                  <a:lnTo>
                    <a:pt x="96926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8176" r="0" b="-208176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19050"/>
              <a:ext cx="969264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2B2B2B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Volunteer Registration</a:t>
              </a: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960120" y="2833878"/>
            <a:ext cx="7749540" cy="7322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4A4A4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Users shall register with name, phone, blood group and locality.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9251156" y="2050256"/>
            <a:ext cx="8312468" cy="1687640"/>
            <a:chOff x="0" y="0"/>
            <a:chExt cx="11083290" cy="2250186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1083290" cy="2250186"/>
            </a:xfrm>
            <a:custGeom>
              <a:avLst/>
              <a:gdLst/>
              <a:ahLst/>
              <a:cxnLst/>
              <a:rect r="r" b="b" t="t" l="l"/>
              <a:pathLst>
                <a:path h="2250186" w="11083290">
                  <a:moveTo>
                    <a:pt x="0" y="0"/>
                  </a:moveTo>
                  <a:lnTo>
                    <a:pt x="11083290" y="0"/>
                  </a:lnTo>
                  <a:lnTo>
                    <a:pt x="11083290" y="2250186"/>
                  </a:lnTo>
                  <a:lnTo>
                    <a:pt x="0" y="2250186"/>
                  </a:lnTo>
                  <a:close/>
                </a:path>
              </a:pathLst>
            </a:custGeom>
            <a:solidFill>
              <a:srgbClr val="F7EDEA"/>
            </a:solidFill>
            <a:ln w="14288" cap="sq">
              <a:solidFill>
                <a:srgbClr val="E3CFC9"/>
              </a:solidFill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9459278" y="2258378"/>
            <a:ext cx="475869" cy="475869"/>
            <a:chOff x="0" y="0"/>
            <a:chExt cx="634492" cy="634492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634492" cy="634492"/>
            </a:xfrm>
            <a:custGeom>
              <a:avLst/>
              <a:gdLst/>
              <a:ahLst/>
              <a:cxnLst/>
              <a:rect r="r" b="b" t="t" l="l"/>
              <a:pathLst>
                <a:path h="634492" w="634492">
                  <a:moveTo>
                    <a:pt x="0" y="317246"/>
                  </a:moveTo>
                  <a:cubicBezTo>
                    <a:pt x="0" y="141986"/>
                    <a:pt x="141986" y="0"/>
                    <a:pt x="317246" y="0"/>
                  </a:cubicBezTo>
                  <a:cubicBezTo>
                    <a:pt x="492506" y="0"/>
                    <a:pt x="634492" y="141986"/>
                    <a:pt x="634492" y="317246"/>
                  </a:cubicBezTo>
                  <a:cubicBezTo>
                    <a:pt x="634492" y="492506"/>
                    <a:pt x="492506" y="634492"/>
                    <a:pt x="317246" y="634492"/>
                  </a:cubicBezTo>
                  <a:cubicBezTo>
                    <a:pt x="141986" y="634492"/>
                    <a:pt x="0" y="492506"/>
                    <a:pt x="0" y="317246"/>
                  </a:cubicBezTo>
                  <a:close/>
                </a:path>
              </a:pathLst>
            </a:custGeom>
            <a:solidFill>
              <a:srgbClr val="028090"/>
            </a:solidFill>
            <a:ln w="9525" cap="sq">
              <a:solidFill>
                <a:srgbClr val="028090"/>
              </a:solidFill>
              <a:prstDash val="solid"/>
              <a:miter/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9464040" y="2263140"/>
            <a:ext cx="466344" cy="466344"/>
            <a:chOff x="0" y="0"/>
            <a:chExt cx="621792" cy="621792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621792" cy="621792"/>
            </a:xfrm>
            <a:custGeom>
              <a:avLst/>
              <a:gdLst/>
              <a:ahLst/>
              <a:cxnLst/>
              <a:rect r="r" b="b" t="t" l="l"/>
              <a:pathLst>
                <a:path h="621792" w="621792">
                  <a:moveTo>
                    <a:pt x="0" y="0"/>
                  </a:moveTo>
                  <a:lnTo>
                    <a:pt x="621792" y="0"/>
                  </a:lnTo>
                  <a:lnTo>
                    <a:pt x="621792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19050"/>
              <a:ext cx="621792" cy="6408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2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0081260" y="2221992"/>
            <a:ext cx="7269480" cy="548640"/>
            <a:chOff x="0" y="0"/>
            <a:chExt cx="9692640" cy="73152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9692640" cy="731520"/>
            </a:xfrm>
            <a:custGeom>
              <a:avLst/>
              <a:gdLst/>
              <a:ahLst/>
              <a:cxnLst/>
              <a:rect r="r" b="b" t="t" l="l"/>
              <a:pathLst>
                <a:path h="731520" w="9692640">
                  <a:moveTo>
                    <a:pt x="0" y="0"/>
                  </a:moveTo>
                  <a:lnTo>
                    <a:pt x="9692640" y="0"/>
                  </a:lnTo>
                  <a:lnTo>
                    <a:pt x="96926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8176" r="0" b="-208176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19050"/>
              <a:ext cx="969264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2B2B2B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Login &amp; Profile</a:t>
              </a: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9532620" y="2833878"/>
            <a:ext cx="7749540" cy="7322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4A4A4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Registered donors shall log in and edit their own profile.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678656" y="3901916"/>
            <a:ext cx="8312468" cy="1687640"/>
            <a:chOff x="0" y="0"/>
            <a:chExt cx="11083290" cy="2250186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1083290" cy="2250186"/>
            </a:xfrm>
            <a:custGeom>
              <a:avLst/>
              <a:gdLst/>
              <a:ahLst/>
              <a:cxnLst/>
              <a:rect r="r" b="b" t="t" l="l"/>
              <a:pathLst>
                <a:path h="2250186" w="11083290">
                  <a:moveTo>
                    <a:pt x="0" y="0"/>
                  </a:moveTo>
                  <a:lnTo>
                    <a:pt x="11083290" y="0"/>
                  </a:lnTo>
                  <a:lnTo>
                    <a:pt x="11083290" y="2250186"/>
                  </a:lnTo>
                  <a:lnTo>
                    <a:pt x="0" y="2250186"/>
                  </a:lnTo>
                  <a:close/>
                </a:path>
              </a:pathLst>
            </a:custGeom>
            <a:solidFill>
              <a:srgbClr val="F7EDEA"/>
            </a:solidFill>
            <a:ln w="14288" cap="sq">
              <a:solidFill>
                <a:srgbClr val="E3CFC9"/>
              </a:solidFill>
              <a:prstDash val="solid"/>
              <a:miter/>
            </a:ln>
          </p:spPr>
        </p:sp>
      </p:grpSp>
      <p:grpSp>
        <p:nvGrpSpPr>
          <p:cNvPr name="Group 37" id="37"/>
          <p:cNvGrpSpPr/>
          <p:nvPr/>
        </p:nvGrpSpPr>
        <p:grpSpPr>
          <a:xfrm rot="0">
            <a:off x="886777" y="4110038"/>
            <a:ext cx="475869" cy="475869"/>
            <a:chOff x="0" y="0"/>
            <a:chExt cx="634492" cy="634492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634492" cy="634492"/>
            </a:xfrm>
            <a:custGeom>
              <a:avLst/>
              <a:gdLst/>
              <a:ahLst/>
              <a:cxnLst/>
              <a:rect r="r" b="b" t="t" l="l"/>
              <a:pathLst>
                <a:path h="634492" w="634492">
                  <a:moveTo>
                    <a:pt x="0" y="317246"/>
                  </a:moveTo>
                  <a:cubicBezTo>
                    <a:pt x="0" y="141986"/>
                    <a:pt x="141986" y="0"/>
                    <a:pt x="317246" y="0"/>
                  </a:cubicBezTo>
                  <a:cubicBezTo>
                    <a:pt x="492506" y="0"/>
                    <a:pt x="634492" y="141986"/>
                    <a:pt x="634492" y="317246"/>
                  </a:cubicBezTo>
                  <a:cubicBezTo>
                    <a:pt x="634492" y="492506"/>
                    <a:pt x="492506" y="634492"/>
                    <a:pt x="317246" y="634492"/>
                  </a:cubicBezTo>
                  <a:cubicBezTo>
                    <a:pt x="141986" y="634492"/>
                    <a:pt x="0" y="492506"/>
                    <a:pt x="0" y="317246"/>
                  </a:cubicBezTo>
                  <a:close/>
                </a:path>
              </a:pathLst>
            </a:custGeom>
            <a:solidFill>
              <a:srgbClr val="C98A2C"/>
            </a:solidFill>
            <a:ln w="9525" cap="sq">
              <a:solidFill>
                <a:srgbClr val="C98A2C"/>
              </a:solidFill>
              <a:prstDash val="solid"/>
              <a:miter/>
            </a:ln>
          </p:spPr>
        </p:sp>
      </p:grpSp>
      <p:grpSp>
        <p:nvGrpSpPr>
          <p:cNvPr name="Group 39" id="39"/>
          <p:cNvGrpSpPr/>
          <p:nvPr/>
        </p:nvGrpSpPr>
        <p:grpSpPr>
          <a:xfrm rot="0">
            <a:off x="891540" y="4114800"/>
            <a:ext cx="466344" cy="466344"/>
            <a:chOff x="0" y="0"/>
            <a:chExt cx="621792" cy="621792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621792" cy="621792"/>
            </a:xfrm>
            <a:custGeom>
              <a:avLst/>
              <a:gdLst/>
              <a:ahLst/>
              <a:cxnLst/>
              <a:rect r="r" b="b" t="t" l="l"/>
              <a:pathLst>
                <a:path h="621792" w="621792">
                  <a:moveTo>
                    <a:pt x="0" y="0"/>
                  </a:moveTo>
                  <a:lnTo>
                    <a:pt x="621792" y="0"/>
                  </a:lnTo>
                  <a:lnTo>
                    <a:pt x="621792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19050"/>
              <a:ext cx="621792" cy="6408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3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508760" y="4073652"/>
            <a:ext cx="7269480" cy="548640"/>
            <a:chOff x="0" y="0"/>
            <a:chExt cx="9692640" cy="73152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9692640" cy="731520"/>
            </a:xfrm>
            <a:custGeom>
              <a:avLst/>
              <a:gdLst/>
              <a:ahLst/>
              <a:cxnLst/>
              <a:rect r="r" b="b" t="t" l="l"/>
              <a:pathLst>
                <a:path h="731520" w="9692640">
                  <a:moveTo>
                    <a:pt x="0" y="0"/>
                  </a:moveTo>
                  <a:lnTo>
                    <a:pt x="9692640" y="0"/>
                  </a:lnTo>
                  <a:lnTo>
                    <a:pt x="96926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8176" r="0" b="-208176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19050"/>
              <a:ext cx="969264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2B2B2B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Post SOS Request</a:t>
              </a:r>
            </a:p>
          </p:txBody>
        </p:sp>
      </p:grpSp>
      <p:sp>
        <p:nvSpPr>
          <p:cNvPr name="TextBox 45" id="45"/>
          <p:cNvSpPr txBox="true"/>
          <p:nvPr/>
        </p:nvSpPr>
        <p:spPr>
          <a:xfrm rot="0">
            <a:off x="960120" y="4685538"/>
            <a:ext cx="7749540" cy="7322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4A4A4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Users shall post an SOS with group, units, hospital and urgency.</a:t>
            </a:r>
          </a:p>
        </p:txBody>
      </p:sp>
      <p:grpSp>
        <p:nvGrpSpPr>
          <p:cNvPr name="Group 46" id="46"/>
          <p:cNvGrpSpPr/>
          <p:nvPr/>
        </p:nvGrpSpPr>
        <p:grpSpPr>
          <a:xfrm rot="0">
            <a:off x="9251156" y="3901916"/>
            <a:ext cx="8312468" cy="1687640"/>
            <a:chOff x="0" y="0"/>
            <a:chExt cx="11083290" cy="2250186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1083290" cy="2250186"/>
            </a:xfrm>
            <a:custGeom>
              <a:avLst/>
              <a:gdLst/>
              <a:ahLst/>
              <a:cxnLst/>
              <a:rect r="r" b="b" t="t" l="l"/>
              <a:pathLst>
                <a:path h="2250186" w="11083290">
                  <a:moveTo>
                    <a:pt x="0" y="0"/>
                  </a:moveTo>
                  <a:lnTo>
                    <a:pt x="11083290" y="0"/>
                  </a:lnTo>
                  <a:lnTo>
                    <a:pt x="11083290" y="2250186"/>
                  </a:lnTo>
                  <a:lnTo>
                    <a:pt x="0" y="2250186"/>
                  </a:lnTo>
                  <a:close/>
                </a:path>
              </a:pathLst>
            </a:custGeom>
            <a:solidFill>
              <a:srgbClr val="F7EDEA"/>
            </a:solidFill>
            <a:ln w="14288" cap="sq">
              <a:solidFill>
                <a:srgbClr val="E3CFC9"/>
              </a:solidFill>
              <a:prstDash val="solid"/>
              <a:miter/>
            </a:ln>
          </p:spPr>
        </p:sp>
      </p:grpSp>
      <p:grpSp>
        <p:nvGrpSpPr>
          <p:cNvPr name="Group 48" id="48"/>
          <p:cNvGrpSpPr/>
          <p:nvPr/>
        </p:nvGrpSpPr>
        <p:grpSpPr>
          <a:xfrm rot="0">
            <a:off x="9459278" y="4110038"/>
            <a:ext cx="475869" cy="475869"/>
            <a:chOff x="0" y="0"/>
            <a:chExt cx="634492" cy="634492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634492" cy="634492"/>
            </a:xfrm>
            <a:custGeom>
              <a:avLst/>
              <a:gdLst/>
              <a:ahLst/>
              <a:cxnLst/>
              <a:rect r="r" b="b" t="t" l="l"/>
              <a:pathLst>
                <a:path h="634492" w="634492">
                  <a:moveTo>
                    <a:pt x="0" y="317246"/>
                  </a:moveTo>
                  <a:cubicBezTo>
                    <a:pt x="0" y="141986"/>
                    <a:pt x="141986" y="0"/>
                    <a:pt x="317246" y="0"/>
                  </a:cubicBezTo>
                  <a:cubicBezTo>
                    <a:pt x="492506" y="0"/>
                    <a:pt x="634492" y="141986"/>
                    <a:pt x="634492" y="317246"/>
                  </a:cubicBezTo>
                  <a:cubicBezTo>
                    <a:pt x="634492" y="492506"/>
                    <a:pt x="492506" y="634492"/>
                    <a:pt x="317246" y="634492"/>
                  </a:cubicBezTo>
                  <a:cubicBezTo>
                    <a:pt x="141986" y="634492"/>
                    <a:pt x="0" y="492506"/>
                    <a:pt x="0" y="317246"/>
                  </a:cubicBezTo>
                  <a:close/>
                </a:path>
              </a:pathLst>
            </a:custGeom>
            <a:solidFill>
              <a:srgbClr val="6E2723"/>
            </a:solidFill>
            <a:ln w="9525" cap="sq">
              <a:solidFill>
                <a:srgbClr val="6E2723"/>
              </a:solidFill>
              <a:prstDash val="solid"/>
              <a:miter/>
            </a:ln>
          </p:spPr>
        </p:sp>
      </p:grpSp>
      <p:grpSp>
        <p:nvGrpSpPr>
          <p:cNvPr name="Group 50" id="50"/>
          <p:cNvGrpSpPr/>
          <p:nvPr/>
        </p:nvGrpSpPr>
        <p:grpSpPr>
          <a:xfrm rot="0">
            <a:off x="9464040" y="4114800"/>
            <a:ext cx="466344" cy="466344"/>
            <a:chOff x="0" y="0"/>
            <a:chExt cx="621792" cy="621792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621792" cy="621792"/>
            </a:xfrm>
            <a:custGeom>
              <a:avLst/>
              <a:gdLst/>
              <a:ahLst/>
              <a:cxnLst/>
              <a:rect r="r" b="b" t="t" l="l"/>
              <a:pathLst>
                <a:path h="621792" w="621792">
                  <a:moveTo>
                    <a:pt x="0" y="0"/>
                  </a:moveTo>
                  <a:lnTo>
                    <a:pt x="621792" y="0"/>
                  </a:lnTo>
                  <a:lnTo>
                    <a:pt x="621792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19050"/>
              <a:ext cx="621792" cy="6408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4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0081260" y="4073652"/>
            <a:ext cx="7269480" cy="548640"/>
            <a:chOff x="0" y="0"/>
            <a:chExt cx="9692640" cy="73152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9692640" cy="731520"/>
            </a:xfrm>
            <a:custGeom>
              <a:avLst/>
              <a:gdLst/>
              <a:ahLst/>
              <a:cxnLst/>
              <a:rect r="r" b="b" t="t" l="l"/>
              <a:pathLst>
                <a:path h="731520" w="9692640">
                  <a:moveTo>
                    <a:pt x="0" y="0"/>
                  </a:moveTo>
                  <a:lnTo>
                    <a:pt x="9692640" y="0"/>
                  </a:lnTo>
                  <a:lnTo>
                    <a:pt x="96926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8176" r="0" b="-208176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19050"/>
              <a:ext cx="969264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2B2B2B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SOS Broadcast Board</a:t>
              </a:r>
            </a:p>
          </p:txBody>
        </p:sp>
      </p:grpSp>
      <p:sp>
        <p:nvSpPr>
          <p:cNvPr name="TextBox 56" id="56"/>
          <p:cNvSpPr txBox="true"/>
          <p:nvPr/>
        </p:nvSpPr>
        <p:spPr>
          <a:xfrm rot="0">
            <a:off x="9532620" y="4685538"/>
            <a:ext cx="7749540" cy="7322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4A4A4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system shall list active requests, newest and most urgent first.</a:t>
            </a:r>
          </a:p>
        </p:txBody>
      </p:sp>
      <p:grpSp>
        <p:nvGrpSpPr>
          <p:cNvPr name="Group 57" id="57"/>
          <p:cNvGrpSpPr/>
          <p:nvPr/>
        </p:nvGrpSpPr>
        <p:grpSpPr>
          <a:xfrm rot="0">
            <a:off x="678656" y="5753576"/>
            <a:ext cx="8312468" cy="1687640"/>
            <a:chOff x="0" y="0"/>
            <a:chExt cx="11083290" cy="2250186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1083290" cy="2250186"/>
            </a:xfrm>
            <a:custGeom>
              <a:avLst/>
              <a:gdLst/>
              <a:ahLst/>
              <a:cxnLst/>
              <a:rect r="r" b="b" t="t" l="l"/>
              <a:pathLst>
                <a:path h="2250186" w="11083290">
                  <a:moveTo>
                    <a:pt x="0" y="0"/>
                  </a:moveTo>
                  <a:lnTo>
                    <a:pt x="11083290" y="0"/>
                  </a:lnTo>
                  <a:lnTo>
                    <a:pt x="11083290" y="2250186"/>
                  </a:lnTo>
                  <a:lnTo>
                    <a:pt x="0" y="2250186"/>
                  </a:lnTo>
                  <a:close/>
                </a:path>
              </a:pathLst>
            </a:custGeom>
            <a:solidFill>
              <a:srgbClr val="F7EDEA"/>
            </a:solidFill>
            <a:ln w="14288" cap="sq">
              <a:solidFill>
                <a:srgbClr val="E3CFC9"/>
              </a:solidFill>
              <a:prstDash val="solid"/>
              <a:miter/>
            </a:ln>
          </p:spPr>
        </p:sp>
      </p:grpSp>
      <p:grpSp>
        <p:nvGrpSpPr>
          <p:cNvPr name="Group 59" id="59"/>
          <p:cNvGrpSpPr/>
          <p:nvPr/>
        </p:nvGrpSpPr>
        <p:grpSpPr>
          <a:xfrm rot="0">
            <a:off x="886777" y="5961697"/>
            <a:ext cx="475869" cy="475869"/>
            <a:chOff x="0" y="0"/>
            <a:chExt cx="634492" cy="634492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634492" cy="634492"/>
            </a:xfrm>
            <a:custGeom>
              <a:avLst/>
              <a:gdLst/>
              <a:ahLst/>
              <a:cxnLst/>
              <a:rect r="r" b="b" t="t" l="l"/>
              <a:pathLst>
                <a:path h="634492" w="634492">
                  <a:moveTo>
                    <a:pt x="0" y="317246"/>
                  </a:moveTo>
                  <a:cubicBezTo>
                    <a:pt x="0" y="141986"/>
                    <a:pt x="141986" y="0"/>
                    <a:pt x="317246" y="0"/>
                  </a:cubicBezTo>
                  <a:cubicBezTo>
                    <a:pt x="492506" y="0"/>
                    <a:pt x="634492" y="141986"/>
                    <a:pt x="634492" y="317246"/>
                  </a:cubicBezTo>
                  <a:cubicBezTo>
                    <a:pt x="634492" y="492506"/>
                    <a:pt x="492506" y="634492"/>
                    <a:pt x="317246" y="634492"/>
                  </a:cubicBezTo>
                  <a:cubicBezTo>
                    <a:pt x="141986" y="634492"/>
                    <a:pt x="0" y="492506"/>
                    <a:pt x="0" y="317246"/>
                  </a:cubicBezTo>
                  <a:close/>
                </a:path>
              </a:pathLst>
            </a:custGeom>
            <a:solidFill>
              <a:srgbClr val="953734"/>
            </a:solidFill>
            <a:ln w="9525" cap="sq">
              <a:solidFill>
                <a:srgbClr val="953734"/>
              </a:solidFill>
              <a:prstDash val="solid"/>
              <a:miter/>
            </a:ln>
          </p:spPr>
        </p:sp>
      </p:grpSp>
      <p:grpSp>
        <p:nvGrpSpPr>
          <p:cNvPr name="Group 61" id="61"/>
          <p:cNvGrpSpPr/>
          <p:nvPr/>
        </p:nvGrpSpPr>
        <p:grpSpPr>
          <a:xfrm rot="0">
            <a:off x="891540" y="5966460"/>
            <a:ext cx="466344" cy="466344"/>
            <a:chOff x="0" y="0"/>
            <a:chExt cx="621792" cy="621792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621792" cy="621792"/>
            </a:xfrm>
            <a:custGeom>
              <a:avLst/>
              <a:gdLst/>
              <a:ahLst/>
              <a:cxnLst/>
              <a:rect r="r" b="b" t="t" l="l"/>
              <a:pathLst>
                <a:path h="621792" w="621792">
                  <a:moveTo>
                    <a:pt x="0" y="0"/>
                  </a:moveTo>
                  <a:lnTo>
                    <a:pt x="621792" y="0"/>
                  </a:lnTo>
                  <a:lnTo>
                    <a:pt x="621792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19050"/>
              <a:ext cx="621792" cy="6408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5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1508760" y="5925312"/>
            <a:ext cx="7269480" cy="548640"/>
            <a:chOff x="0" y="0"/>
            <a:chExt cx="9692640" cy="73152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9692640" cy="731520"/>
            </a:xfrm>
            <a:custGeom>
              <a:avLst/>
              <a:gdLst/>
              <a:ahLst/>
              <a:cxnLst/>
              <a:rect r="r" b="b" t="t" l="l"/>
              <a:pathLst>
                <a:path h="731520" w="9692640">
                  <a:moveTo>
                    <a:pt x="0" y="0"/>
                  </a:moveTo>
                  <a:lnTo>
                    <a:pt x="9692640" y="0"/>
                  </a:lnTo>
                  <a:lnTo>
                    <a:pt x="96926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8176" r="0" b="-208176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19050"/>
              <a:ext cx="969264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2B2B2B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Donor Search &amp; Match</a:t>
              </a:r>
            </a:p>
          </p:txBody>
        </p:sp>
      </p:grpSp>
      <p:sp>
        <p:nvSpPr>
          <p:cNvPr name="TextBox 67" id="67"/>
          <p:cNvSpPr txBox="true"/>
          <p:nvPr/>
        </p:nvSpPr>
        <p:spPr>
          <a:xfrm rot="0">
            <a:off x="960120" y="6537198"/>
            <a:ext cx="7749540" cy="7322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4A4A4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system shall filter donors by blood group, locality and availability.</a:t>
            </a:r>
          </a:p>
        </p:txBody>
      </p:sp>
      <p:grpSp>
        <p:nvGrpSpPr>
          <p:cNvPr name="Group 68" id="68"/>
          <p:cNvGrpSpPr/>
          <p:nvPr/>
        </p:nvGrpSpPr>
        <p:grpSpPr>
          <a:xfrm rot="0">
            <a:off x="9251156" y="5753576"/>
            <a:ext cx="8312468" cy="1687640"/>
            <a:chOff x="0" y="0"/>
            <a:chExt cx="11083290" cy="2250186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11083290" cy="2250186"/>
            </a:xfrm>
            <a:custGeom>
              <a:avLst/>
              <a:gdLst/>
              <a:ahLst/>
              <a:cxnLst/>
              <a:rect r="r" b="b" t="t" l="l"/>
              <a:pathLst>
                <a:path h="2250186" w="11083290">
                  <a:moveTo>
                    <a:pt x="0" y="0"/>
                  </a:moveTo>
                  <a:lnTo>
                    <a:pt x="11083290" y="0"/>
                  </a:lnTo>
                  <a:lnTo>
                    <a:pt x="11083290" y="2250186"/>
                  </a:lnTo>
                  <a:lnTo>
                    <a:pt x="0" y="2250186"/>
                  </a:lnTo>
                  <a:close/>
                </a:path>
              </a:pathLst>
            </a:custGeom>
            <a:solidFill>
              <a:srgbClr val="F7EDEA"/>
            </a:solidFill>
            <a:ln w="14288" cap="sq">
              <a:solidFill>
                <a:srgbClr val="E3CFC9"/>
              </a:solidFill>
              <a:prstDash val="solid"/>
              <a:miter/>
            </a:ln>
          </p:spPr>
        </p:sp>
      </p:grpSp>
      <p:grpSp>
        <p:nvGrpSpPr>
          <p:cNvPr name="Group 70" id="70"/>
          <p:cNvGrpSpPr/>
          <p:nvPr/>
        </p:nvGrpSpPr>
        <p:grpSpPr>
          <a:xfrm rot="0">
            <a:off x="9459278" y="5961697"/>
            <a:ext cx="475869" cy="475869"/>
            <a:chOff x="0" y="0"/>
            <a:chExt cx="634492" cy="634492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634492" cy="634492"/>
            </a:xfrm>
            <a:custGeom>
              <a:avLst/>
              <a:gdLst/>
              <a:ahLst/>
              <a:cxnLst/>
              <a:rect r="r" b="b" t="t" l="l"/>
              <a:pathLst>
                <a:path h="634492" w="634492">
                  <a:moveTo>
                    <a:pt x="0" y="317246"/>
                  </a:moveTo>
                  <a:cubicBezTo>
                    <a:pt x="0" y="141986"/>
                    <a:pt x="141986" y="0"/>
                    <a:pt x="317246" y="0"/>
                  </a:cubicBezTo>
                  <a:cubicBezTo>
                    <a:pt x="492506" y="0"/>
                    <a:pt x="634492" y="141986"/>
                    <a:pt x="634492" y="317246"/>
                  </a:cubicBezTo>
                  <a:cubicBezTo>
                    <a:pt x="634492" y="492506"/>
                    <a:pt x="492506" y="634492"/>
                    <a:pt x="317246" y="634492"/>
                  </a:cubicBezTo>
                  <a:cubicBezTo>
                    <a:pt x="141986" y="634492"/>
                    <a:pt x="0" y="492506"/>
                    <a:pt x="0" y="317246"/>
                  </a:cubicBezTo>
                  <a:close/>
                </a:path>
              </a:pathLst>
            </a:custGeom>
            <a:solidFill>
              <a:srgbClr val="028090"/>
            </a:solidFill>
            <a:ln w="9525" cap="sq">
              <a:solidFill>
                <a:srgbClr val="028090"/>
              </a:solidFill>
              <a:prstDash val="solid"/>
              <a:miter/>
            </a:ln>
          </p:spPr>
        </p:sp>
      </p:grpSp>
      <p:grpSp>
        <p:nvGrpSpPr>
          <p:cNvPr name="Group 72" id="72"/>
          <p:cNvGrpSpPr/>
          <p:nvPr/>
        </p:nvGrpSpPr>
        <p:grpSpPr>
          <a:xfrm rot="0">
            <a:off x="9464040" y="5966460"/>
            <a:ext cx="466344" cy="466344"/>
            <a:chOff x="0" y="0"/>
            <a:chExt cx="621792" cy="621792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621792" cy="621792"/>
            </a:xfrm>
            <a:custGeom>
              <a:avLst/>
              <a:gdLst/>
              <a:ahLst/>
              <a:cxnLst/>
              <a:rect r="r" b="b" t="t" l="l"/>
              <a:pathLst>
                <a:path h="621792" w="621792">
                  <a:moveTo>
                    <a:pt x="0" y="0"/>
                  </a:moveTo>
                  <a:lnTo>
                    <a:pt x="621792" y="0"/>
                  </a:lnTo>
                  <a:lnTo>
                    <a:pt x="621792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19050"/>
              <a:ext cx="621792" cy="6408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6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10081260" y="5925312"/>
            <a:ext cx="7269480" cy="548640"/>
            <a:chOff x="0" y="0"/>
            <a:chExt cx="9692640" cy="731520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9692640" cy="731520"/>
            </a:xfrm>
            <a:custGeom>
              <a:avLst/>
              <a:gdLst/>
              <a:ahLst/>
              <a:cxnLst/>
              <a:rect r="r" b="b" t="t" l="l"/>
              <a:pathLst>
                <a:path h="731520" w="9692640">
                  <a:moveTo>
                    <a:pt x="0" y="0"/>
                  </a:moveTo>
                  <a:lnTo>
                    <a:pt x="9692640" y="0"/>
                  </a:lnTo>
                  <a:lnTo>
                    <a:pt x="96926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8176" r="0" b="-208176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-19050"/>
              <a:ext cx="969264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2B2B2B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One-Click Contact</a:t>
              </a:r>
            </a:p>
          </p:txBody>
        </p:sp>
      </p:grpSp>
      <p:sp>
        <p:nvSpPr>
          <p:cNvPr name="TextBox 78" id="78"/>
          <p:cNvSpPr txBox="true"/>
          <p:nvPr/>
        </p:nvSpPr>
        <p:spPr>
          <a:xfrm rot="0">
            <a:off x="9532620" y="6537198"/>
            <a:ext cx="7749540" cy="7322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4A4A4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system shall generate tel: and WhatsApp links for each donor.</a:t>
            </a:r>
          </a:p>
        </p:txBody>
      </p:sp>
      <p:grpSp>
        <p:nvGrpSpPr>
          <p:cNvPr name="Group 79" id="79"/>
          <p:cNvGrpSpPr/>
          <p:nvPr/>
        </p:nvGrpSpPr>
        <p:grpSpPr>
          <a:xfrm rot="0">
            <a:off x="678656" y="7605236"/>
            <a:ext cx="8312468" cy="1687640"/>
            <a:chOff x="0" y="0"/>
            <a:chExt cx="11083290" cy="2250186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11083290" cy="2250186"/>
            </a:xfrm>
            <a:custGeom>
              <a:avLst/>
              <a:gdLst/>
              <a:ahLst/>
              <a:cxnLst/>
              <a:rect r="r" b="b" t="t" l="l"/>
              <a:pathLst>
                <a:path h="2250186" w="11083290">
                  <a:moveTo>
                    <a:pt x="0" y="0"/>
                  </a:moveTo>
                  <a:lnTo>
                    <a:pt x="11083290" y="0"/>
                  </a:lnTo>
                  <a:lnTo>
                    <a:pt x="11083290" y="2250186"/>
                  </a:lnTo>
                  <a:lnTo>
                    <a:pt x="0" y="2250186"/>
                  </a:lnTo>
                  <a:close/>
                </a:path>
              </a:pathLst>
            </a:custGeom>
            <a:solidFill>
              <a:srgbClr val="F7EDEA"/>
            </a:solidFill>
            <a:ln w="14288" cap="sq">
              <a:solidFill>
                <a:srgbClr val="E3CFC9"/>
              </a:solidFill>
              <a:prstDash val="solid"/>
              <a:miter/>
            </a:ln>
          </p:spPr>
        </p:sp>
      </p:grpSp>
      <p:grpSp>
        <p:nvGrpSpPr>
          <p:cNvPr name="Group 81" id="81"/>
          <p:cNvGrpSpPr/>
          <p:nvPr/>
        </p:nvGrpSpPr>
        <p:grpSpPr>
          <a:xfrm rot="0">
            <a:off x="886777" y="7813357"/>
            <a:ext cx="475869" cy="475869"/>
            <a:chOff x="0" y="0"/>
            <a:chExt cx="634492" cy="634492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634492" cy="634492"/>
            </a:xfrm>
            <a:custGeom>
              <a:avLst/>
              <a:gdLst/>
              <a:ahLst/>
              <a:cxnLst/>
              <a:rect r="r" b="b" t="t" l="l"/>
              <a:pathLst>
                <a:path h="634492" w="634492">
                  <a:moveTo>
                    <a:pt x="0" y="317246"/>
                  </a:moveTo>
                  <a:cubicBezTo>
                    <a:pt x="0" y="141986"/>
                    <a:pt x="141986" y="0"/>
                    <a:pt x="317246" y="0"/>
                  </a:cubicBezTo>
                  <a:cubicBezTo>
                    <a:pt x="492506" y="0"/>
                    <a:pt x="634492" y="141986"/>
                    <a:pt x="634492" y="317246"/>
                  </a:cubicBezTo>
                  <a:cubicBezTo>
                    <a:pt x="634492" y="492506"/>
                    <a:pt x="492506" y="634492"/>
                    <a:pt x="317246" y="634492"/>
                  </a:cubicBezTo>
                  <a:cubicBezTo>
                    <a:pt x="141986" y="634492"/>
                    <a:pt x="0" y="492506"/>
                    <a:pt x="0" y="317246"/>
                  </a:cubicBezTo>
                  <a:close/>
                </a:path>
              </a:pathLst>
            </a:custGeom>
            <a:solidFill>
              <a:srgbClr val="C98A2C"/>
            </a:solidFill>
            <a:ln w="9525" cap="sq">
              <a:solidFill>
                <a:srgbClr val="C98A2C"/>
              </a:solidFill>
              <a:prstDash val="solid"/>
              <a:miter/>
            </a:ln>
          </p:spPr>
        </p:sp>
      </p:grpSp>
      <p:grpSp>
        <p:nvGrpSpPr>
          <p:cNvPr name="Group 83" id="83"/>
          <p:cNvGrpSpPr/>
          <p:nvPr/>
        </p:nvGrpSpPr>
        <p:grpSpPr>
          <a:xfrm rot="0">
            <a:off x="891540" y="7818120"/>
            <a:ext cx="466344" cy="466344"/>
            <a:chOff x="0" y="0"/>
            <a:chExt cx="621792" cy="621792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621792" cy="621792"/>
            </a:xfrm>
            <a:custGeom>
              <a:avLst/>
              <a:gdLst/>
              <a:ahLst/>
              <a:cxnLst/>
              <a:rect r="r" b="b" t="t" l="l"/>
              <a:pathLst>
                <a:path h="621792" w="621792">
                  <a:moveTo>
                    <a:pt x="0" y="0"/>
                  </a:moveTo>
                  <a:lnTo>
                    <a:pt x="621792" y="0"/>
                  </a:lnTo>
                  <a:lnTo>
                    <a:pt x="621792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-19050"/>
              <a:ext cx="621792" cy="6408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7</a:t>
              </a:r>
            </a:p>
          </p:txBody>
        </p:sp>
      </p:grpSp>
      <p:grpSp>
        <p:nvGrpSpPr>
          <p:cNvPr name="Group 86" id="86"/>
          <p:cNvGrpSpPr/>
          <p:nvPr/>
        </p:nvGrpSpPr>
        <p:grpSpPr>
          <a:xfrm rot="0">
            <a:off x="1508760" y="7776972"/>
            <a:ext cx="7269480" cy="548640"/>
            <a:chOff x="0" y="0"/>
            <a:chExt cx="9692640" cy="731520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9692640" cy="731520"/>
            </a:xfrm>
            <a:custGeom>
              <a:avLst/>
              <a:gdLst/>
              <a:ahLst/>
              <a:cxnLst/>
              <a:rect r="r" b="b" t="t" l="l"/>
              <a:pathLst>
                <a:path h="731520" w="9692640">
                  <a:moveTo>
                    <a:pt x="0" y="0"/>
                  </a:moveTo>
                  <a:lnTo>
                    <a:pt x="9692640" y="0"/>
                  </a:lnTo>
                  <a:lnTo>
                    <a:pt x="96926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8176" r="0" b="-208176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19050"/>
              <a:ext cx="969264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2B2B2B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Availability Toggle</a:t>
              </a:r>
            </a:p>
          </p:txBody>
        </p:sp>
      </p:grpSp>
      <p:sp>
        <p:nvSpPr>
          <p:cNvPr name="TextBox 89" id="89"/>
          <p:cNvSpPr txBox="true"/>
          <p:nvPr/>
        </p:nvSpPr>
        <p:spPr>
          <a:xfrm rot="0">
            <a:off x="960120" y="8388858"/>
            <a:ext cx="7749540" cy="7322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4A4A4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donor shall switch availability on or off at any time.</a:t>
            </a:r>
          </a:p>
        </p:txBody>
      </p:sp>
      <p:grpSp>
        <p:nvGrpSpPr>
          <p:cNvPr name="Group 90" id="90"/>
          <p:cNvGrpSpPr/>
          <p:nvPr/>
        </p:nvGrpSpPr>
        <p:grpSpPr>
          <a:xfrm rot="0">
            <a:off x="9251156" y="7605236"/>
            <a:ext cx="8312468" cy="1687640"/>
            <a:chOff x="0" y="0"/>
            <a:chExt cx="11083290" cy="2250186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11083290" cy="2250186"/>
            </a:xfrm>
            <a:custGeom>
              <a:avLst/>
              <a:gdLst/>
              <a:ahLst/>
              <a:cxnLst/>
              <a:rect r="r" b="b" t="t" l="l"/>
              <a:pathLst>
                <a:path h="2250186" w="11083290">
                  <a:moveTo>
                    <a:pt x="0" y="0"/>
                  </a:moveTo>
                  <a:lnTo>
                    <a:pt x="11083290" y="0"/>
                  </a:lnTo>
                  <a:lnTo>
                    <a:pt x="11083290" y="2250186"/>
                  </a:lnTo>
                  <a:lnTo>
                    <a:pt x="0" y="2250186"/>
                  </a:lnTo>
                  <a:close/>
                </a:path>
              </a:pathLst>
            </a:custGeom>
            <a:solidFill>
              <a:srgbClr val="F7EDEA"/>
            </a:solidFill>
            <a:ln w="14288" cap="sq">
              <a:solidFill>
                <a:srgbClr val="E3CFC9"/>
              </a:solidFill>
              <a:prstDash val="solid"/>
              <a:miter/>
            </a:ln>
          </p:spPr>
        </p:sp>
      </p:grpSp>
      <p:grpSp>
        <p:nvGrpSpPr>
          <p:cNvPr name="Group 92" id="92"/>
          <p:cNvGrpSpPr/>
          <p:nvPr/>
        </p:nvGrpSpPr>
        <p:grpSpPr>
          <a:xfrm rot="0">
            <a:off x="9459278" y="7813357"/>
            <a:ext cx="475869" cy="475869"/>
            <a:chOff x="0" y="0"/>
            <a:chExt cx="634492" cy="634492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634492" cy="634492"/>
            </a:xfrm>
            <a:custGeom>
              <a:avLst/>
              <a:gdLst/>
              <a:ahLst/>
              <a:cxnLst/>
              <a:rect r="r" b="b" t="t" l="l"/>
              <a:pathLst>
                <a:path h="634492" w="634492">
                  <a:moveTo>
                    <a:pt x="0" y="317246"/>
                  </a:moveTo>
                  <a:cubicBezTo>
                    <a:pt x="0" y="141986"/>
                    <a:pt x="141986" y="0"/>
                    <a:pt x="317246" y="0"/>
                  </a:cubicBezTo>
                  <a:cubicBezTo>
                    <a:pt x="492506" y="0"/>
                    <a:pt x="634492" y="141986"/>
                    <a:pt x="634492" y="317246"/>
                  </a:cubicBezTo>
                  <a:cubicBezTo>
                    <a:pt x="634492" y="492506"/>
                    <a:pt x="492506" y="634492"/>
                    <a:pt x="317246" y="634492"/>
                  </a:cubicBezTo>
                  <a:cubicBezTo>
                    <a:pt x="141986" y="634492"/>
                    <a:pt x="0" y="492506"/>
                    <a:pt x="0" y="317246"/>
                  </a:cubicBezTo>
                  <a:close/>
                </a:path>
              </a:pathLst>
            </a:custGeom>
            <a:solidFill>
              <a:srgbClr val="6E2723"/>
            </a:solidFill>
            <a:ln w="9525" cap="sq">
              <a:solidFill>
                <a:srgbClr val="6E2723"/>
              </a:solidFill>
              <a:prstDash val="solid"/>
              <a:miter/>
            </a:ln>
          </p:spPr>
        </p:sp>
      </p:grpSp>
      <p:grpSp>
        <p:nvGrpSpPr>
          <p:cNvPr name="Group 94" id="94"/>
          <p:cNvGrpSpPr/>
          <p:nvPr/>
        </p:nvGrpSpPr>
        <p:grpSpPr>
          <a:xfrm rot="0">
            <a:off x="9464040" y="7818120"/>
            <a:ext cx="466344" cy="466344"/>
            <a:chOff x="0" y="0"/>
            <a:chExt cx="621792" cy="621792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621792" cy="621792"/>
            </a:xfrm>
            <a:custGeom>
              <a:avLst/>
              <a:gdLst/>
              <a:ahLst/>
              <a:cxnLst/>
              <a:rect r="r" b="b" t="t" l="l"/>
              <a:pathLst>
                <a:path h="621792" w="621792">
                  <a:moveTo>
                    <a:pt x="0" y="0"/>
                  </a:moveTo>
                  <a:lnTo>
                    <a:pt x="621792" y="0"/>
                  </a:lnTo>
                  <a:lnTo>
                    <a:pt x="621792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96" id="96"/>
            <p:cNvSpPr txBox="true"/>
            <p:nvPr/>
          </p:nvSpPr>
          <p:spPr>
            <a:xfrm>
              <a:off x="0" y="-19050"/>
              <a:ext cx="621792" cy="6408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8</a:t>
              </a:r>
            </a:p>
          </p:txBody>
        </p:sp>
      </p:grpSp>
      <p:grpSp>
        <p:nvGrpSpPr>
          <p:cNvPr name="Group 97" id="97"/>
          <p:cNvGrpSpPr/>
          <p:nvPr/>
        </p:nvGrpSpPr>
        <p:grpSpPr>
          <a:xfrm rot="0">
            <a:off x="10081260" y="7776972"/>
            <a:ext cx="7269480" cy="548640"/>
            <a:chOff x="0" y="0"/>
            <a:chExt cx="9692640" cy="731520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9692640" cy="731520"/>
            </a:xfrm>
            <a:custGeom>
              <a:avLst/>
              <a:gdLst/>
              <a:ahLst/>
              <a:cxnLst/>
              <a:rect r="r" b="b" t="t" l="l"/>
              <a:pathLst>
                <a:path h="731520" w="9692640">
                  <a:moveTo>
                    <a:pt x="0" y="0"/>
                  </a:moveTo>
                  <a:lnTo>
                    <a:pt x="9692640" y="0"/>
                  </a:lnTo>
                  <a:lnTo>
                    <a:pt x="96926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8176" r="0" b="-208176"/>
              </a:stretch>
            </a:blipFill>
          </p:spPr>
        </p:sp>
        <p:sp>
          <p:nvSpPr>
            <p:cNvPr name="TextBox 99" id="99"/>
            <p:cNvSpPr txBox="true"/>
            <p:nvPr/>
          </p:nvSpPr>
          <p:spPr>
            <a:xfrm>
              <a:off x="0" y="-19050"/>
              <a:ext cx="969264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2B2B2B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Request Status</a:t>
              </a:r>
            </a:p>
          </p:txBody>
        </p:sp>
      </p:grpSp>
      <p:sp>
        <p:nvSpPr>
          <p:cNvPr name="TextBox 100" id="100"/>
          <p:cNvSpPr txBox="true"/>
          <p:nvPr/>
        </p:nvSpPr>
        <p:spPr>
          <a:xfrm rot="0">
            <a:off x="9532620" y="8388858"/>
            <a:ext cx="7749540" cy="7322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4A4A4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requester shall mark an SOS as fulfilled or closed.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7144" y="102584"/>
            <a:ext cx="18301830" cy="864680"/>
            <a:chOff x="0" y="0"/>
            <a:chExt cx="24402440" cy="115290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152906"/>
            </a:xfrm>
            <a:custGeom>
              <a:avLst/>
              <a:gdLst/>
              <a:ahLst/>
              <a:cxnLst/>
              <a:rect r="r" b="b" t="t" l="l"/>
              <a:pathLst>
                <a:path h="1152906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152906"/>
                  </a:lnTo>
                  <a:lnTo>
                    <a:pt x="0" y="1152906"/>
                  </a:lnTo>
                  <a:close/>
                </a:path>
              </a:pathLst>
            </a:custGeom>
            <a:solidFill>
              <a:srgbClr val="953734"/>
            </a:solidFill>
            <a:ln w="14288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411480" y="109728"/>
            <a:ext cx="17464583" cy="850392"/>
            <a:chOff x="0" y="0"/>
            <a:chExt cx="23286110" cy="113385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3286110" cy="1133856"/>
            </a:xfrm>
            <a:custGeom>
              <a:avLst/>
              <a:gdLst/>
              <a:ahLst/>
              <a:cxnLst/>
              <a:rect r="r" b="b" t="t" l="l"/>
              <a:pathLst>
                <a:path h="1133856" w="23286110">
                  <a:moveTo>
                    <a:pt x="0" y="0"/>
                  </a:moveTo>
                  <a:lnTo>
                    <a:pt x="23286110" y="0"/>
                  </a:lnTo>
                  <a:lnTo>
                    <a:pt x="2328611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0166" r="0" b="-35016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23286110" cy="11529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60"/>
                </a:lnSpc>
              </a:pPr>
              <a:r>
                <a:rPr lang="en-US" sz="3300" b="true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Non-Functional Requirements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7323308" y="9738360"/>
            <a:ext cx="685800" cy="411480"/>
            <a:chOff x="0" y="0"/>
            <a:chExt cx="914400" cy="5486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91440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99999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15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85800" y="1165860"/>
            <a:ext cx="16870680" cy="685800"/>
            <a:chOff x="0" y="0"/>
            <a:chExt cx="22494240" cy="9144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2494239" cy="914400"/>
            </a:xfrm>
            <a:custGeom>
              <a:avLst/>
              <a:gdLst/>
              <a:ahLst/>
              <a:cxnLst/>
              <a:rect r="r" b="b" t="t" l="l"/>
              <a:pathLst>
                <a:path h="914400" w="22494239">
                  <a:moveTo>
                    <a:pt x="0" y="0"/>
                  </a:moveTo>
                  <a:lnTo>
                    <a:pt x="22494239" y="0"/>
                  </a:lnTo>
                  <a:lnTo>
                    <a:pt x="22494239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29331" r="0" b="-429331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22494240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2B2B2B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Non-functional requirements define HOW WELL the system performs — its quality attributes and constraints.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678656" y="2050256"/>
            <a:ext cx="8312468" cy="1687640"/>
            <a:chOff x="0" y="0"/>
            <a:chExt cx="11083290" cy="225018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1083290" cy="2250186"/>
            </a:xfrm>
            <a:custGeom>
              <a:avLst/>
              <a:gdLst/>
              <a:ahLst/>
              <a:cxnLst/>
              <a:rect r="r" b="b" t="t" l="l"/>
              <a:pathLst>
                <a:path h="2250186" w="11083290">
                  <a:moveTo>
                    <a:pt x="0" y="0"/>
                  </a:moveTo>
                  <a:lnTo>
                    <a:pt x="11083290" y="0"/>
                  </a:lnTo>
                  <a:lnTo>
                    <a:pt x="11083290" y="2250186"/>
                  </a:lnTo>
                  <a:lnTo>
                    <a:pt x="0" y="2250186"/>
                  </a:lnTo>
                  <a:close/>
                </a:path>
              </a:pathLst>
            </a:custGeom>
            <a:solidFill>
              <a:srgbClr val="F7EDEA"/>
            </a:solidFill>
            <a:ln w="14288" cap="sq">
              <a:solidFill>
                <a:srgbClr val="E3CFC9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886777" y="2258378"/>
            <a:ext cx="475869" cy="475869"/>
            <a:chOff x="0" y="0"/>
            <a:chExt cx="634492" cy="63449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34492" cy="634492"/>
            </a:xfrm>
            <a:custGeom>
              <a:avLst/>
              <a:gdLst/>
              <a:ahLst/>
              <a:cxnLst/>
              <a:rect r="r" b="b" t="t" l="l"/>
              <a:pathLst>
                <a:path h="634492" w="634492">
                  <a:moveTo>
                    <a:pt x="0" y="317246"/>
                  </a:moveTo>
                  <a:cubicBezTo>
                    <a:pt x="0" y="141986"/>
                    <a:pt x="141986" y="0"/>
                    <a:pt x="317246" y="0"/>
                  </a:cubicBezTo>
                  <a:cubicBezTo>
                    <a:pt x="492506" y="0"/>
                    <a:pt x="634492" y="141986"/>
                    <a:pt x="634492" y="317246"/>
                  </a:cubicBezTo>
                  <a:cubicBezTo>
                    <a:pt x="634492" y="492506"/>
                    <a:pt x="492506" y="634492"/>
                    <a:pt x="317246" y="634492"/>
                  </a:cubicBezTo>
                  <a:cubicBezTo>
                    <a:pt x="141986" y="634492"/>
                    <a:pt x="0" y="492506"/>
                    <a:pt x="0" y="317246"/>
                  </a:cubicBezTo>
                  <a:close/>
                </a:path>
              </a:pathLst>
            </a:custGeom>
            <a:solidFill>
              <a:srgbClr val="028090"/>
            </a:solidFill>
            <a:ln w="9525" cap="sq">
              <a:solidFill>
                <a:srgbClr val="028090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891540" y="2263140"/>
            <a:ext cx="466344" cy="466344"/>
            <a:chOff x="0" y="0"/>
            <a:chExt cx="621792" cy="62179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21792" cy="621792"/>
            </a:xfrm>
            <a:custGeom>
              <a:avLst/>
              <a:gdLst/>
              <a:ahLst/>
              <a:cxnLst/>
              <a:rect r="r" b="b" t="t" l="l"/>
              <a:pathLst>
                <a:path h="621792" w="621792">
                  <a:moveTo>
                    <a:pt x="0" y="0"/>
                  </a:moveTo>
                  <a:lnTo>
                    <a:pt x="621792" y="0"/>
                  </a:lnTo>
                  <a:lnTo>
                    <a:pt x="621792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19050"/>
              <a:ext cx="621792" cy="6408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1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508760" y="2221992"/>
            <a:ext cx="7269480" cy="548640"/>
            <a:chOff x="0" y="0"/>
            <a:chExt cx="9692640" cy="73152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9692640" cy="731520"/>
            </a:xfrm>
            <a:custGeom>
              <a:avLst/>
              <a:gdLst/>
              <a:ahLst/>
              <a:cxnLst/>
              <a:rect r="r" b="b" t="t" l="l"/>
              <a:pathLst>
                <a:path h="731520" w="9692640">
                  <a:moveTo>
                    <a:pt x="0" y="0"/>
                  </a:moveTo>
                  <a:lnTo>
                    <a:pt x="9692640" y="0"/>
                  </a:lnTo>
                  <a:lnTo>
                    <a:pt x="96926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8176" r="0" b="-208176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19050"/>
              <a:ext cx="969264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2B2B2B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Performance</a:t>
              </a: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960120" y="2833878"/>
            <a:ext cx="7749540" cy="7322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4A4A4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SOS board loads and searches return results within a few seconds.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9251156" y="2050256"/>
            <a:ext cx="8312468" cy="1687640"/>
            <a:chOff x="0" y="0"/>
            <a:chExt cx="11083290" cy="2250186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1083290" cy="2250186"/>
            </a:xfrm>
            <a:custGeom>
              <a:avLst/>
              <a:gdLst/>
              <a:ahLst/>
              <a:cxnLst/>
              <a:rect r="r" b="b" t="t" l="l"/>
              <a:pathLst>
                <a:path h="2250186" w="11083290">
                  <a:moveTo>
                    <a:pt x="0" y="0"/>
                  </a:moveTo>
                  <a:lnTo>
                    <a:pt x="11083290" y="0"/>
                  </a:lnTo>
                  <a:lnTo>
                    <a:pt x="11083290" y="2250186"/>
                  </a:lnTo>
                  <a:lnTo>
                    <a:pt x="0" y="2250186"/>
                  </a:lnTo>
                  <a:close/>
                </a:path>
              </a:pathLst>
            </a:custGeom>
            <a:solidFill>
              <a:srgbClr val="F7EDEA"/>
            </a:solidFill>
            <a:ln w="14288" cap="sq">
              <a:solidFill>
                <a:srgbClr val="E3CFC9"/>
              </a:solidFill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9459278" y="2258378"/>
            <a:ext cx="475869" cy="475869"/>
            <a:chOff x="0" y="0"/>
            <a:chExt cx="634492" cy="634492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634492" cy="634492"/>
            </a:xfrm>
            <a:custGeom>
              <a:avLst/>
              <a:gdLst/>
              <a:ahLst/>
              <a:cxnLst/>
              <a:rect r="r" b="b" t="t" l="l"/>
              <a:pathLst>
                <a:path h="634492" w="634492">
                  <a:moveTo>
                    <a:pt x="0" y="317246"/>
                  </a:moveTo>
                  <a:cubicBezTo>
                    <a:pt x="0" y="141986"/>
                    <a:pt x="141986" y="0"/>
                    <a:pt x="317246" y="0"/>
                  </a:cubicBezTo>
                  <a:cubicBezTo>
                    <a:pt x="492506" y="0"/>
                    <a:pt x="634492" y="141986"/>
                    <a:pt x="634492" y="317246"/>
                  </a:cubicBezTo>
                  <a:cubicBezTo>
                    <a:pt x="634492" y="492506"/>
                    <a:pt x="492506" y="634492"/>
                    <a:pt x="317246" y="634492"/>
                  </a:cubicBezTo>
                  <a:cubicBezTo>
                    <a:pt x="141986" y="634492"/>
                    <a:pt x="0" y="492506"/>
                    <a:pt x="0" y="317246"/>
                  </a:cubicBezTo>
                  <a:close/>
                </a:path>
              </a:pathLst>
            </a:custGeom>
            <a:solidFill>
              <a:srgbClr val="953734"/>
            </a:solidFill>
            <a:ln w="9525" cap="sq">
              <a:solidFill>
                <a:srgbClr val="953734"/>
              </a:solidFill>
              <a:prstDash val="solid"/>
              <a:miter/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9464040" y="2263140"/>
            <a:ext cx="466344" cy="466344"/>
            <a:chOff x="0" y="0"/>
            <a:chExt cx="621792" cy="621792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621792" cy="621792"/>
            </a:xfrm>
            <a:custGeom>
              <a:avLst/>
              <a:gdLst/>
              <a:ahLst/>
              <a:cxnLst/>
              <a:rect r="r" b="b" t="t" l="l"/>
              <a:pathLst>
                <a:path h="621792" w="621792">
                  <a:moveTo>
                    <a:pt x="0" y="0"/>
                  </a:moveTo>
                  <a:lnTo>
                    <a:pt x="621792" y="0"/>
                  </a:lnTo>
                  <a:lnTo>
                    <a:pt x="621792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19050"/>
              <a:ext cx="621792" cy="6408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2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0081260" y="2221992"/>
            <a:ext cx="7269480" cy="548640"/>
            <a:chOff x="0" y="0"/>
            <a:chExt cx="9692640" cy="73152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9692640" cy="731520"/>
            </a:xfrm>
            <a:custGeom>
              <a:avLst/>
              <a:gdLst/>
              <a:ahLst/>
              <a:cxnLst/>
              <a:rect r="r" b="b" t="t" l="l"/>
              <a:pathLst>
                <a:path h="731520" w="9692640">
                  <a:moveTo>
                    <a:pt x="0" y="0"/>
                  </a:moveTo>
                  <a:lnTo>
                    <a:pt x="9692640" y="0"/>
                  </a:lnTo>
                  <a:lnTo>
                    <a:pt x="96926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8176" r="0" b="-208176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19050"/>
              <a:ext cx="969264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2B2B2B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Security</a:t>
              </a: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9532620" y="2833878"/>
            <a:ext cx="7749540" cy="7322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4A4A4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Passwords are hashed and routes are protected with JWT tokens.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678656" y="3901916"/>
            <a:ext cx="8312468" cy="1687640"/>
            <a:chOff x="0" y="0"/>
            <a:chExt cx="11083290" cy="2250186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1083290" cy="2250186"/>
            </a:xfrm>
            <a:custGeom>
              <a:avLst/>
              <a:gdLst/>
              <a:ahLst/>
              <a:cxnLst/>
              <a:rect r="r" b="b" t="t" l="l"/>
              <a:pathLst>
                <a:path h="2250186" w="11083290">
                  <a:moveTo>
                    <a:pt x="0" y="0"/>
                  </a:moveTo>
                  <a:lnTo>
                    <a:pt x="11083290" y="0"/>
                  </a:lnTo>
                  <a:lnTo>
                    <a:pt x="11083290" y="2250186"/>
                  </a:lnTo>
                  <a:lnTo>
                    <a:pt x="0" y="2250186"/>
                  </a:lnTo>
                  <a:close/>
                </a:path>
              </a:pathLst>
            </a:custGeom>
            <a:solidFill>
              <a:srgbClr val="F7EDEA"/>
            </a:solidFill>
            <a:ln w="14288" cap="sq">
              <a:solidFill>
                <a:srgbClr val="E3CFC9"/>
              </a:solidFill>
              <a:prstDash val="solid"/>
              <a:miter/>
            </a:ln>
          </p:spPr>
        </p:sp>
      </p:grpSp>
      <p:grpSp>
        <p:nvGrpSpPr>
          <p:cNvPr name="Group 37" id="37"/>
          <p:cNvGrpSpPr/>
          <p:nvPr/>
        </p:nvGrpSpPr>
        <p:grpSpPr>
          <a:xfrm rot="0">
            <a:off x="886777" y="4110038"/>
            <a:ext cx="475869" cy="475869"/>
            <a:chOff x="0" y="0"/>
            <a:chExt cx="634492" cy="634492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634492" cy="634492"/>
            </a:xfrm>
            <a:custGeom>
              <a:avLst/>
              <a:gdLst/>
              <a:ahLst/>
              <a:cxnLst/>
              <a:rect r="r" b="b" t="t" l="l"/>
              <a:pathLst>
                <a:path h="634492" w="634492">
                  <a:moveTo>
                    <a:pt x="0" y="317246"/>
                  </a:moveTo>
                  <a:cubicBezTo>
                    <a:pt x="0" y="141986"/>
                    <a:pt x="141986" y="0"/>
                    <a:pt x="317246" y="0"/>
                  </a:cubicBezTo>
                  <a:cubicBezTo>
                    <a:pt x="492506" y="0"/>
                    <a:pt x="634492" y="141986"/>
                    <a:pt x="634492" y="317246"/>
                  </a:cubicBezTo>
                  <a:cubicBezTo>
                    <a:pt x="634492" y="492506"/>
                    <a:pt x="492506" y="634492"/>
                    <a:pt x="317246" y="634492"/>
                  </a:cubicBezTo>
                  <a:cubicBezTo>
                    <a:pt x="141986" y="634492"/>
                    <a:pt x="0" y="492506"/>
                    <a:pt x="0" y="317246"/>
                  </a:cubicBezTo>
                  <a:close/>
                </a:path>
              </a:pathLst>
            </a:custGeom>
            <a:solidFill>
              <a:srgbClr val="6E2723"/>
            </a:solidFill>
            <a:ln w="9525" cap="sq">
              <a:solidFill>
                <a:srgbClr val="6E2723"/>
              </a:solidFill>
              <a:prstDash val="solid"/>
              <a:miter/>
            </a:ln>
          </p:spPr>
        </p:sp>
      </p:grpSp>
      <p:grpSp>
        <p:nvGrpSpPr>
          <p:cNvPr name="Group 39" id="39"/>
          <p:cNvGrpSpPr/>
          <p:nvPr/>
        </p:nvGrpSpPr>
        <p:grpSpPr>
          <a:xfrm rot="0">
            <a:off x="891540" y="4114800"/>
            <a:ext cx="466344" cy="466344"/>
            <a:chOff x="0" y="0"/>
            <a:chExt cx="621792" cy="621792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621792" cy="621792"/>
            </a:xfrm>
            <a:custGeom>
              <a:avLst/>
              <a:gdLst/>
              <a:ahLst/>
              <a:cxnLst/>
              <a:rect r="r" b="b" t="t" l="l"/>
              <a:pathLst>
                <a:path h="621792" w="621792">
                  <a:moveTo>
                    <a:pt x="0" y="0"/>
                  </a:moveTo>
                  <a:lnTo>
                    <a:pt x="621792" y="0"/>
                  </a:lnTo>
                  <a:lnTo>
                    <a:pt x="621792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19050"/>
              <a:ext cx="621792" cy="6408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3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508760" y="4073652"/>
            <a:ext cx="7269480" cy="548640"/>
            <a:chOff x="0" y="0"/>
            <a:chExt cx="9692640" cy="73152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9692640" cy="731520"/>
            </a:xfrm>
            <a:custGeom>
              <a:avLst/>
              <a:gdLst/>
              <a:ahLst/>
              <a:cxnLst/>
              <a:rect r="r" b="b" t="t" l="l"/>
              <a:pathLst>
                <a:path h="731520" w="9692640">
                  <a:moveTo>
                    <a:pt x="0" y="0"/>
                  </a:moveTo>
                  <a:lnTo>
                    <a:pt x="9692640" y="0"/>
                  </a:lnTo>
                  <a:lnTo>
                    <a:pt x="96926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8176" r="0" b="-208176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19050"/>
              <a:ext cx="969264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2B2B2B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Privacy</a:t>
              </a:r>
            </a:p>
          </p:txBody>
        </p:sp>
      </p:grpSp>
      <p:sp>
        <p:nvSpPr>
          <p:cNvPr name="TextBox 45" id="45"/>
          <p:cNvSpPr txBox="true"/>
          <p:nvPr/>
        </p:nvSpPr>
        <p:spPr>
          <a:xfrm rot="0">
            <a:off x="960120" y="4685538"/>
            <a:ext cx="7749540" cy="7322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4A4A4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Phone numbers are shown only to logged-in users of the network.</a:t>
            </a:r>
          </a:p>
        </p:txBody>
      </p:sp>
      <p:grpSp>
        <p:nvGrpSpPr>
          <p:cNvPr name="Group 46" id="46"/>
          <p:cNvGrpSpPr/>
          <p:nvPr/>
        </p:nvGrpSpPr>
        <p:grpSpPr>
          <a:xfrm rot="0">
            <a:off x="9251156" y="3901916"/>
            <a:ext cx="8312468" cy="1687640"/>
            <a:chOff x="0" y="0"/>
            <a:chExt cx="11083290" cy="2250186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1083290" cy="2250186"/>
            </a:xfrm>
            <a:custGeom>
              <a:avLst/>
              <a:gdLst/>
              <a:ahLst/>
              <a:cxnLst/>
              <a:rect r="r" b="b" t="t" l="l"/>
              <a:pathLst>
                <a:path h="2250186" w="11083290">
                  <a:moveTo>
                    <a:pt x="0" y="0"/>
                  </a:moveTo>
                  <a:lnTo>
                    <a:pt x="11083290" y="0"/>
                  </a:lnTo>
                  <a:lnTo>
                    <a:pt x="11083290" y="2250186"/>
                  </a:lnTo>
                  <a:lnTo>
                    <a:pt x="0" y="2250186"/>
                  </a:lnTo>
                  <a:close/>
                </a:path>
              </a:pathLst>
            </a:custGeom>
            <a:solidFill>
              <a:srgbClr val="F7EDEA"/>
            </a:solidFill>
            <a:ln w="14288" cap="sq">
              <a:solidFill>
                <a:srgbClr val="E3CFC9"/>
              </a:solidFill>
              <a:prstDash val="solid"/>
              <a:miter/>
            </a:ln>
          </p:spPr>
        </p:sp>
      </p:grpSp>
      <p:grpSp>
        <p:nvGrpSpPr>
          <p:cNvPr name="Group 48" id="48"/>
          <p:cNvGrpSpPr/>
          <p:nvPr/>
        </p:nvGrpSpPr>
        <p:grpSpPr>
          <a:xfrm rot="0">
            <a:off x="9459278" y="4110038"/>
            <a:ext cx="475869" cy="475869"/>
            <a:chOff x="0" y="0"/>
            <a:chExt cx="634492" cy="634492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634492" cy="634492"/>
            </a:xfrm>
            <a:custGeom>
              <a:avLst/>
              <a:gdLst/>
              <a:ahLst/>
              <a:cxnLst/>
              <a:rect r="r" b="b" t="t" l="l"/>
              <a:pathLst>
                <a:path h="634492" w="634492">
                  <a:moveTo>
                    <a:pt x="0" y="317246"/>
                  </a:moveTo>
                  <a:cubicBezTo>
                    <a:pt x="0" y="141986"/>
                    <a:pt x="141986" y="0"/>
                    <a:pt x="317246" y="0"/>
                  </a:cubicBezTo>
                  <a:cubicBezTo>
                    <a:pt x="492506" y="0"/>
                    <a:pt x="634492" y="141986"/>
                    <a:pt x="634492" y="317246"/>
                  </a:cubicBezTo>
                  <a:cubicBezTo>
                    <a:pt x="634492" y="492506"/>
                    <a:pt x="492506" y="634492"/>
                    <a:pt x="317246" y="634492"/>
                  </a:cubicBezTo>
                  <a:cubicBezTo>
                    <a:pt x="141986" y="634492"/>
                    <a:pt x="0" y="492506"/>
                    <a:pt x="0" y="317246"/>
                  </a:cubicBezTo>
                  <a:close/>
                </a:path>
              </a:pathLst>
            </a:custGeom>
            <a:solidFill>
              <a:srgbClr val="C98A2C"/>
            </a:solidFill>
            <a:ln w="9525" cap="sq">
              <a:solidFill>
                <a:srgbClr val="C98A2C"/>
              </a:solidFill>
              <a:prstDash val="solid"/>
              <a:miter/>
            </a:ln>
          </p:spPr>
        </p:sp>
      </p:grpSp>
      <p:grpSp>
        <p:nvGrpSpPr>
          <p:cNvPr name="Group 50" id="50"/>
          <p:cNvGrpSpPr/>
          <p:nvPr/>
        </p:nvGrpSpPr>
        <p:grpSpPr>
          <a:xfrm rot="0">
            <a:off x="9464040" y="4114800"/>
            <a:ext cx="466344" cy="466344"/>
            <a:chOff x="0" y="0"/>
            <a:chExt cx="621792" cy="621792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621792" cy="621792"/>
            </a:xfrm>
            <a:custGeom>
              <a:avLst/>
              <a:gdLst/>
              <a:ahLst/>
              <a:cxnLst/>
              <a:rect r="r" b="b" t="t" l="l"/>
              <a:pathLst>
                <a:path h="621792" w="621792">
                  <a:moveTo>
                    <a:pt x="0" y="0"/>
                  </a:moveTo>
                  <a:lnTo>
                    <a:pt x="621792" y="0"/>
                  </a:lnTo>
                  <a:lnTo>
                    <a:pt x="621792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19050"/>
              <a:ext cx="621792" cy="6408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4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0081260" y="4073652"/>
            <a:ext cx="7269480" cy="548640"/>
            <a:chOff x="0" y="0"/>
            <a:chExt cx="9692640" cy="73152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9692640" cy="731520"/>
            </a:xfrm>
            <a:custGeom>
              <a:avLst/>
              <a:gdLst/>
              <a:ahLst/>
              <a:cxnLst/>
              <a:rect r="r" b="b" t="t" l="l"/>
              <a:pathLst>
                <a:path h="731520" w="9692640">
                  <a:moveTo>
                    <a:pt x="0" y="0"/>
                  </a:moveTo>
                  <a:lnTo>
                    <a:pt x="9692640" y="0"/>
                  </a:lnTo>
                  <a:lnTo>
                    <a:pt x="96926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8176" r="0" b="-208176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19050"/>
              <a:ext cx="969264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2B2B2B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Availability</a:t>
              </a:r>
            </a:p>
          </p:txBody>
        </p:sp>
      </p:grpSp>
      <p:sp>
        <p:nvSpPr>
          <p:cNvPr name="TextBox 56" id="56"/>
          <p:cNvSpPr txBox="true"/>
          <p:nvPr/>
        </p:nvSpPr>
        <p:spPr>
          <a:xfrm rot="0">
            <a:off x="9532620" y="4685538"/>
            <a:ext cx="7749540" cy="7322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4A4A4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system should stay accessible around the clock for emergencies.</a:t>
            </a:r>
          </a:p>
        </p:txBody>
      </p:sp>
      <p:grpSp>
        <p:nvGrpSpPr>
          <p:cNvPr name="Group 57" id="57"/>
          <p:cNvGrpSpPr/>
          <p:nvPr/>
        </p:nvGrpSpPr>
        <p:grpSpPr>
          <a:xfrm rot="0">
            <a:off x="678656" y="5753576"/>
            <a:ext cx="8312468" cy="1687640"/>
            <a:chOff x="0" y="0"/>
            <a:chExt cx="11083290" cy="2250186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1083290" cy="2250186"/>
            </a:xfrm>
            <a:custGeom>
              <a:avLst/>
              <a:gdLst/>
              <a:ahLst/>
              <a:cxnLst/>
              <a:rect r="r" b="b" t="t" l="l"/>
              <a:pathLst>
                <a:path h="2250186" w="11083290">
                  <a:moveTo>
                    <a:pt x="0" y="0"/>
                  </a:moveTo>
                  <a:lnTo>
                    <a:pt x="11083290" y="0"/>
                  </a:lnTo>
                  <a:lnTo>
                    <a:pt x="11083290" y="2250186"/>
                  </a:lnTo>
                  <a:lnTo>
                    <a:pt x="0" y="2250186"/>
                  </a:lnTo>
                  <a:close/>
                </a:path>
              </a:pathLst>
            </a:custGeom>
            <a:solidFill>
              <a:srgbClr val="F7EDEA"/>
            </a:solidFill>
            <a:ln w="14288" cap="sq">
              <a:solidFill>
                <a:srgbClr val="E3CFC9"/>
              </a:solidFill>
              <a:prstDash val="solid"/>
              <a:miter/>
            </a:ln>
          </p:spPr>
        </p:sp>
      </p:grpSp>
      <p:grpSp>
        <p:nvGrpSpPr>
          <p:cNvPr name="Group 59" id="59"/>
          <p:cNvGrpSpPr/>
          <p:nvPr/>
        </p:nvGrpSpPr>
        <p:grpSpPr>
          <a:xfrm rot="0">
            <a:off x="886777" y="5961697"/>
            <a:ext cx="475869" cy="475869"/>
            <a:chOff x="0" y="0"/>
            <a:chExt cx="634492" cy="634492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634492" cy="634492"/>
            </a:xfrm>
            <a:custGeom>
              <a:avLst/>
              <a:gdLst/>
              <a:ahLst/>
              <a:cxnLst/>
              <a:rect r="r" b="b" t="t" l="l"/>
              <a:pathLst>
                <a:path h="634492" w="634492">
                  <a:moveTo>
                    <a:pt x="0" y="317246"/>
                  </a:moveTo>
                  <a:cubicBezTo>
                    <a:pt x="0" y="141986"/>
                    <a:pt x="141986" y="0"/>
                    <a:pt x="317246" y="0"/>
                  </a:cubicBezTo>
                  <a:cubicBezTo>
                    <a:pt x="492506" y="0"/>
                    <a:pt x="634492" y="141986"/>
                    <a:pt x="634492" y="317246"/>
                  </a:cubicBezTo>
                  <a:cubicBezTo>
                    <a:pt x="634492" y="492506"/>
                    <a:pt x="492506" y="634492"/>
                    <a:pt x="317246" y="634492"/>
                  </a:cubicBezTo>
                  <a:cubicBezTo>
                    <a:pt x="141986" y="634492"/>
                    <a:pt x="0" y="492506"/>
                    <a:pt x="0" y="317246"/>
                  </a:cubicBezTo>
                  <a:close/>
                </a:path>
              </a:pathLst>
            </a:custGeom>
            <a:solidFill>
              <a:srgbClr val="028090"/>
            </a:solidFill>
            <a:ln w="9525" cap="sq">
              <a:solidFill>
                <a:srgbClr val="028090"/>
              </a:solidFill>
              <a:prstDash val="solid"/>
              <a:miter/>
            </a:ln>
          </p:spPr>
        </p:sp>
      </p:grpSp>
      <p:grpSp>
        <p:nvGrpSpPr>
          <p:cNvPr name="Group 61" id="61"/>
          <p:cNvGrpSpPr/>
          <p:nvPr/>
        </p:nvGrpSpPr>
        <p:grpSpPr>
          <a:xfrm rot="0">
            <a:off x="891540" y="5966460"/>
            <a:ext cx="466344" cy="466344"/>
            <a:chOff x="0" y="0"/>
            <a:chExt cx="621792" cy="621792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621792" cy="621792"/>
            </a:xfrm>
            <a:custGeom>
              <a:avLst/>
              <a:gdLst/>
              <a:ahLst/>
              <a:cxnLst/>
              <a:rect r="r" b="b" t="t" l="l"/>
              <a:pathLst>
                <a:path h="621792" w="621792">
                  <a:moveTo>
                    <a:pt x="0" y="0"/>
                  </a:moveTo>
                  <a:lnTo>
                    <a:pt x="621792" y="0"/>
                  </a:lnTo>
                  <a:lnTo>
                    <a:pt x="621792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19050"/>
              <a:ext cx="621792" cy="6408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5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1508760" y="5925312"/>
            <a:ext cx="7269480" cy="548640"/>
            <a:chOff x="0" y="0"/>
            <a:chExt cx="9692640" cy="73152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9692640" cy="731520"/>
            </a:xfrm>
            <a:custGeom>
              <a:avLst/>
              <a:gdLst/>
              <a:ahLst/>
              <a:cxnLst/>
              <a:rect r="r" b="b" t="t" l="l"/>
              <a:pathLst>
                <a:path h="731520" w="9692640">
                  <a:moveTo>
                    <a:pt x="0" y="0"/>
                  </a:moveTo>
                  <a:lnTo>
                    <a:pt x="9692640" y="0"/>
                  </a:lnTo>
                  <a:lnTo>
                    <a:pt x="96926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8176" r="0" b="-208176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19050"/>
              <a:ext cx="969264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2B2B2B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Usability</a:t>
              </a:r>
            </a:p>
          </p:txBody>
        </p:sp>
      </p:grpSp>
      <p:sp>
        <p:nvSpPr>
          <p:cNvPr name="TextBox 67" id="67"/>
          <p:cNvSpPr txBox="true"/>
          <p:nvPr/>
        </p:nvSpPr>
        <p:spPr>
          <a:xfrm rot="0">
            <a:off x="960120" y="6537198"/>
            <a:ext cx="7749540" cy="7322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4A4A4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simple, mobile-friendly layout usable under stress with few taps.</a:t>
            </a:r>
          </a:p>
        </p:txBody>
      </p:sp>
      <p:grpSp>
        <p:nvGrpSpPr>
          <p:cNvPr name="Group 68" id="68"/>
          <p:cNvGrpSpPr/>
          <p:nvPr/>
        </p:nvGrpSpPr>
        <p:grpSpPr>
          <a:xfrm rot="0">
            <a:off x="9251156" y="5753576"/>
            <a:ext cx="8312468" cy="1687640"/>
            <a:chOff x="0" y="0"/>
            <a:chExt cx="11083290" cy="2250186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11083290" cy="2250186"/>
            </a:xfrm>
            <a:custGeom>
              <a:avLst/>
              <a:gdLst/>
              <a:ahLst/>
              <a:cxnLst/>
              <a:rect r="r" b="b" t="t" l="l"/>
              <a:pathLst>
                <a:path h="2250186" w="11083290">
                  <a:moveTo>
                    <a:pt x="0" y="0"/>
                  </a:moveTo>
                  <a:lnTo>
                    <a:pt x="11083290" y="0"/>
                  </a:lnTo>
                  <a:lnTo>
                    <a:pt x="11083290" y="2250186"/>
                  </a:lnTo>
                  <a:lnTo>
                    <a:pt x="0" y="2250186"/>
                  </a:lnTo>
                  <a:close/>
                </a:path>
              </a:pathLst>
            </a:custGeom>
            <a:solidFill>
              <a:srgbClr val="F7EDEA"/>
            </a:solidFill>
            <a:ln w="14288" cap="sq">
              <a:solidFill>
                <a:srgbClr val="E3CFC9"/>
              </a:solidFill>
              <a:prstDash val="solid"/>
              <a:miter/>
            </a:ln>
          </p:spPr>
        </p:sp>
      </p:grpSp>
      <p:grpSp>
        <p:nvGrpSpPr>
          <p:cNvPr name="Group 70" id="70"/>
          <p:cNvGrpSpPr/>
          <p:nvPr/>
        </p:nvGrpSpPr>
        <p:grpSpPr>
          <a:xfrm rot="0">
            <a:off x="9459278" y="5961697"/>
            <a:ext cx="475869" cy="475869"/>
            <a:chOff x="0" y="0"/>
            <a:chExt cx="634492" cy="634492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634492" cy="634492"/>
            </a:xfrm>
            <a:custGeom>
              <a:avLst/>
              <a:gdLst/>
              <a:ahLst/>
              <a:cxnLst/>
              <a:rect r="r" b="b" t="t" l="l"/>
              <a:pathLst>
                <a:path h="634492" w="634492">
                  <a:moveTo>
                    <a:pt x="0" y="317246"/>
                  </a:moveTo>
                  <a:cubicBezTo>
                    <a:pt x="0" y="141986"/>
                    <a:pt x="141986" y="0"/>
                    <a:pt x="317246" y="0"/>
                  </a:cubicBezTo>
                  <a:cubicBezTo>
                    <a:pt x="492506" y="0"/>
                    <a:pt x="634492" y="141986"/>
                    <a:pt x="634492" y="317246"/>
                  </a:cubicBezTo>
                  <a:cubicBezTo>
                    <a:pt x="634492" y="492506"/>
                    <a:pt x="492506" y="634492"/>
                    <a:pt x="317246" y="634492"/>
                  </a:cubicBezTo>
                  <a:cubicBezTo>
                    <a:pt x="141986" y="634492"/>
                    <a:pt x="0" y="492506"/>
                    <a:pt x="0" y="317246"/>
                  </a:cubicBezTo>
                  <a:close/>
                </a:path>
              </a:pathLst>
            </a:custGeom>
            <a:solidFill>
              <a:srgbClr val="953734"/>
            </a:solidFill>
            <a:ln w="9525" cap="sq">
              <a:solidFill>
                <a:srgbClr val="953734"/>
              </a:solidFill>
              <a:prstDash val="solid"/>
              <a:miter/>
            </a:ln>
          </p:spPr>
        </p:sp>
      </p:grpSp>
      <p:grpSp>
        <p:nvGrpSpPr>
          <p:cNvPr name="Group 72" id="72"/>
          <p:cNvGrpSpPr/>
          <p:nvPr/>
        </p:nvGrpSpPr>
        <p:grpSpPr>
          <a:xfrm rot="0">
            <a:off x="9464040" y="5966460"/>
            <a:ext cx="466344" cy="466344"/>
            <a:chOff x="0" y="0"/>
            <a:chExt cx="621792" cy="621792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621792" cy="621792"/>
            </a:xfrm>
            <a:custGeom>
              <a:avLst/>
              <a:gdLst/>
              <a:ahLst/>
              <a:cxnLst/>
              <a:rect r="r" b="b" t="t" l="l"/>
              <a:pathLst>
                <a:path h="621792" w="621792">
                  <a:moveTo>
                    <a:pt x="0" y="0"/>
                  </a:moveTo>
                  <a:lnTo>
                    <a:pt x="621792" y="0"/>
                  </a:lnTo>
                  <a:lnTo>
                    <a:pt x="621792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19050"/>
              <a:ext cx="621792" cy="6408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6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10081260" y="5925312"/>
            <a:ext cx="7269480" cy="548640"/>
            <a:chOff x="0" y="0"/>
            <a:chExt cx="9692640" cy="731520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9692640" cy="731520"/>
            </a:xfrm>
            <a:custGeom>
              <a:avLst/>
              <a:gdLst/>
              <a:ahLst/>
              <a:cxnLst/>
              <a:rect r="r" b="b" t="t" l="l"/>
              <a:pathLst>
                <a:path h="731520" w="9692640">
                  <a:moveTo>
                    <a:pt x="0" y="0"/>
                  </a:moveTo>
                  <a:lnTo>
                    <a:pt x="9692640" y="0"/>
                  </a:lnTo>
                  <a:lnTo>
                    <a:pt x="96926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8176" r="0" b="-208176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-19050"/>
              <a:ext cx="969264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2B2B2B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Reliability</a:t>
              </a:r>
            </a:p>
          </p:txBody>
        </p:sp>
      </p:grpSp>
      <p:sp>
        <p:nvSpPr>
          <p:cNvPr name="TextBox 78" id="78"/>
          <p:cNvSpPr txBox="true"/>
          <p:nvPr/>
        </p:nvSpPr>
        <p:spPr>
          <a:xfrm rot="0">
            <a:off x="9532620" y="6537198"/>
            <a:ext cx="7749540" cy="7322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4A4A4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Validation and error handling prevent crashes on invalid input.</a:t>
            </a:r>
          </a:p>
        </p:txBody>
      </p:sp>
      <p:grpSp>
        <p:nvGrpSpPr>
          <p:cNvPr name="Group 79" id="79"/>
          <p:cNvGrpSpPr/>
          <p:nvPr/>
        </p:nvGrpSpPr>
        <p:grpSpPr>
          <a:xfrm rot="0">
            <a:off x="678656" y="7605236"/>
            <a:ext cx="8312468" cy="1687640"/>
            <a:chOff x="0" y="0"/>
            <a:chExt cx="11083290" cy="2250186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11083290" cy="2250186"/>
            </a:xfrm>
            <a:custGeom>
              <a:avLst/>
              <a:gdLst/>
              <a:ahLst/>
              <a:cxnLst/>
              <a:rect r="r" b="b" t="t" l="l"/>
              <a:pathLst>
                <a:path h="2250186" w="11083290">
                  <a:moveTo>
                    <a:pt x="0" y="0"/>
                  </a:moveTo>
                  <a:lnTo>
                    <a:pt x="11083290" y="0"/>
                  </a:lnTo>
                  <a:lnTo>
                    <a:pt x="11083290" y="2250186"/>
                  </a:lnTo>
                  <a:lnTo>
                    <a:pt x="0" y="2250186"/>
                  </a:lnTo>
                  <a:close/>
                </a:path>
              </a:pathLst>
            </a:custGeom>
            <a:solidFill>
              <a:srgbClr val="F7EDEA"/>
            </a:solidFill>
            <a:ln w="14288" cap="sq">
              <a:solidFill>
                <a:srgbClr val="E3CFC9"/>
              </a:solidFill>
              <a:prstDash val="solid"/>
              <a:miter/>
            </a:ln>
          </p:spPr>
        </p:sp>
      </p:grpSp>
      <p:grpSp>
        <p:nvGrpSpPr>
          <p:cNvPr name="Group 81" id="81"/>
          <p:cNvGrpSpPr/>
          <p:nvPr/>
        </p:nvGrpSpPr>
        <p:grpSpPr>
          <a:xfrm rot="0">
            <a:off x="886777" y="7813357"/>
            <a:ext cx="475869" cy="475869"/>
            <a:chOff x="0" y="0"/>
            <a:chExt cx="634492" cy="634492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634492" cy="634492"/>
            </a:xfrm>
            <a:custGeom>
              <a:avLst/>
              <a:gdLst/>
              <a:ahLst/>
              <a:cxnLst/>
              <a:rect r="r" b="b" t="t" l="l"/>
              <a:pathLst>
                <a:path h="634492" w="634492">
                  <a:moveTo>
                    <a:pt x="0" y="317246"/>
                  </a:moveTo>
                  <a:cubicBezTo>
                    <a:pt x="0" y="141986"/>
                    <a:pt x="141986" y="0"/>
                    <a:pt x="317246" y="0"/>
                  </a:cubicBezTo>
                  <a:cubicBezTo>
                    <a:pt x="492506" y="0"/>
                    <a:pt x="634492" y="141986"/>
                    <a:pt x="634492" y="317246"/>
                  </a:cubicBezTo>
                  <a:cubicBezTo>
                    <a:pt x="634492" y="492506"/>
                    <a:pt x="492506" y="634492"/>
                    <a:pt x="317246" y="634492"/>
                  </a:cubicBezTo>
                  <a:cubicBezTo>
                    <a:pt x="141986" y="634492"/>
                    <a:pt x="0" y="492506"/>
                    <a:pt x="0" y="317246"/>
                  </a:cubicBezTo>
                  <a:close/>
                </a:path>
              </a:pathLst>
            </a:custGeom>
            <a:solidFill>
              <a:srgbClr val="6E2723"/>
            </a:solidFill>
            <a:ln w="9525" cap="sq">
              <a:solidFill>
                <a:srgbClr val="6E2723"/>
              </a:solidFill>
              <a:prstDash val="solid"/>
              <a:miter/>
            </a:ln>
          </p:spPr>
        </p:sp>
      </p:grpSp>
      <p:grpSp>
        <p:nvGrpSpPr>
          <p:cNvPr name="Group 83" id="83"/>
          <p:cNvGrpSpPr/>
          <p:nvPr/>
        </p:nvGrpSpPr>
        <p:grpSpPr>
          <a:xfrm rot="0">
            <a:off x="891540" y="7818120"/>
            <a:ext cx="466344" cy="466344"/>
            <a:chOff x="0" y="0"/>
            <a:chExt cx="621792" cy="621792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621792" cy="621792"/>
            </a:xfrm>
            <a:custGeom>
              <a:avLst/>
              <a:gdLst/>
              <a:ahLst/>
              <a:cxnLst/>
              <a:rect r="r" b="b" t="t" l="l"/>
              <a:pathLst>
                <a:path h="621792" w="621792">
                  <a:moveTo>
                    <a:pt x="0" y="0"/>
                  </a:moveTo>
                  <a:lnTo>
                    <a:pt x="621792" y="0"/>
                  </a:lnTo>
                  <a:lnTo>
                    <a:pt x="621792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-19050"/>
              <a:ext cx="621792" cy="6408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7</a:t>
              </a:r>
            </a:p>
          </p:txBody>
        </p:sp>
      </p:grpSp>
      <p:grpSp>
        <p:nvGrpSpPr>
          <p:cNvPr name="Group 86" id="86"/>
          <p:cNvGrpSpPr/>
          <p:nvPr/>
        </p:nvGrpSpPr>
        <p:grpSpPr>
          <a:xfrm rot="0">
            <a:off x="1508760" y="7776972"/>
            <a:ext cx="7269480" cy="548640"/>
            <a:chOff x="0" y="0"/>
            <a:chExt cx="9692640" cy="731520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9692640" cy="731520"/>
            </a:xfrm>
            <a:custGeom>
              <a:avLst/>
              <a:gdLst/>
              <a:ahLst/>
              <a:cxnLst/>
              <a:rect r="r" b="b" t="t" l="l"/>
              <a:pathLst>
                <a:path h="731520" w="9692640">
                  <a:moveTo>
                    <a:pt x="0" y="0"/>
                  </a:moveTo>
                  <a:lnTo>
                    <a:pt x="9692640" y="0"/>
                  </a:lnTo>
                  <a:lnTo>
                    <a:pt x="96926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8176" r="0" b="-208176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19050"/>
              <a:ext cx="969264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2B2B2B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Scalability</a:t>
              </a:r>
            </a:p>
          </p:txBody>
        </p:sp>
      </p:grpSp>
      <p:sp>
        <p:nvSpPr>
          <p:cNvPr name="TextBox 89" id="89"/>
          <p:cNvSpPr txBox="true"/>
          <p:nvPr/>
        </p:nvSpPr>
        <p:spPr>
          <a:xfrm rot="0">
            <a:off x="960120" y="8388858"/>
            <a:ext cx="7749540" cy="7322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4A4A4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locality-based data model lets new neighbourhoods be added easily.</a:t>
            </a:r>
          </a:p>
        </p:txBody>
      </p:sp>
      <p:grpSp>
        <p:nvGrpSpPr>
          <p:cNvPr name="Group 90" id="90"/>
          <p:cNvGrpSpPr/>
          <p:nvPr/>
        </p:nvGrpSpPr>
        <p:grpSpPr>
          <a:xfrm rot="0">
            <a:off x="9251156" y="7605236"/>
            <a:ext cx="8312468" cy="1687640"/>
            <a:chOff x="0" y="0"/>
            <a:chExt cx="11083290" cy="2250186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11083290" cy="2250186"/>
            </a:xfrm>
            <a:custGeom>
              <a:avLst/>
              <a:gdLst/>
              <a:ahLst/>
              <a:cxnLst/>
              <a:rect r="r" b="b" t="t" l="l"/>
              <a:pathLst>
                <a:path h="2250186" w="11083290">
                  <a:moveTo>
                    <a:pt x="0" y="0"/>
                  </a:moveTo>
                  <a:lnTo>
                    <a:pt x="11083290" y="0"/>
                  </a:lnTo>
                  <a:lnTo>
                    <a:pt x="11083290" y="2250186"/>
                  </a:lnTo>
                  <a:lnTo>
                    <a:pt x="0" y="2250186"/>
                  </a:lnTo>
                  <a:close/>
                </a:path>
              </a:pathLst>
            </a:custGeom>
            <a:solidFill>
              <a:srgbClr val="F7EDEA"/>
            </a:solidFill>
            <a:ln w="14288" cap="sq">
              <a:solidFill>
                <a:srgbClr val="E3CFC9"/>
              </a:solidFill>
              <a:prstDash val="solid"/>
              <a:miter/>
            </a:ln>
          </p:spPr>
        </p:sp>
      </p:grpSp>
      <p:grpSp>
        <p:nvGrpSpPr>
          <p:cNvPr name="Group 92" id="92"/>
          <p:cNvGrpSpPr/>
          <p:nvPr/>
        </p:nvGrpSpPr>
        <p:grpSpPr>
          <a:xfrm rot="0">
            <a:off x="9459278" y="7813357"/>
            <a:ext cx="475869" cy="475869"/>
            <a:chOff x="0" y="0"/>
            <a:chExt cx="634492" cy="634492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634492" cy="634492"/>
            </a:xfrm>
            <a:custGeom>
              <a:avLst/>
              <a:gdLst/>
              <a:ahLst/>
              <a:cxnLst/>
              <a:rect r="r" b="b" t="t" l="l"/>
              <a:pathLst>
                <a:path h="634492" w="634492">
                  <a:moveTo>
                    <a:pt x="0" y="317246"/>
                  </a:moveTo>
                  <a:cubicBezTo>
                    <a:pt x="0" y="141986"/>
                    <a:pt x="141986" y="0"/>
                    <a:pt x="317246" y="0"/>
                  </a:cubicBezTo>
                  <a:cubicBezTo>
                    <a:pt x="492506" y="0"/>
                    <a:pt x="634492" y="141986"/>
                    <a:pt x="634492" y="317246"/>
                  </a:cubicBezTo>
                  <a:cubicBezTo>
                    <a:pt x="634492" y="492506"/>
                    <a:pt x="492506" y="634492"/>
                    <a:pt x="317246" y="634492"/>
                  </a:cubicBezTo>
                  <a:cubicBezTo>
                    <a:pt x="141986" y="634492"/>
                    <a:pt x="0" y="492506"/>
                    <a:pt x="0" y="317246"/>
                  </a:cubicBezTo>
                  <a:close/>
                </a:path>
              </a:pathLst>
            </a:custGeom>
            <a:solidFill>
              <a:srgbClr val="C98A2C"/>
            </a:solidFill>
            <a:ln w="9525" cap="sq">
              <a:solidFill>
                <a:srgbClr val="C98A2C"/>
              </a:solidFill>
              <a:prstDash val="solid"/>
              <a:miter/>
            </a:ln>
          </p:spPr>
        </p:sp>
      </p:grpSp>
      <p:grpSp>
        <p:nvGrpSpPr>
          <p:cNvPr name="Group 94" id="94"/>
          <p:cNvGrpSpPr/>
          <p:nvPr/>
        </p:nvGrpSpPr>
        <p:grpSpPr>
          <a:xfrm rot="0">
            <a:off x="9464040" y="7818120"/>
            <a:ext cx="466344" cy="466344"/>
            <a:chOff x="0" y="0"/>
            <a:chExt cx="621792" cy="621792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621792" cy="621792"/>
            </a:xfrm>
            <a:custGeom>
              <a:avLst/>
              <a:gdLst/>
              <a:ahLst/>
              <a:cxnLst/>
              <a:rect r="r" b="b" t="t" l="l"/>
              <a:pathLst>
                <a:path h="621792" w="621792">
                  <a:moveTo>
                    <a:pt x="0" y="0"/>
                  </a:moveTo>
                  <a:lnTo>
                    <a:pt x="621792" y="0"/>
                  </a:lnTo>
                  <a:lnTo>
                    <a:pt x="621792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96" id="96"/>
            <p:cNvSpPr txBox="true"/>
            <p:nvPr/>
          </p:nvSpPr>
          <p:spPr>
            <a:xfrm>
              <a:off x="0" y="-19050"/>
              <a:ext cx="621792" cy="6408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8</a:t>
              </a:r>
            </a:p>
          </p:txBody>
        </p:sp>
      </p:grpSp>
      <p:grpSp>
        <p:nvGrpSpPr>
          <p:cNvPr name="Group 97" id="97"/>
          <p:cNvGrpSpPr/>
          <p:nvPr/>
        </p:nvGrpSpPr>
        <p:grpSpPr>
          <a:xfrm rot="0">
            <a:off x="10081260" y="7776972"/>
            <a:ext cx="7269480" cy="548640"/>
            <a:chOff x="0" y="0"/>
            <a:chExt cx="9692640" cy="731520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9692640" cy="731520"/>
            </a:xfrm>
            <a:custGeom>
              <a:avLst/>
              <a:gdLst/>
              <a:ahLst/>
              <a:cxnLst/>
              <a:rect r="r" b="b" t="t" l="l"/>
              <a:pathLst>
                <a:path h="731520" w="9692640">
                  <a:moveTo>
                    <a:pt x="0" y="0"/>
                  </a:moveTo>
                  <a:lnTo>
                    <a:pt x="9692640" y="0"/>
                  </a:lnTo>
                  <a:lnTo>
                    <a:pt x="96926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8176" r="0" b="-208176"/>
              </a:stretch>
            </a:blipFill>
          </p:spPr>
        </p:sp>
        <p:sp>
          <p:nvSpPr>
            <p:cNvPr name="TextBox 99" id="99"/>
            <p:cNvSpPr txBox="true"/>
            <p:nvPr/>
          </p:nvSpPr>
          <p:spPr>
            <a:xfrm>
              <a:off x="0" y="-19050"/>
              <a:ext cx="969264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2B2B2B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Maintainability</a:t>
              </a:r>
            </a:p>
          </p:txBody>
        </p:sp>
      </p:grpSp>
      <p:sp>
        <p:nvSpPr>
          <p:cNvPr name="TextBox 100" id="100"/>
          <p:cNvSpPr txBox="true"/>
          <p:nvPr/>
        </p:nvSpPr>
        <p:spPr>
          <a:xfrm rot="0">
            <a:off x="9532620" y="8388858"/>
            <a:ext cx="7749540" cy="7322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4A4A4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Modular code with separate routes, controllers and models.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7144" y="102584"/>
            <a:ext cx="18301830" cy="864680"/>
            <a:chOff x="0" y="0"/>
            <a:chExt cx="24402440" cy="115290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152906"/>
            </a:xfrm>
            <a:custGeom>
              <a:avLst/>
              <a:gdLst/>
              <a:ahLst/>
              <a:cxnLst/>
              <a:rect r="r" b="b" t="t" l="l"/>
              <a:pathLst>
                <a:path h="1152906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152906"/>
                  </a:lnTo>
                  <a:lnTo>
                    <a:pt x="0" y="1152906"/>
                  </a:lnTo>
                  <a:close/>
                </a:path>
              </a:pathLst>
            </a:custGeom>
            <a:solidFill>
              <a:srgbClr val="953734"/>
            </a:solidFill>
            <a:ln w="14288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411480" y="109728"/>
            <a:ext cx="17464583" cy="850392"/>
            <a:chOff x="0" y="0"/>
            <a:chExt cx="23286110" cy="113385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3286110" cy="1133856"/>
            </a:xfrm>
            <a:custGeom>
              <a:avLst/>
              <a:gdLst/>
              <a:ahLst/>
              <a:cxnLst/>
              <a:rect r="r" b="b" t="t" l="l"/>
              <a:pathLst>
                <a:path h="1133856" w="23286110">
                  <a:moveTo>
                    <a:pt x="0" y="0"/>
                  </a:moveTo>
                  <a:lnTo>
                    <a:pt x="23286110" y="0"/>
                  </a:lnTo>
                  <a:lnTo>
                    <a:pt x="2328611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0166" r="0" b="-35016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23286110" cy="11529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60"/>
                </a:lnSpc>
              </a:pPr>
              <a:r>
                <a:rPr lang="en-US" sz="3300" b="true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System Architecture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7323308" y="9738360"/>
            <a:ext cx="685800" cy="411480"/>
            <a:chOff x="0" y="0"/>
            <a:chExt cx="914400" cy="5486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91440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99999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16</a:t>
              </a: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685800" y="1146810"/>
            <a:ext cx="16870680" cy="773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2B2B2B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The system follows a three-tier client–server architecture: interface, application logic and data storage run independently.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678656" y="2050256"/>
            <a:ext cx="8655368" cy="480632"/>
            <a:chOff x="0" y="0"/>
            <a:chExt cx="11540490" cy="64084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1540490" cy="640842"/>
            </a:xfrm>
            <a:custGeom>
              <a:avLst/>
              <a:gdLst/>
              <a:ahLst/>
              <a:cxnLst/>
              <a:rect r="r" b="b" t="t" l="l"/>
              <a:pathLst>
                <a:path h="640842" w="11540490">
                  <a:moveTo>
                    <a:pt x="0" y="0"/>
                  </a:moveTo>
                  <a:lnTo>
                    <a:pt x="11540490" y="0"/>
                  </a:lnTo>
                  <a:lnTo>
                    <a:pt x="11540490" y="640842"/>
                  </a:lnTo>
                  <a:lnTo>
                    <a:pt x="0" y="640842"/>
                  </a:lnTo>
                  <a:close/>
                </a:path>
              </a:pathLst>
            </a:custGeom>
            <a:solidFill>
              <a:srgbClr val="953734"/>
            </a:solidFill>
            <a:ln w="14288" cap="sq">
              <a:solidFill>
                <a:srgbClr val="953734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754380" y="2057400"/>
            <a:ext cx="8503920" cy="466344"/>
            <a:chOff x="0" y="0"/>
            <a:chExt cx="11338560" cy="62179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1338560" cy="621792"/>
            </a:xfrm>
            <a:custGeom>
              <a:avLst/>
              <a:gdLst/>
              <a:ahLst/>
              <a:cxnLst/>
              <a:rect r="r" b="b" t="t" l="l"/>
              <a:pathLst>
                <a:path h="621792" w="11338560">
                  <a:moveTo>
                    <a:pt x="0" y="0"/>
                  </a:moveTo>
                  <a:lnTo>
                    <a:pt x="11338560" y="0"/>
                  </a:lnTo>
                  <a:lnTo>
                    <a:pt x="1133856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5315" r="0" b="-305315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19050"/>
              <a:ext cx="11338560" cy="6408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Three-Tier Request Flow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676275" y="2733675"/>
            <a:ext cx="8660130" cy="1390650"/>
            <a:chOff x="0" y="0"/>
            <a:chExt cx="11546840" cy="18542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1546840" cy="1854200"/>
            </a:xfrm>
            <a:custGeom>
              <a:avLst/>
              <a:gdLst/>
              <a:ahLst/>
              <a:cxnLst/>
              <a:rect r="r" b="b" t="t" l="l"/>
              <a:pathLst>
                <a:path h="1854200" w="11546840">
                  <a:moveTo>
                    <a:pt x="0" y="0"/>
                  </a:moveTo>
                  <a:lnTo>
                    <a:pt x="11546840" y="0"/>
                  </a:lnTo>
                  <a:lnTo>
                    <a:pt x="11546840" y="1854200"/>
                  </a:lnTo>
                  <a:lnTo>
                    <a:pt x="0" y="1854200"/>
                  </a:lnTo>
                  <a:close/>
                </a:path>
              </a:pathLst>
            </a:custGeom>
            <a:solidFill>
              <a:srgbClr val="028090"/>
            </a:solidFill>
            <a:ln w="19050" cap="sq">
              <a:solidFill>
                <a:srgbClr val="028090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685800" y="2880360"/>
            <a:ext cx="8641080" cy="411480"/>
            <a:chOff x="0" y="0"/>
            <a:chExt cx="11521440" cy="54864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1521440" cy="548640"/>
            </a:xfrm>
            <a:custGeom>
              <a:avLst/>
              <a:gdLst/>
              <a:ahLst/>
              <a:cxnLst/>
              <a:rect r="r" b="b" t="t" l="l"/>
              <a:pathLst>
                <a:path h="548640" w="11521440">
                  <a:moveTo>
                    <a:pt x="0" y="0"/>
                  </a:moveTo>
                  <a:lnTo>
                    <a:pt x="11521440" y="0"/>
                  </a:lnTo>
                  <a:lnTo>
                    <a:pt x="1152144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9185" r="0" b="-359185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19050"/>
              <a:ext cx="1152144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F3DCD8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PRESENTATION TIER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685800" y="3291840"/>
            <a:ext cx="8641080" cy="685800"/>
            <a:chOff x="0" y="0"/>
            <a:chExt cx="11521440" cy="9144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1521440" cy="914400"/>
            </a:xfrm>
            <a:custGeom>
              <a:avLst/>
              <a:gdLst/>
              <a:ahLst/>
              <a:cxnLst/>
              <a:rect r="r" b="b" t="t" l="l"/>
              <a:pathLst>
                <a:path h="914400" w="11521440">
                  <a:moveTo>
                    <a:pt x="0" y="0"/>
                  </a:moveTo>
                  <a:lnTo>
                    <a:pt x="11521440" y="0"/>
                  </a:lnTo>
                  <a:lnTo>
                    <a:pt x="1152144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5511" r="0" b="-195511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9525"/>
              <a:ext cx="11521440" cy="923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React + Vite Frontend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4795838" y="4219766"/>
            <a:ext cx="393573" cy="421005"/>
            <a:chOff x="0" y="0"/>
            <a:chExt cx="524764" cy="56134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24764" cy="561340"/>
            </a:xfrm>
            <a:custGeom>
              <a:avLst/>
              <a:gdLst/>
              <a:ahLst/>
              <a:cxnLst/>
              <a:rect r="r" b="b" t="t" l="l"/>
              <a:pathLst>
                <a:path h="561340" w="524764">
                  <a:moveTo>
                    <a:pt x="0" y="298958"/>
                  </a:moveTo>
                  <a:lnTo>
                    <a:pt x="131191" y="298958"/>
                  </a:lnTo>
                  <a:lnTo>
                    <a:pt x="131191" y="0"/>
                  </a:lnTo>
                  <a:lnTo>
                    <a:pt x="393573" y="0"/>
                  </a:lnTo>
                  <a:lnTo>
                    <a:pt x="393573" y="298958"/>
                  </a:lnTo>
                  <a:lnTo>
                    <a:pt x="524764" y="298958"/>
                  </a:lnTo>
                  <a:lnTo>
                    <a:pt x="262382" y="561340"/>
                  </a:lnTo>
                  <a:close/>
                </a:path>
              </a:pathLst>
            </a:custGeom>
            <a:solidFill>
              <a:srgbClr val="C98A2C"/>
            </a:solidFill>
            <a:ln w="9525" cap="sq">
              <a:solidFill>
                <a:srgbClr val="C98A2C"/>
              </a:solidFill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5486400" y="4183380"/>
            <a:ext cx="3840480" cy="480060"/>
            <a:chOff x="0" y="0"/>
            <a:chExt cx="5120640" cy="64008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120640" cy="640080"/>
            </a:xfrm>
            <a:custGeom>
              <a:avLst/>
              <a:gdLst/>
              <a:ahLst/>
              <a:cxnLst/>
              <a:rect r="r" b="b" t="t" l="l"/>
              <a:pathLst>
                <a:path h="64008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5880" r="0" b="-10588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19050"/>
              <a:ext cx="5120640" cy="6591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i="true">
                  <a:solidFill>
                    <a:srgbClr val="4A4A4A"/>
                  </a:solidFill>
                  <a:latin typeface="Times New Roman Italics"/>
                  <a:ea typeface="Times New Roman Italics"/>
                  <a:cs typeface="Times New Roman Italics"/>
                  <a:sym typeface="Times New Roman Italics"/>
                </a:rPr>
                <a:t>Axios  HTTP / JSON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676275" y="4722495"/>
            <a:ext cx="8660130" cy="1390650"/>
            <a:chOff x="0" y="0"/>
            <a:chExt cx="11546840" cy="18542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1546840" cy="1854200"/>
            </a:xfrm>
            <a:custGeom>
              <a:avLst/>
              <a:gdLst/>
              <a:ahLst/>
              <a:cxnLst/>
              <a:rect r="r" b="b" t="t" l="l"/>
              <a:pathLst>
                <a:path h="1854200" w="11546840">
                  <a:moveTo>
                    <a:pt x="0" y="0"/>
                  </a:moveTo>
                  <a:lnTo>
                    <a:pt x="11546840" y="0"/>
                  </a:lnTo>
                  <a:lnTo>
                    <a:pt x="11546840" y="1854200"/>
                  </a:lnTo>
                  <a:lnTo>
                    <a:pt x="0" y="1854200"/>
                  </a:lnTo>
                  <a:close/>
                </a:path>
              </a:pathLst>
            </a:custGeom>
            <a:solidFill>
              <a:srgbClr val="953734"/>
            </a:solidFill>
            <a:ln w="19050" cap="sq">
              <a:solidFill>
                <a:srgbClr val="953734"/>
              </a:solidFill>
              <a:prstDash val="solid"/>
              <a:miter/>
            </a:ln>
          </p:spPr>
        </p:sp>
      </p:grpSp>
      <p:grpSp>
        <p:nvGrpSpPr>
          <p:cNvPr name="Group 31" id="31"/>
          <p:cNvGrpSpPr/>
          <p:nvPr/>
        </p:nvGrpSpPr>
        <p:grpSpPr>
          <a:xfrm rot="0">
            <a:off x="685800" y="4869180"/>
            <a:ext cx="8641080" cy="411480"/>
            <a:chOff x="0" y="0"/>
            <a:chExt cx="11521440" cy="54864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1521440" cy="548640"/>
            </a:xfrm>
            <a:custGeom>
              <a:avLst/>
              <a:gdLst/>
              <a:ahLst/>
              <a:cxnLst/>
              <a:rect r="r" b="b" t="t" l="l"/>
              <a:pathLst>
                <a:path h="548640" w="11521440">
                  <a:moveTo>
                    <a:pt x="0" y="0"/>
                  </a:moveTo>
                  <a:lnTo>
                    <a:pt x="11521440" y="0"/>
                  </a:lnTo>
                  <a:lnTo>
                    <a:pt x="1152144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9185" r="0" b="-359185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19050"/>
              <a:ext cx="1152144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F3DCD8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APPLICATION TIER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685800" y="5280660"/>
            <a:ext cx="8641080" cy="685800"/>
            <a:chOff x="0" y="0"/>
            <a:chExt cx="11521440" cy="9144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1521440" cy="914400"/>
            </a:xfrm>
            <a:custGeom>
              <a:avLst/>
              <a:gdLst/>
              <a:ahLst/>
              <a:cxnLst/>
              <a:rect r="r" b="b" t="t" l="l"/>
              <a:pathLst>
                <a:path h="914400" w="11521440">
                  <a:moveTo>
                    <a:pt x="0" y="0"/>
                  </a:moveTo>
                  <a:lnTo>
                    <a:pt x="11521440" y="0"/>
                  </a:lnTo>
                  <a:lnTo>
                    <a:pt x="1152144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5511" r="0" b="-195511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9525"/>
              <a:ext cx="11521440" cy="923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Node.js + Express REST API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4795838" y="6208586"/>
            <a:ext cx="393573" cy="421005"/>
            <a:chOff x="0" y="0"/>
            <a:chExt cx="524764" cy="56134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524764" cy="561340"/>
            </a:xfrm>
            <a:custGeom>
              <a:avLst/>
              <a:gdLst/>
              <a:ahLst/>
              <a:cxnLst/>
              <a:rect r="r" b="b" t="t" l="l"/>
              <a:pathLst>
                <a:path h="561340" w="524764">
                  <a:moveTo>
                    <a:pt x="0" y="298958"/>
                  </a:moveTo>
                  <a:lnTo>
                    <a:pt x="131191" y="298958"/>
                  </a:lnTo>
                  <a:lnTo>
                    <a:pt x="131191" y="0"/>
                  </a:lnTo>
                  <a:lnTo>
                    <a:pt x="393573" y="0"/>
                  </a:lnTo>
                  <a:lnTo>
                    <a:pt x="393573" y="298958"/>
                  </a:lnTo>
                  <a:lnTo>
                    <a:pt x="524764" y="298958"/>
                  </a:lnTo>
                  <a:lnTo>
                    <a:pt x="262382" y="561340"/>
                  </a:lnTo>
                  <a:close/>
                </a:path>
              </a:pathLst>
            </a:custGeom>
            <a:solidFill>
              <a:srgbClr val="C98A2C"/>
            </a:solidFill>
            <a:ln w="9525" cap="sq">
              <a:solidFill>
                <a:srgbClr val="C98A2C"/>
              </a:solidFill>
              <a:prstDash val="solid"/>
              <a:miter/>
            </a:ln>
          </p:spPr>
        </p:sp>
      </p:grpSp>
      <p:grpSp>
        <p:nvGrpSpPr>
          <p:cNvPr name="Group 39" id="39"/>
          <p:cNvGrpSpPr/>
          <p:nvPr/>
        </p:nvGrpSpPr>
        <p:grpSpPr>
          <a:xfrm rot="0">
            <a:off x="5486400" y="6172200"/>
            <a:ext cx="3840480" cy="480060"/>
            <a:chOff x="0" y="0"/>
            <a:chExt cx="5120640" cy="64008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5120640" cy="640080"/>
            </a:xfrm>
            <a:custGeom>
              <a:avLst/>
              <a:gdLst/>
              <a:ahLst/>
              <a:cxnLst/>
              <a:rect r="r" b="b" t="t" l="l"/>
              <a:pathLst>
                <a:path h="64008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5880" r="0" b="-105880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19050"/>
              <a:ext cx="5120640" cy="6591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i="true">
                  <a:solidFill>
                    <a:srgbClr val="4A4A4A"/>
                  </a:solidFill>
                  <a:latin typeface="Times New Roman Italics"/>
                  <a:ea typeface="Times New Roman Italics"/>
                  <a:cs typeface="Times New Roman Italics"/>
                  <a:sym typeface="Times New Roman Italics"/>
                </a:rPr>
                <a:t>Mongoose queries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676275" y="6711315"/>
            <a:ext cx="8660130" cy="1390650"/>
            <a:chOff x="0" y="0"/>
            <a:chExt cx="11546840" cy="18542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1546840" cy="1854200"/>
            </a:xfrm>
            <a:custGeom>
              <a:avLst/>
              <a:gdLst/>
              <a:ahLst/>
              <a:cxnLst/>
              <a:rect r="r" b="b" t="t" l="l"/>
              <a:pathLst>
                <a:path h="1854200" w="11546840">
                  <a:moveTo>
                    <a:pt x="0" y="0"/>
                  </a:moveTo>
                  <a:lnTo>
                    <a:pt x="11546840" y="0"/>
                  </a:lnTo>
                  <a:lnTo>
                    <a:pt x="11546840" y="1854200"/>
                  </a:lnTo>
                  <a:lnTo>
                    <a:pt x="0" y="1854200"/>
                  </a:lnTo>
                  <a:close/>
                </a:path>
              </a:pathLst>
            </a:custGeom>
            <a:solidFill>
              <a:srgbClr val="444444"/>
            </a:solidFill>
            <a:ln w="19050" cap="sq">
              <a:solidFill>
                <a:srgbClr val="444444"/>
              </a:solidFill>
              <a:prstDash val="solid"/>
              <a:miter/>
            </a:ln>
          </p:spPr>
        </p:sp>
      </p:grpSp>
      <p:grpSp>
        <p:nvGrpSpPr>
          <p:cNvPr name="Group 44" id="44"/>
          <p:cNvGrpSpPr/>
          <p:nvPr/>
        </p:nvGrpSpPr>
        <p:grpSpPr>
          <a:xfrm rot="0">
            <a:off x="685800" y="6858000"/>
            <a:ext cx="8641080" cy="411480"/>
            <a:chOff x="0" y="0"/>
            <a:chExt cx="11521440" cy="54864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1521440" cy="548640"/>
            </a:xfrm>
            <a:custGeom>
              <a:avLst/>
              <a:gdLst/>
              <a:ahLst/>
              <a:cxnLst/>
              <a:rect r="r" b="b" t="t" l="l"/>
              <a:pathLst>
                <a:path h="548640" w="11521440">
                  <a:moveTo>
                    <a:pt x="0" y="0"/>
                  </a:moveTo>
                  <a:lnTo>
                    <a:pt x="11521440" y="0"/>
                  </a:lnTo>
                  <a:lnTo>
                    <a:pt x="1152144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9185" r="0" b="-359185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19050"/>
              <a:ext cx="1152144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F3DCD8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DATA TIER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685800" y="7269480"/>
            <a:ext cx="8641080" cy="685800"/>
            <a:chOff x="0" y="0"/>
            <a:chExt cx="11521440" cy="91440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1521440" cy="914400"/>
            </a:xfrm>
            <a:custGeom>
              <a:avLst/>
              <a:gdLst/>
              <a:ahLst/>
              <a:cxnLst/>
              <a:rect r="r" b="b" t="t" l="l"/>
              <a:pathLst>
                <a:path h="914400" w="11521440">
                  <a:moveTo>
                    <a:pt x="0" y="0"/>
                  </a:moveTo>
                  <a:lnTo>
                    <a:pt x="11521440" y="0"/>
                  </a:lnTo>
                  <a:lnTo>
                    <a:pt x="1152144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5511" r="0" b="-195511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9525"/>
              <a:ext cx="11521440" cy="923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MongoDB Database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685800" y="8709660"/>
            <a:ext cx="8641080" cy="685800"/>
            <a:chOff x="0" y="0"/>
            <a:chExt cx="11521440" cy="91440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1521440" cy="914400"/>
            </a:xfrm>
            <a:custGeom>
              <a:avLst/>
              <a:gdLst/>
              <a:ahLst/>
              <a:cxnLst/>
              <a:rect r="r" b="b" t="t" l="l"/>
              <a:pathLst>
                <a:path h="914400" w="11521440">
                  <a:moveTo>
                    <a:pt x="0" y="0"/>
                  </a:moveTo>
                  <a:lnTo>
                    <a:pt x="11521440" y="0"/>
                  </a:lnTo>
                  <a:lnTo>
                    <a:pt x="1152144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5511" r="0" b="-195511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19050"/>
              <a:ext cx="11521440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i="true">
                  <a:solidFill>
                    <a:srgbClr val="028090"/>
                  </a:solidFill>
                  <a:latin typeface="Times New Roman Italics"/>
                  <a:ea typeface="Times New Roman Italics"/>
                  <a:cs typeface="Times New Roman Italics"/>
                  <a:sym typeface="Times New Roman Italics"/>
                </a:rPr>
                <a:t>Contact links (tel: / WhatsApp) open directly on the user’s phone.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9868376" y="2050256"/>
            <a:ext cx="7695247" cy="480632"/>
            <a:chOff x="0" y="0"/>
            <a:chExt cx="10260330" cy="640842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0260330" cy="640842"/>
            </a:xfrm>
            <a:custGeom>
              <a:avLst/>
              <a:gdLst/>
              <a:ahLst/>
              <a:cxnLst/>
              <a:rect r="r" b="b" t="t" l="l"/>
              <a:pathLst>
                <a:path h="640842" w="10260330">
                  <a:moveTo>
                    <a:pt x="0" y="0"/>
                  </a:moveTo>
                  <a:lnTo>
                    <a:pt x="10260330" y="0"/>
                  </a:lnTo>
                  <a:lnTo>
                    <a:pt x="10260330" y="640842"/>
                  </a:lnTo>
                  <a:lnTo>
                    <a:pt x="0" y="640842"/>
                  </a:lnTo>
                  <a:close/>
                </a:path>
              </a:pathLst>
            </a:custGeom>
            <a:solidFill>
              <a:srgbClr val="C98A2C"/>
            </a:solidFill>
            <a:ln w="14288" cap="sq">
              <a:solidFill>
                <a:srgbClr val="C98A2C"/>
              </a:solidFill>
              <a:prstDash val="solid"/>
              <a:miter/>
            </a:ln>
          </p:spPr>
        </p:sp>
      </p:grpSp>
      <p:grpSp>
        <p:nvGrpSpPr>
          <p:cNvPr name="Group 55" id="55"/>
          <p:cNvGrpSpPr/>
          <p:nvPr/>
        </p:nvGrpSpPr>
        <p:grpSpPr>
          <a:xfrm rot="0">
            <a:off x="9944100" y="2057400"/>
            <a:ext cx="7543800" cy="466344"/>
            <a:chOff x="0" y="0"/>
            <a:chExt cx="10058400" cy="621792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10058400" cy="621792"/>
            </a:xfrm>
            <a:custGeom>
              <a:avLst/>
              <a:gdLst/>
              <a:ahLst/>
              <a:cxnLst/>
              <a:rect r="r" b="b" t="t" l="l"/>
              <a:pathLst>
                <a:path h="621792" w="10058400">
                  <a:moveTo>
                    <a:pt x="0" y="0"/>
                  </a:moveTo>
                  <a:lnTo>
                    <a:pt x="10058400" y="0"/>
                  </a:lnTo>
                  <a:lnTo>
                    <a:pt x="1005840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5199" r="0" b="-265199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19050"/>
              <a:ext cx="10058400" cy="6408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Backend Internal Structure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9868376" y="2736056"/>
            <a:ext cx="7695247" cy="1317308"/>
            <a:chOff x="0" y="0"/>
            <a:chExt cx="10260330" cy="175641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10260330" cy="1756410"/>
            </a:xfrm>
            <a:custGeom>
              <a:avLst/>
              <a:gdLst/>
              <a:ahLst/>
              <a:cxnLst/>
              <a:rect r="r" b="b" t="t" l="l"/>
              <a:pathLst>
                <a:path h="1756410" w="10260330">
                  <a:moveTo>
                    <a:pt x="0" y="0"/>
                  </a:moveTo>
                  <a:lnTo>
                    <a:pt x="10260330" y="0"/>
                  </a:lnTo>
                  <a:lnTo>
                    <a:pt x="10260330" y="1756410"/>
                  </a:lnTo>
                  <a:lnTo>
                    <a:pt x="0" y="1756410"/>
                  </a:lnTo>
                  <a:close/>
                </a:path>
              </a:pathLst>
            </a:custGeom>
            <a:solidFill>
              <a:srgbClr val="F7EDEA"/>
            </a:solidFill>
            <a:ln w="14288" cap="sq">
              <a:solidFill>
                <a:srgbClr val="E3CFC9"/>
              </a:solidFill>
              <a:prstDash val="solid"/>
              <a:miter/>
            </a:ln>
          </p:spPr>
        </p:sp>
      </p:grpSp>
      <p:grpSp>
        <p:nvGrpSpPr>
          <p:cNvPr name="Group 60" id="60"/>
          <p:cNvGrpSpPr/>
          <p:nvPr/>
        </p:nvGrpSpPr>
        <p:grpSpPr>
          <a:xfrm rot="0">
            <a:off x="10071735" y="2939415"/>
            <a:ext cx="430530" cy="430530"/>
            <a:chOff x="0" y="0"/>
            <a:chExt cx="574040" cy="57404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574040" cy="574040"/>
            </a:xfrm>
            <a:custGeom>
              <a:avLst/>
              <a:gdLst/>
              <a:ahLst/>
              <a:cxnLst/>
              <a:rect r="r" b="b" t="t" l="l"/>
              <a:pathLst>
                <a:path h="574040" w="574040">
                  <a:moveTo>
                    <a:pt x="0" y="287020"/>
                  </a:moveTo>
                  <a:cubicBezTo>
                    <a:pt x="0" y="128524"/>
                    <a:pt x="128524" y="0"/>
                    <a:pt x="287020" y="0"/>
                  </a:cubicBezTo>
                  <a:cubicBezTo>
                    <a:pt x="445516" y="0"/>
                    <a:pt x="574040" y="128524"/>
                    <a:pt x="574040" y="287020"/>
                  </a:cubicBezTo>
                  <a:cubicBezTo>
                    <a:pt x="574040" y="445516"/>
                    <a:pt x="445516" y="574040"/>
                    <a:pt x="287020" y="574040"/>
                  </a:cubicBezTo>
                  <a:cubicBezTo>
                    <a:pt x="128524" y="574040"/>
                    <a:pt x="0" y="445516"/>
                    <a:pt x="0" y="287020"/>
                  </a:cubicBezTo>
                  <a:close/>
                </a:path>
              </a:pathLst>
            </a:custGeom>
            <a:solidFill>
              <a:srgbClr val="028090"/>
            </a:solidFill>
            <a:ln w="19050" cap="sq">
              <a:solidFill>
                <a:srgbClr val="028090"/>
              </a:solidFill>
              <a:prstDash val="solid"/>
              <a:miter/>
            </a:ln>
          </p:spPr>
        </p:sp>
      </p:grpSp>
      <p:grpSp>
        <p:nvGrpSpPr>
          <p:cNvPr name="Group 62" id="62"/>
          <p:cNvGrpSpPr/>
          <p:nvPr/>
        </p:nvGrpSpPr>
        <p:grpSpPr>
          <a:xfrm rot="0">
            <a:off x="10698480" y="2852928"/>
            <a:ext cx="6583680" cy="480060"/>
            <a:chOff x="0" y="0"/>
            <a:chExt cx="8778240" cy="64008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8778240" cy="640080"/>
            </a:xfrm>
            <a:custGeom>
              <a:avLst/>
              <a:gdLst/>
              <a:ahLst/>
              <a:cxnLst/>
              <a:rect r="r" b="b" t="t" l="l"/>
              <a:pathLst>
                <a:path h="640080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7223" r="0" b="-217223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19050"/>
              <a:ext cx="8778240" cy="6591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2B2B2B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Routes Layer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10698480" y="3401568"/>
            <a:ext cx="6583680" cy="548640"/>
            <a:chOff x="0" y="0"/>
            <a:chExt cx="8778240" cy="73152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8778240" cy="731520"/>
            </a:xfrm>
            <a:custGeom>
              <a:avLst/>
              <a:gdLst/>
              <a:ahLst/>
              <a:cxnLst/>
              <a:rect r="r" b="b" t="t" l="l"/>
              <a:pathLst>
                <a:path h="731520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3820" r="0" b="-183820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19050"/>
              <a:ext cx="877824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4A4A4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authRoutes, donorRoutes, sosRoutes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9868376" y="4244816"/>
            <a:ext cx="7695247" cy="1317308"/>
            <a:chOff x="0" y="0"/>
            <a:chExt cx="10260330" cy="175641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10260330" cy="1756410"/>
            </a:xfrm>
            <a:custGeom>
              <a:avLst/>
              <a:gdLst/>
              <a:ahLst/>
              <a:cxnLst/>
              <a:rect r="r" b="b" t="t" l="l"/>
              <a:pathLst>
                <a:path h="1756410" w="10260330">
                  <a:moveTo>
                    <a:pt x="0" y="0"/>
                  </a:moveTo>
                  <a:lnTo>
                    <a:pt x="10260330" y="0"/>
                  </a:lnTo>
                  <a:lnTo>
                    <a:pt x="10260330" y="1756410"/>
                  </a:lnTo>
                  <a:lnTo>
                    <a:pt x="0" y="1756410"/>
                  </a:lnTo>
                  <a:close/>
                </a:path>
              </a:pathLst>
            </a:custGeom>
            <a:solidFill>
              <a:srgbClr val="F7EDEA"/>
            </a:solidFill>
            <a:ln w="14288" cap="sq">
              <a:solidFill>
                <a:srgbClr val="E3CFC9"/>
              </a:solidFill>
              <a:prstDash val="solid"/>
              <a:miter/>
            </a:ln>
          </p:spPr>
        </p:sp>
      </p:grpSp>
      <p:grpSp>
        <p:nvGrpSpPr>
          <p:cNvPr name="Group 70" id="70"/>
          <p:cNvGrpSpPr/>
          <p:nvPr/>
        </p:nvGrpSpPr>
        <p:grpSpPr>
          <a:xfrm rot="0">
            <a:off x="10071735" y="4448175"/>
            <a:ext cx="430530" cy="430530"/>
            <a:chOff x="0" y="0"/>
            <a:chExt cx="574040" cy="57404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574040" cy="574040"/>
            </a:xfrm>
            <a:custGeom>
              <a:avLst/>
              <a:gdLst/>
              <a:ahLst/>
              <a:cxnLst/>
              <a:rect r="r" b="b" t="t" l="l"/>
              <a:pathLst>
                <a:path h="574040" w="574040">
                  <a:moveTo>
                    <a:pt x="0" y="287020"/>
                  </a:moveTo>
                  <a:cubicBezTo>
                    <a:pt x="0" y="128524"/>
                    <a:pt x="128524" y="0"/>
                    <a:pt x="287020" y="0"/>
                  </a:cubicBezTo>
                  <a:cubicBezTo>
                    <a:pt x="445516" y="0"/>
                    <a:pt x="574040" y="128524"/>
                    <a:pt x="574040" y="287020"/>
                  </a:cubicBezTo>
                  <a:cubicBezTo>
                    <a:pt x="574040" y="445516"/>
                    <a:pt x="445516" y="574040"/>
                    <a:pt x="287020" y="574040"/>
                  </a:cubicBezTo>
                  <a:cubicBezTo>
                    <a:pt x="128524" y="574040"/>
                    <a:pt x="0" y="445516"/>
                    <a:pt x="0" y="287020"/>
                  </a:cubicBezTo>
                  <a:close/>
                </a:path>
              </a:pathLst>
            </a:custGeom>
            <a:solidFill>
              <a:srgbClr val="953734"/>
            </a:solidFill>
            <a:ln w="19050" cap="sq">
              <a:solidFill>
                <a:srgbClr val="953734"/>
              </a:solidFill>
              <a:prstDash val="solid"/>
              <a:miter/>
            </a:ln>
          </p:spPr>
        </p:sp>
      </p:grpSp>
      <p:grpSp>
        <p:nvGrpSpPr>
          <p:cNvPr name="Group 72" id="72"/>
          <p:cNvGrpSpPr/>
          <p:nvPr/>
        </p:nvGrpSpPr>
        <p:grpSpPr>
          <a:xfrm rot="0">
            <a:off x="10698480" y="4361688"/>
            <a:ext cx="6583680" cy="480060"/>
            <a:chOff x="0" y="0"/>
            <a:chExt cx="8778240" cy="64008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8778240" cy="640080"/>
            </a:xfrm>
            <a:custGeom>
              <a:avLst/>
              <a:gdLst/>
              <a:ahLst/>
              <a:cxnLst/>
              <a:rect r="r" b="b" t="t" l="l"/>
              <a:pathLst>
                <a:path h="640080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7223" r="0" b="-217223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19050"/>
              <a:ext cx="8778240" cy="6591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2B2B2B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Controller Layer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10698480" y="4910328"/>
            <a:ext cx="6583680" cy="548640"/>
            <a:chOff x="0" y="0"/>
            <a:chExt cx="8778240" cy="731520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8778240" cy="731520"/>
            </a:xfrm>
            <a:custGeom>
              <a:avLst/>
              <a:gdLst/>
              <a:ahLst/>
              <a:cxnLst/>
              <a:rect r="r" b="b" t="t" l="l"/>
              <a:pathLst>
                <a:path h="731520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3820" r="0" b="-183820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-19050"/>
              <a:ext cx="877824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4A4A4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Handle each request and validation</a:t>
              </a: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9868376" y="5753576"/>
            <a:ext cx="7695247" cy="1317308"/>
            <a:chOff x="0" y="0"/>
            <a:chExt cx="10260330" cy="1756410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10260330" cy="1756410"/>
            </a:xfrm>
            <a:custGeom>
              <a:avLst/>
              <a:gdLst/>
              <a:ahLst/>
              <a:cxnLst/>
              <a:rect r="r" b="b" t="t" l="l"/>
              <a:pathLst>
                <a:path h="1756410" w="10260330">
                  <a:moveTo>
                    <a:pt x="0" y="0"/>
                  </a:moveTo>
                  <a:lnTo>
                    <a:pt x="10260330" y="0"/>
                  </a:lnTo>
                  <a:lnTo>
                    <a:pt x="10260330" y="1756410"/>
                  </a:lnTo>
                  <a:lnTo>
                    <a:pt x="0" y="1756410"/>
                  </a:lnTo>
                  <a:close/>
                </a:path>
              </a:pathLst>
            </a:custGeom>
            <a:solidFill>
              <a:srgbClr val="F7EDEA"/>
            </a:solidFill>
            <a:ln w="14288" cap="sq">
              <a:solidFill>
                <a:srgbClr val="E3CFC9"/>
              </a:solidFill>
              <a:prstDash val="solid"/>
              <a:miter/>
            </a:ln>
          </p:spPr>
        </p:sp>
      </p:grpSp>
      <p:grpSp>
        <p:nvGrpSpPr>
          <p:cNvPr name="Group 80" id="80"/>
          <p:cNvGrpSpPr/>
          <p:nvPr/>
        </p:nvGrpSpPr>
        <p:grpSpPr>
          <a:xfrm rot="0">
            <a:off x="10071735" y="5956935"/>
            <a:ext cx="430530" cy="430530"/>
            <a:chOff x="0" y="0"/>
            <a:chExt cx="574040" cy="57404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574040" cy="574040"/>
            </a:xfrm>
            <a:custGeom>
              <a:avLst/>
              <a:gdLst/>
              <a:ahLst/>
              <a:cxnLst/>
              <a:rect r="r" b="b" t="t" l="l"/>
              <a:pathLst>
                <a:path h="574040" w="574040">
                  <a:moveTo>
                    <a:pt x="0" y="287020"/>
                  </a:moveTo>
                  <a:cubicBezTo>
                    <a:pt x="0" y="128524"/>
                    <a:pt x="128524" y="0"/>
                    <a:pt x="287020" y="0"/>
                  </a:cubicBezTo>
                  <a:cubicBezTo>
                    <a:pt x="445516" y="0"/>
                    <a:pt x="574040" y="128524"/>
                    <a:pt x="574040" y="287020"/>
                  </a:cubicBezTo>
                  <a:cubicBezTo>
                    <a:pt x="574040" y="445516"/>
                    <a:pt x="445516" y="574040"/>
                    <a:pt x="287020" y="574040"/>
                  </a:cubicBezTo>
                  <a:cubicBezTo>
                    <a:pt x="128524" y="574040"/>
                    <a:pt x="0" y="445516"/>
                    <a:pt x="0" y="287020"/>
                  </a:cubicBezTo>
                  <a:close/>
                </a:path>
              </a:pathLst>
            </a:custGeom>
            <a:solidFill>
              <a:srgbClr val="C98A2C"/>
            </a:solidFill>
            <a:ln w="19050" cap="sq">
              <a:solidFill>
                <a:srgbClr val="C98A2C"/>
              </a:solidFill>
              <a:prstDash val="solid"/>
              <a:miter/>
            </a:ln>
          </p:spPr>
        </p:sp>
      </p:grpSp>
      <p:grpSp>
        <p:nvGrpSpPr>
          <p:cNvPr name="Group 82" id="82"/>
          <p:cNvGrpSpPr/>
          <p:nvPr/>
        </p:nvGrpSpPr>
        <p:grpSpPr>
          <a:xfrm rot="0">
            <a:off x="10698480" y="5870448"/>
            <a:ext cx="6583680" cy="480060"/>
            <a:chOff x="0" y="0"/>
            <a:chExt cx="8778240" cy="640080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8778240" cy="640080"/>
            </a:xfrm>
            <a:custGeom>
              <a:avLst/>
              <a:gdLst/>
              <a:ahLst/>
              <a:cxnLst/>
              <a:rect r="r" b="b" t="t" l="l"/>
              <a:pathLst>
                <a:path h="640080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7223" r="0" b="-217223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-19050"/>
              <a:ext cx="8778240" cy="6591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2B2B2B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Model Layer</a:t>
              </a:r>
            </a:p>
          </p:txBody>
        </p:sp>
      </p:grpSp>
      <p:grpSp>
        <p:nvGrpSpPr>
          <p:cNvPr name="Group 85" id="85"/>
          <p:cNvGrpSpPr/>
          <p:nvPr/>
        </p:nvGrpSpPr>
        <p:grpSpPr>
          <a:xfrm rot="0">
            <a:off x="10698480" y="6419088"/>
            <a:ext cx="6583680" cy="548640"/>
            <a:chOff x="0" y="0"/>
            <a:chExt cx="8778240" cy="731520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8778240" cy="731520"/>
            </a:xfrm>
            <a:custGeom>
              <a:avLst/>
              <a:gdLst/>
              <a:ahLst/>
              <a:cxnLst/>
              <a:rect r="r" b="b" t="t" l="l"/>
              <a:pathLst>
                <a:path h="731520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3820" r="0" b="-183820"/>
              </a:stretch>
            </a:blipFill>
          </p:spPr>
        </p:sp>
        <p:sp>
          <p:nvSpPr>
            <p:cNvPr name="TextBox 87" id="87"/>
            <p:cNvSpPr txBox="true"/>
            <p:nvPr/>
          </p:nvSpPr>
          <p:spPr>
            <a:xfrm>
              <a:off x="0" y="-19050"/>
              <a:ext cx="877824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4A4A4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Donor, SOSRequest and ContactLog schemas</a:t>
              </a:r>
            </a:p>
          </p:txBody>
        </p:sp>
      </p:grpSp>
      <p:grpSp>
        <p:nvGrpSpPr>
          <p:cNvPr name="Group 88" id="88"/>
          <p:cNvGrpSpPr/>
          <p:nvPr/>
        </p:nvGrpSpPr>
        <p:grpSpPr>
          <a:xfrm rot="0">
            <a:off x="9868376" y="7262336"/>
            <a:ext cx="7695247" cy="1317308"/>
            <a:chOff x="0" y="0"/>
            <a:chExt cx="10260330" cy="1756410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10260330" cy="1756410"/>
            </a:xfrm>
            <a:custGeom>
              <a:avLst/>
              <a:gdLst/>
              <a:ahLst/>
              <a:cxnLst/>
              <a:rect r="r" b="b" t="t" l="l"/>
              <a:pathLst>
                <a:path h="1756410" w="10260330">
                  <a:moveTo>
                    <a:pt x="0" y="0"/>
                  </a:moveTo>
                  <a:lnTo>
                    <a:pt x="10260330" y="0"/>
                  </a:lnTo>
                  <a:lnTo>
                    <a:pt x="10260330" y="1756410"/>
                  </a:lnTo>
                  <a:lnTo>
                    <a:pt x="0" y="1756410"/>
                  </a:lnTo>
                  <a:close/>
                </a:path>
              </a:pathLst>
            </a:custGeom>
            <a:solidFill>
              <a:srgbClr val="F7EDEA"/>
            </a:solidFill>
            <a:ln w="14288" cap="sq">
              <a:solidFill>
                <a:srgbClr val="E3CFC9"/>
              </a:solidFill>
              <a:prstDash val="solid"/>
              <a:miter/>
            </a:ln>
          </p:spPr>
        </p:sp>
      </p:grpSp>
      <p:grpSp>
        <p:nvGrpSpPr>
          <p:cNvPr name="Group 90" id="90"/>
          <p:cNvGrpSpPr/>
          <p:nvPr/>
        </p:nvGrpSpPr>
        <p:grpSpPr>
          <a:xfrm rot="0">
            <a:off x="10071735" y="7465695"/>
            <a:ext cx="430530" cy="430530"/>
            <a:chOff x="0" y="0"/>
            <a:chExt cx="574040" cy="574040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574040" cy="574040"/>
            </a:xfrm>
            <a:custGeom>
              <a:avLst/>
              <a:gdLst/>
              <a:ahLst/>
              <a:cxnLst/>
              <a:rect r="r" b="b" t="t" l="l"/>
              <a:pathLst>
                <a:path h="574040" w="574040">
                  <a:moveTo>
                    <a:pt x="0" y="287020"/>
                  </a:moveTo>
                  <a:cubicBezTo>
                    <a:pt x="0" y="128524"/>
                    <a:pt x="128524" y="0"/>
                    <a:pt x="287020" y="0"/>
                  </a:cubicBezTo>
                  <a:cubicBezTo>
                    <a:pt x="445516" y="0"/>
                    <a:pt x="574040" y="128524"/>
                    <a:pt x="574040" y="287020"/>
                  </a:cubicBezTo>
                  <a:cubicBezTo>
                    <a:pt x="574040" y="445516"/>
                    <a:pt x="445516" y="574040"/>
                    <a:pt x="287020" y="574040"/>
                  </a:cubicBezTo>
                  <a:cubicBezTo>
                    <a:pt x="128524" y="574040"/>
                    <a:pt x="0" y="445516"/>
                    <a:pt x="0" y="287020"/>
                  </a:cubicBezTo>
                  <a:close/>
                </a:path>
              </a:pathLst>
            </a:custGeom>
            <a:solidFill>
              <a:srgbClr val="6E2723"/>
            </a:solidFill>
            <a:ln w="19050" cap="sq">
              <a:solidFill>
                <a:srgbClr val="6E2723"/>
              </a:solidFill>
              <a:prstDash val="solid"/>
              <a:miter/>
            </a:ln>
          </p:spPr>
        </p:sp>
      </p:grpSp>
      <p:grpSp>
        <p:nvGrpSpPr>
          <p:cNvPr name="Group 92" id="92"/>
          <p:cNvGrpSpPr/>
          <p:nvPr/>
        </p:nvGrpSpPr>
        <p:grpSpPr>
          <a:xfrm rot="0">
            <a:off x="10698480" y="7379208"/>
            <a:ext cx="6583680" cy="480060"/>
            <a:chOff x="0" y="0"/>
            <a:chExt cx="8778240" cy="640080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8778240" cy="640080"/>
            </a:xfrm>
            <a:custGeom>
              <a:avLst/>
              <a:gdLst/>
              <a:ahLst/>
              <a:cxnLst/>
              <a:rect r="r" b="b" t="t" l="l"/>
              <a:pathLst>
                <a:path h="640080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7223" r="0" b="-217223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-19050"/>
              <a:ext cx="8778240" cy="6591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2B2B2B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Middleware Layer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10698480" y="7927848"/>
            <a:ext cx="6583680" cy="548640"/>
            <a:chOff x="0" y="0"/>
            <a:chExt cx="8778240" cy="731520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8778240" cy="731520"/>
            </a:xfrm>
            <a:custGeom>
              <a:avLst/>
              <a:gdLst/>
              <a:ahLst/>
              <a:cxnLst/>
              <a:rect r="r" b="b" t="t" l="l"/>
              <a:pathLst>
                <a:path h="731520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3820" r="0" b="-183820"/>
              </a:stretch>
            </a:blipFill>
          </p:spPr>
        </p:sp>
        <p:sp>
          <p:nvSpPr>
            <p:cNvPr name="TextBox 97" id="97"/>
            <p:cNvSpPr txBox="true"/>
            <p:nvPr/>
          </p:nvSpPr>
          <p:spPr>
            <a:xfrm>
              <a:off x="0" y="-19050"/>
              <a:ext cx="877824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4A4A4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JWT check, error handler, input validation</a:t>
              </a:r>
            </a:p>
          </p:txBody>
        </p:sp>
      </p:grpSp>
      <p:grpSp>
        <p:nvGrpSpPr>
          <p:cNvPr name="Group 98" id="98"/>
          <p:cNvGrpSpPr/>
          <p:nvPr/>
        </p:nvGrpSpPr>
        <p:grpSpPr>
          <a:xfrm rot="0">
            <a:off x="9875520" y="8846820"/>
            <a:ext cx="7680960" cy="685800"/>
            <a:chOff x="0" y="0"/>
            <a:chExt cx="10241280" cy="914400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10241280" cy="914400"/>
            </a:xfrm>
            <a:custGeom>
              <a:avLst/>
              <a:gdLst/>
              <a:ahLst/>
              <a:cxnLst/>
              <a:rect r="r" b="b" t="t" l="l"/>
              <a:pathLst>
                <a:path h="91440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8232" r="0" b="-168232"/>
              </a:stretch>
            </a:blipFill>
          </p:spPr>
        </p:sp>
        <p:sp>
          <p:nvSpPr>
            <p:cNvPr name="TextBox 100" id="100"/>
            <p:cNvSpPr txBox="true"/>
            <p:nvPr/>
          </p:nvSpPr>
          <p:spPr>
            <a:xfrm>
              <a:off x="0" y="-19050"/>
              <a:ext cx="10241280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i="true">
                  <a:solidFill>
                    <a:srgbClr val="028090"/>
                  </a:solidFill>
                  <a:latin typeface="Times New Roman Italics"/>
                  <a:ea typeface="Times New Roman Italics"/>
                  <a:cs typeface="Times New Roman Italics"/>
                  <a:sym typeface="Times New Roman Italics"/>
                </a:rPr>
                <a:t>Separating the tiers keeps the interface, logic and data independent and easy to extend.</a:t>
              </a:r>
            </a:p>
          </p:txBody>
        </p:sp>
      </p:grp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7144" y="102584"/>
            <a:ext cx="18301830" cy="864680"/>
            <a:chOff x="0" y="0"/>
            <a:chExt cx="24402440" cy="115290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152906"/>
            </a:xfrm>
            <a:custGeom>
              <a:avLst/>
              <a:gdLst/>
              <a:ahLst/>
              <a:cxnLst/>
              <a:rect r="r" b="b" t="t" l="l"/>
              <a:pathLst>
                <a:path h="1152906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152906"/>
                  </a:lnTo>
                  <a:lnTo>
                    <a:pt x="0" y="1152906"/>
                  </a:lnTo>
                  <a:close/>
                </a:path>
              </a:pathLst>
            </a:custGeom>
            <a:solidFill>
              <a:srgbClr val="953734"/>
            </a:solidFill>
            <a:ln w="14288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411480" y="109728"/>
            <a:ext cx="17464583" cy="850392"/>
            <a:chOff x="0" y="0"/>
            <a:chExt cx="23286110" cy="113385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3286110" cy="1133856"/>
            </a:xfrm>
            <a:custGeom>
              <a:avLst/>
              <a:gdLst/>
              <a:ahLst/>
              <a:cxnLst/>
              <a:rect r="r" b="b" t="t" l="l"/>
              <a:pathLst>
                <a:path h="1133856" w="23286110">
                  <a:moveTo>
                    <a:pt x="0" y="0"/>
                  </a:moveTo>
                  <a:lnTo>
                    <a:pt x="23286110" y="0"/>
                  </a:lnTo>
                  <a:lnTo>
                    <a:pt x="2328611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0166" r="0" b="-35016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23286110" cy="11529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60"/>
                </a:lnSpc>
              </a:pPr>
              <a:r>
                <a:rPr lang="en-US" sz="3300" b="true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Use Case Diagram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7323308" y="9738360"/>
            <a:ext cx="685800" cy="411480"/>
            <a:chOff x="0" y="0"/>
            <a:chExt cx="914400" cy="5486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91440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99999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17</a:t>
              </a: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685800" y="1146810"/>
            <a:ext cx="16870680" cy="773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2B2B2B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Two primary actors — the donor and the requester — interact with the directory; the phone app acts as a secondary actor for contact.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3551872" y="2043112"/>
            <a:ext cx="9492615" cy="7435215"/>
            <a:chOff x="0" y="0"/>
            <a:chExt cx="12656820" cy="991362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2656820" cy="9913620"/>
            </a:xfrm>
            <a:custGeom>
              <a:avLst/>
              <a:gdLst/>
              <a:ahLst/>
              <a:cxnLst/>
              <a:rect r="r" b="b" t="t" l="l"/>
              <a:pathLst>
                <a:path h="9913620" w="12656820">
                  <a:moveTo>
                    <a:pt x="0" y="183642"/>
                  </a:moveTo>
                  <a:cubicBezTo>
                    <a:pt x="0" y="82169"/>
                    <a:pt x="82169" y="0"/>
                    <a:pt x="183642" y="0"/>
                  </a:cubicBezTo>
                  <a:lnTo>
                    <a:pt x="12473178" y="0"/>
                  </a:lnTo>
                  <a:cubicBezTo>
                    <a:pt x="12574524" y="0"/>
                    <a:pt x="12656820" y="82169"/>
                    <a:pt x="12656820" y="183642"/>
                  </a:cubicBezTo>
                  <a:lnTo>
                    <a:pt x="12656820" y="9729978"/>
                  </a:lnTo>
                  <a:cubicBezTo>
                    <a:pt x="12656820" y="9831324"/>
                    <a:pt x="12574651" y="9913620"/>
                    <a:pt x="12473178" y="9913620"/>
                  </a:cubicBezTo>
                  <a:lnTo>
                    <a:pt x="183642" y="9913620"/>
                  </a:lnTo>
                  <a:cubicBezTo>
                    <a:pt x="82169" y="9913620"/>
                    <a:pt x="0" y="9831451"/>
                    <a:pt x="0" y="9729978"/>
                  </a:cubicBez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953734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3566160" y="2125980"/>
            <a:ext cx="9464040" cy="480060"/>
            <a:chOff x="0" y="0"/>
            <a:chExt cx="12618720" cy="64008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2618720" cy="640080"/>
            </a:xfrm>
            <a:custGeom>
              <a:avLst/>
              <a:gdLst/>
              <a:ahLst/>
              <a:cxnLst/>
              <a:rect r="r" b="b" t="t" l="l"/>
              <a:pathLst>
                <a:path h="640080" w="12618720">
                  <a:moveTo>
                    <a:pt x="0" y="0"/>
                  </a:moveTo>
                  <a:lnTo>
                    <a:pt x="12618720" y="0"/>
                  </a:lnTo>
                  <a:lnTo>
                    <a:pt x="1261872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4133" r="0" b="-334133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19050"/>
              <a:ext cx="12618720" cy="6591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953734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Emergency Blood Donor &amp; SOS Alert Directory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3899535" y="2802255"/>
            <a:ext cx="4271010" cy="979170"/>
            <a:chOff x="0" y="0"/>
            <a:chExt cx="5694680" cy="130556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694680" cy="1305560"/>
            </a:xfrm>
            <a:custGeom>
              <a:avLst/>
              <a:gdLst/>
              <a:ahLst/>
              <a:cxnLst/>
              <a:rect r="r" b="b" t="t" l="l"/>
              <a:pathLst>
                <a:path h="1305560" w="5694680">
                  <a:moveTo>
                    <a:pt x="0" y="652780"/>
                  </a:moveTo>
                  <a:cubicBezTo>
                    <a:pt x="0" y="292227"/>
                    <a:pt x="1274826" y="0"/>
                    <a:pt x="2847340" y="0"/>
                  </a:cubicBezTo>
                  <a:cubicBezTo>
                    <a:pt x="4419854" y="0"/>
                    <a:pt x="5694680" y="292227"/>
                    <a:pt x="5694680" y="652780"/>
                  </a:cubicBezTo>
                  <a:cubicBezTo>
                    <a:pt x="5694680" y="1013333"/>
                    <a:pt x="4419854" y="1305560"/>
                    <a:pt x="2847340" y="1305560"/>
                  </a:cubicBezTo>
                  <a:cubicBezTo>
                    <a:pt x="1274826" y="1305560"/>
                    <a:pt x="0" y="1013333"/>
                    <a:pt x="0" y="652780"/>
                  </a:cubicBezTo>
                  <a:close/>
                </a:path>
              </a:pathLst>
            </a:custGeom>
            <a:solidFill>
              <a:srgbClr val="F7EDEA"/>
            </a:solidFill>
            <a:ln w="19050" cap="sq">
              <a:solidFill>
                <a:srgbClr val="953734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3909060" y="2811780"/>
            <a:ext cx="4251960" cy="960120"/>
            <a:chOff x="0" y="0"/>
            <a:chExt cx="5669280" cy="128016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669280" cy="1280160"/>
            </a:xfrm>
            <a:custGeom>
              <a:avLst/>
              <a:gdLst/>
              <a:ahLst/>
              <a:cxnLst/>
              <a:rect r="r" b="b" t="t" l="l"/>
              <a:pathLst>
                <a:path h="1280160" w="5669280">
                  <a:moveTo>
                    <a:pt x="0" y="0"/>
                  </a:moveTo>
                  <a:lnTo>
                    <a:pt x="5669280" y="0"/>
                  </a:lnTo>
                  <a:lnTo>
                    <a:pt x="566928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290" r="0" b="-3629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19050"/>
              <a:ext cx="5669280" cy="12992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2B2B2B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Register as Donor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3899535" y="4105275"/>
            <a:ext cx="4271010" cy="979170"/>
            <a:chOff x="0" y="0"/>
            <a:chExt cx="5694680" cy="130556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694680" cy="1305560"/>
            </a:xfrm>
            <a:custGeom>
              <a:avLst/>
              <a:gdLst/>
              <a:ahLst/>
              <a:cxnLst/>
              <a:rect r="r" b="b" t="t" l="l"/>
              <a:pathLst>
                <a:path h="1305560" w="5694680">
                  <a:moveTo>
                    <a:pt x="0" y="652780"/>
                  </a:moveTo>
                  <a:cubicBezTo>
                    <a:pt x="0" y="292227"/>
                    <a:pt x="1274826" y="0"/>
                    <a:pt x="2847340" y="0"/>
                  </a:cubicBezTo>
                  <a:cubicBezTo>
                    <a:pt x="4419854" y="0"/>
                    <a:pt x="5694680" y="292227"/>
                    <a:pt x="5694680" y="652780"/>
                  </a:cubicBezTo>
                  <a:cubicBezTo>
                    <a:pt x="5694680" y="1013333"/>
                    <a:pt x="4419854" y="1305560"/>
                    <a:pt x="2847340" y="1305560"/>
                  </a:cubicBezTo>
                  <a:cubicBezTo>
                    <a:pt x="1274826" y="1305560"/>
                    <a:pt x="0" y="1013333"/>
                    <a:pt x="0" y="652780"/>
                  </a:cubicBezTo>
                  <a:close/>
                </a:path>
              </a:pathLst>
            </a:custGeom>
            <a:solidFill>
              <a:srgbClr val="F7EDEA"/>
            </a:solidFill>
            <a:ln w="19050" cap="sq">
              <a:solidFill>
                <a:srgbClr val="953734"/>
              </a:solidFill>
              <a:prstDash val="solid"/>
              <a:miter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3909060" y="4114800"/>
            <a:ext cx="4251960" cy="960120"/>
            <a:chOff x="0" y="0"/>
            <a:chExt cx="5669280" cy="128016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5669280" cy="1280160"/>
            </a:xfrm>
            <a:custGeom>
              <a:avLst/>
              <a:gdLst/>
              <a:ahLst/>
              <a:cxnLst/>
              <a:rect r="r" b="b" t="t" l="l"/>
              <a:pathLst>
                <a:path h="1280160" w="5669280">
                  <a:moveTo>
                    <a:pt x="0" y="0"/>
                  </a:moveTo>
                  <a:lnTo>
                    <a:pt x="5669280" y="0"/>
                  </a:lnTo>
                  <a:lnTo>
                    <a:pt x="566928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290" r="0" b="-3629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19050"/>
              <a:ext cx="5669280" cy="12992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2B2B2B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Login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3899535" y="5408295"/>
            <a:ext cx="4271010" cy="979170"/>
            <a:chOff x="0" y="0"/>
            <a:chExt cx="5694680" cy="130556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694680" cy="1305560"/>
            </a:xfrm>
            <a:custGeom>
              <a:avLst/>
              <a:gdLst/>
              <a:ahLst/>
              <a:cxnLst/>
              <a:rect r="r" b="b" t="t" l="l"/>
              <a:pathLst>
                <a:path h="1305560" w="5694680">
                  <a:moveTo>
                    <a:pt x="0" y="652780"/>
                  </a:moveTo>
                  <a:cubicBezTo>
                    <a:pt x="0" y="292227"/>
                    <a:pt x="1274826" y="0"/>
                    <a:pt x="2847340" y="0"/>
                  </a:cubicBezTo>
                  <a:cubicBezTo>
                    <a:pt x="4419854" y="0"/>
                    <a:pt x="5694680" y="292227"/>
                    <a:pt x="5694680" y="652780"/>
                  </a:cubicBezTo>
                  <a:cubicBezTo>
                    <a:pt x="5694680" y="1013333"/>
                    <a:pt x="4419854" y="1305560"/>
                    <a:pt x="2847340" y="1305560"/>
                  </a:cubicBezTo>
                  <a:cubicBezTo>
                    <a:pt x="1274826" y="1305560"/>
                    <a:pt x="0" y="1013333"/>
                    <a:pt x="0" y="652780"/>
                  </a:cubicBezTo>
                  <a:close/>
                </a:path>
              </a:pathLst>
            </a:custGeom>
            <a:solidFill>
              <a:srgbClr val="F7EDEA"/>
            </a:solidFill>
            <a:ln w="19050" cap="sq">
              <a:solidFill>
                <a:srgbClr val="953734"/>
              </a:solidFill>
              <a:prstDash val="solid"/>
              <a:miter/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3909060" y="5417820"/>
            <a:ext cx="4251960" cy="960120"/>
            <a:chOff x="0" y="0"/>
            <a:chExt cx="5669280" cy="128016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5669280" cy="1280160"/>
            </a:xfrm>
            <a:custGeom>
              <a:avLst/>
              <a:gdLst/>
              <a:ahLst/>
              <a:cxnLst/>
              <a:rect r="r" b="b" t="t" l="l"/>
              <a:pathLst>
                <a:path h="1280160" w="5669280">
                  <a:moveTo>
                    <a:pt x="0" y="0"/>
                  </a:moveTo>
                  <a:lnTo>
                    <a:pt x="5669280" y="0"/>
                  </a:lnTo>
                  <a:lnTo>
                    <a:pt x="566928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290" r="0" b="-3629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19050"/>
              <a:ext cx="5669280" cy="12992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2B2B2B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Toggle Availability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3899535" y="6711315"/>
            <a:ext cx="4271010" cy="979170"/>
            <a:chOff x="0" y="0"/>
            <a:chExt cx="5694680" cy="130556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5694680" cy="1305560"/>
            </a:xfrm>
            <a:custGeom>
              <a:avLst/>
              <a:gdLst/>
              <a:ahLst/>
              <a:cxnLst/>
              <a:rect r="r" b="b" t="t" l="l"/>
              <a:pathLst>
                <a:path h="1305560" w="5694680">
                  <a:moveTo>
                    <a:pt x="0" y="652780"/>
                  </a:moveTo>
                  <a:cubicBezTo>
                    <a:pt x="0" y="292227"/>
                    <a:pt x="1274826" y="0"/>
                    <a:pt x="2847340" y="0"/>
                  </a:cubicBezTo>
                  <a:cubicBezTo>
                    <a:pt x="4419854" y="0"/>
                    <a:pt x="5694680" y="292227"/>
                    <a:pt x="5694680" y="652780"/>
                  </a:cubicBezTo>
                  <a:cubicBezTo>
                    <a:pt x="5694680" y="1013333"/>
                    <a:pt x="4419854" y="1305560"/>
                    <a:pt x="2847340" y="1305560"/>
                  </a:cubicBezTo>
                  <a:cubicBezTo>
                    <a:pt x="1274826" y="1305560"/>
                    <a:pt x="0" y="1013333"/>
                    <a:pt x="0" y="652780"/>
                  </a:cubicBezTo>
                  <a:close/>
                </a:path>
              </a:pathLst>
            </a:custGeom>
            <a:solidFill>
              <a:srgbClr val="F7EDEA"/>
            </a:solidFill>
            <a:ln w="19050" cap="sq">
              <a:solidFill>
                <a:srgbClr val="953734"/>
              </a:solidFill>
              <a:prstDash val="solid"/>
              <a:miter/>
            </a:ln>
          </p:spPr>
        </p:sp>
      </p:grpSp>
      <p:grpSp>
        <p:nvGrpSpPr>
          <p:cNvPr name="Group 33" id="33"/>
          <p:cNvGrpSpPr/>
          <p:nvPr/>
        </p:nvGrpSpPr>
        <p:grpSpPr>
          <a:xfrm rot="0">
            <a:off x="3909060" y="6720840"/>
            <a:ext cx="4251960" cy="960120"/>
            <a:chOff x="0" y="0"/>
            <a:chExt cx="5669280" cy="128016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5669280" cy="1280160"/>
            </a:xfrm>
            <a:custGeom>
              <a:avLst/>
              <a:gdLst/>
              <a:ahLst/>
              <a:cxnLst/>
              <a:rect r="r" b="b" t="t" l="l"/>
              <a:pathLst>
                <a:path h="1280160" w="5669280">
                  <a:moveTo>
                    <a:pt x="0" y="0"/>
                  </a:moveTo>
                  <a:lnTo>
                    <a:pt x="5669280" y="0"/>
                  </a:lnTo>
                  <a:lnTo>
                    <a:pt x="566928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290" r="0" b="-36290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19050"/>
              <a:ext cx="5669280" cy="12992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2B2B2B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View SOS Board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3899535" y="8014335"/>
            <a:ext cx="4271010" cy="979170"/>
            <a:chOff x="0" y="0"/>
            <a:chExt cx="5694680" cy="130556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5694680" cy="1305560"/>
            </a:xfrm>
            <a:custGeom>
              <a:avLst/>
              <a:gdLst/>
              <a:ahLst/>
              <a:cxnLst/>
              <a:rect r="r" b="b" t="t" l="l"/>
              <a:pathLst>
                <a:path h="1305560" w="5694680">
                  <a:moveTo>
                    <a:pt x="0" y="652780"/>
                  </a:moveTo>
                  <a:cubicBezTo>
                    <a:pt x="0" y="292227"/>
                    <a:pt x="1274826" y="0"/>
                    <a:pt x="2847340" y="0"/>
                  </a:cubicBezTo>
                  <a:cubicBezTo>
                    <a:pt x="4419854" y="0"/>
                    <a:pt x="5694680" y="292227"/>
                    <a:pt x="5694680" y="652780"/>
                  </a:cubicBezTo>
                  <a:cubicBezTo>
                    <a:pt x="5694680" y="1013333"/>
                    <a:pt x="4419854" y="1305560"/>
                    <a:pt x="2847340" y="1305560"/>
                  </a:cubicBezTo>
                  <a:cubicBezTo>
                    <a:pt x="1274826" y="1305560"/>
                    <a:pt x="0" y="1013333"/>
                    <a:pt x="0" y="652780"/>
                  </a:cubicBezTo>
                  <a:close/>
                </a:path>
              </a:pathLst>
            </a:custGeom>
            <a:solidFill>
              <a:srgbClr val="F7EDEA"/>
            </a:solidFill>
            <a:ln w="19050" cap="sq">
              <a:solidFill>
                <a:srgbClr val="953734"/>
              </a:solidFill>
              <a:prstDash val="solid"/>
              <a:miter/>
            </a:ln>
          </p:spPr>
        </p:sp>
      </p:grpSp>
      <p:grpSp>
        <p:nvGrpSpPr>
          <p:cNvPr name="Group 38" id="38"/>
          <p:cNvGrpSpPr/>
          <p:nvPr/>
        </p:nvGrpSpPr>
        <p:grpSpPr>
          <a:xfrm rot="0">
            <a:off x="3909060" y="8023860"/>
            <a:ext cx="4251960" cy="960120"/>
            <a:chOff x="0" y="0"/>
            <a:chExt cx="5669280" cy="128016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5669280" cy="1280160"/>
            </a:xfrm>
            <a:custGeom>
              <a:avLst/>
              <a:gdLst/>
              <a:ahLst/>
              <a:cxnLst/>
              <a:rect r="r" b="b" t="t" l="l"/>
              <a:pathLst>
                <a:path h="1280160" w="5669280">
                  <a:moveTo>
                    <a:pt x="0" y="0"/>
                  </a:moveTo>
                  <a:lnTo>
                    <a:pt x="5669280" y="0"/>
                  </a:lnTo>
                  <a:lnTo>
                    <a:pt x="566928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290" r="0" b="-3629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19050"/>
              <a:ext cx="5669280" cy="12992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2B2B2B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Search Donors by Group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8288655" y="3419475"/>
            <a:ext cx="4271010" cy="979170"/>
            <a:chOff x="0" y="0"/>
            <a:chExt cx="5694680" cy="130556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5694680" cy="1305560"/>
            </a:xfrm>
            <a:custGeom>
              <a:avLst/>
              <a:gdLst/>
              <a:ahLst/>
              <a:cxnLst/>
              <a:rect r="r" b="b" t="t" l="l"/>
              <a:pathLst>
                <a:path h="1305560" w="5694680">
                  <a:moveTo>
                    <a:pt x="0" y="652780"/>
                  </a:moveTo>
                  <a:cubicBezTo>
                    <a:pt x="0" y="292227"/>
                    <a:pt x="1274826" y="0"/>
                    <a:pt x="2847340" y="0"/>
                  </a:cubicBezTo>
                  <a:cubicBezTo>
                    <a:pt x="4419854" y="0"/>
                    <a:pt x="5694680" y="292227"/>
                    <a:pt x="5694680" y="652780"/>
                  </a:cubicBezTo>
                  <a:cubicBezTo>
                    <a:pt x="5694680" y="1013333"/>
                    <a:pt x="4419854" y="1305560"/>
                    <a:pt x="2847340" y="1305560"/>
                  </a:cubicBezTo>
                  <a:cubicBezTo>
                    <a:pt x="1274826" y="1305560"/>
                    <a:pt x="0" y="1013333"/>
                    <a:pt x="0" y="652780"/>
                  </a:cubicBezTo>
                  <a:close/>
                </a:path>
              </a:pathLst>
            </a:custGeom>
            <a:solidFill>
              <a:srgbClr val="F7EDEA"/>
            </a:solidFill>
            <a:ln w="19050" cap="sq">
              <a:solidFill>
                <a:srgbClr val="953734"/>
              </a:solidFill>
              <a:prstDash val="solid"/>
              <a:miter/>
            </a:ln>
          </p:spPr>
        </p:sp>
      </p:grpSp>
      <p:grpSp>
        <p:nvGrpSpPr>
          <p:cNvPr name="Group 43" id="43"/>
          <p:cNvGrpSpPr/>
          <p:nvPr/>
        </p:nvGrpSpPr>
        <p:grpSpPr>
          <a:xfrm rot="0">
            <a:off x="8298180" y="3429000"/>
            <a:ext cx="4251960" cy="960120"/>
            <a:chOff x="0" y="0"/>
            <a:chExt cx="5669280" cy="128016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5669280" cy="1280160"/>
            </a:xfrm>
            <a:custGeom>
              <a:avLst/>
              <a:gdLst/>
              <a:ahLst/>
              <a:cxnLst/>
              <a:rect r="r" b="b" t="t" l="l"/>
              <a:pathLst>
                <a:path h="1280160" w="5669280">
                  <a:moveTo>
                    <a:pt x="0" y="0"/>
                  </a:moveTo>
                  <a:lnTo>
                    <a:pt x="5669280" y="0"/>
                  </a:lnTo>
                  <a:lnTo>
                    <a:pt x="566928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290" r="0" b="-36290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19050"/>
              <a:ext cx="5669280" cy="12992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2B2B2B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Post SOS Request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8288655" y="4722495"/>
            <a:ext cx="4271010" cy="979170"/>
            <a:chOff x="0" y="0"/>
            <a:chExt cx="5694680" cy="130556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5694680" cy="1305560"/>
            </a:xfrm>
            <a:custGeom>
              <a:avLst/>
              <a:gdLst/>
              <a:ahLst/>
              <a:cxnLst/>
              <a:rect r="r" b="b" t="t" l="l"/>
              <a:pathLst>
                <a:path h="1305560" w="5694680">
                  <a:moveTo>
                    <a:pt x="0" y="652780"/>
                  </a:moveTo>
                  <a:cubicBezTo>
                    <a:pt x="0" y="292227"/>
                    <a:pt x="1274826" y="0"/>
                    <a:pt x="2847340" y="0"/>
                  </a:cubicBezTo>
                  <a:cubicBezTo>
                    <a:pt x="4419854" y="0"/>
                    <a:pt x="5694680" y="292227"/>
                    <a:pt x="5694680" y="652780"/>
                  </a:cubicBezTo>
                  <a:cubicBezTo>
                    <a:pt x="5694680" y="1013333"/>
                    <a:pt x="4419854" y="1305560"/>
                    <a:pt x="2847340" y="1305560"/>
                  </a:cubicBezTo>
                  <a:cubicBezTo>
                    <a:pt x="1274826" y="1305560"/>
                    <a:pt x="0" y="1013333"/>
                    <a:pt x="0" y="652780"/>
                  </a:cubicBezTo>
                  <a:close/>
                </a:path>
              </a:pathLst>
            </a:custGeom>
            <a:solidFill>
              <a:srgbClr val="F7EDEA"/>
            </a:solidFill>
            <a:ln w="19050" cap="sq">
              <a:solidFill>
                <a:srgbClr val="953734"/>
              </a:solidFill>
              <a:prstDash val="solid"/>
              <a:miter/>
            </a:ln>
          </p:spPr>
        </p:sp>
      </p:grpSp>
      <p:grpSp>
        <p:nvGrpSpPr>
          <p:cNvPr name="Group 48" id="48"/>
          <p:cNvGrpSpPr/>
          <p:nvPr/>
        </p:nvGrpSpPr>
        <p:grpSpPr>
          <a:xfrm rot="0">
            <a:off x="8298180" y="4732020"/>
            <a:ext cx="4251960" cy="960120"/>
            <a:chOff x="0" y="0"/>
            <a:chExt cx="5669280" cy="128016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5669280" cy="1280160"/>
            </a:xfrm>
            <a:custGeom>
              <a:avLst/>
              <a:gdLst/>
              <a:ahLst/>
              <a:cxnLst/>
              <a:rect r="r" b="b" t="t" l="l"/>
              <a:pathLst>
                <a:path h="1280160" w="5669280">
                  <a:moveTo>
                    <a:pt x="0" y="0"/>
                  </a:moveTo>
                  <a:lnTo>
                    <a:pt x="5669280" y="0"/>
                  </a:lnTo>
                  <a:lnTo>
                    <a:pt x="566928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290" r="0" b="-36290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19050"/>
              <a:ext cx="5669280" cy="12992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2B2B2B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Mark Request Fulfilled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8288655" y="6025515"/>
            <a:ext cx="4271010" cy="979170"/>
            <a:chOff x="0" y="0"/>
            <a:chExt cx="5694680" cy="130556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5694680" cy="1305560"/>
            </a:xfrm>
            <a:custGeom>
              <a:avLst/>
              <a:gdLst/>
              <a:ahLst/>
              <a:cxnLst/>
              <a:rect r="r" b="b" t="t" l="l"/>
              <a:pathLst>
                <a:path h="1305560" w="5694680">
                  <a:moveTo>
                    <a:pt x="0" y="652780"/>
                  </a:moveTo>
                  <a:cubicBezTo>
                    <a:pt x="0" y="292227"/>
                    <a:pt x="1274826" y="0"/>
                    <a:pt x="2847340" y="0"/>
                  </a:cubicBezTo>
                  <a:cubicBezTo>
                    <a:pt x="4419854" y="0"/>
                    <a:pt x="5694680" y="292227"/>
                    <a:pt x="5694680" y="652780"/>
                  </a:cubicBezTo>
                  <a:cubicBezTo>
                    <a:pt x="5694680" y="1013333"/>
                    <a:pt x="4419854" y="1305560"/>
                    <a:pt x="2847340" y="1305560"/>
                  </a:cubicBezTo>
                  <a:cubicBezTo>
                    <a:pt x="1274826" y="1305560"/>
                    <a:pt x="0" y="1013333"/>
                    <a:pt x="0" y="652780"/>
                  </a:cubicBezTo>
                  <a:close/>
                </a:path>
              </a:pathLst>
            </a:custGeom>
            <a:solidFill>
              <a:srgbClr val="F7EDEA"/>
            </a:solidFill>
            <a:ln w="19050" cap="sq">
              <a:solidFill>
                <a:srgbClr val="953734"/>
              </a:solidFill>
              <a:prstDash val="solid"/>
              <a:miter/>
            </a:ln>
          </p:spPr>
        </p:sp>
      </p:grpSp>
      <p:grpSp>
        <p:nvGrpSpPr>
          <p:cNvPr name="Group 53" id="53"/>
          <p:cNvGrpSpPr/>
          <p:nvPr/>
        </p:nvGrpSpPr>
        <p:grpSpPr>
          <a:xfrm rot="0">
            <a:off x="8298180" y="6035040"/>
            <a:ext cx="4251960" cy="960120"/>
            <a:chOff x="0" y="0"/>
            <a:chExt cx="5669280" cy="128016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5669280" cy="1280160"/>
            </a:xfrm>
            <a:custGeom>
              <a:avLst/>
              <a:gdLst/>
              <a:ahLst/>
              <a:cxnLst/>
              <a:rect r="r" b="b" t="t" l="l"/>
              <a:pathLst>
                <a:path h="1280160" w="5669280">
                  <a:moveTo>
                    <a:pt x="0" y="0"/>
                  </a:moveTo>
                  <a:lnTo>
                    <a:pt x="5669280" y="0"/>
                  </a:lnTo>
                  <a:lnTo>
                    <a:pt x="566928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290" r="0" b="-36290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19050"/>
              <a:ext cx="5669280" cy="12992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2B2B2B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One-Click Contact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8288655" y="7328535"/>
            <a:ext cx="4271010" cy="979170"/>
            <a:chOff x="0" y="0"/>
            <a:chExt cx="5694680" cy="130556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5694680" cy="1305560"/>
            </a:xfrm>
            <a:custGeom>
              <a:avLst/>
              <a:gdLst/>
              <a:ahLst/>
              <a:cxnLst/>
              <a:rect r="r" b="b" t="t" l="l"/>
              <a:pathLst>
                <a:path h="1305560" w="5694680">
                  <a:moveTo>
                    <a:pt x="0" y="652780"/>
                  </a:moveTo>
                  <a:cubicBezTo>
                    <a:pt x="0" y="292227"/>
                    <a:pt x="1274826" y="0"/>
                    <a:pt x="2847340" y="0"/>
                  </a:cubicBezTo>
                  <a:cubicBezTo>
                    <a:pt x="4419854" y="0"/>
                    <a:pt x="5694680" y="292227"/>
                    <a:pt x="5694680" y="652780"/>
                  </a:cubicBezTo>
                  <a:cubicBezTo>
                    <a:pt x="5694680" y="1013333"/>
                    <a:pt x="4419854" y="1305560"/>
                    <a:pt x="2847340" y="1305560"/>
                  </a:cubicBezTo>
                  <a:cubicBezTo>
                    <a:pt x="1274826" y="1305560"/>
                    <a:pt x="0" y="1013333"/>
                    <a:pt x="0" y="652780"/>
                  </a:cubicBezTo>
                  <a:close/>
                </a:path>
              </a:pathLst>
            </a:custGeom>
            <a:solidFill>
              <a:srgbClr val="F7EDEA"/>
            </a:solidFill>
            <a:ln w="19050" cap="sq">
              <a:solidFill>
                <a:srgbClr val="953734"/>
              </a:solidFill>
              <a:prstDash val="solid"/>
              <a:miter/>
            </a:ln>
          </p:spPr>
        </p:sp>
      </p:grpSp>
      <p:grpSp>
        <p:nvGrpSpPr>
          <p:cNvPr name="Group 58" id="58"/>
          <p:cNvGrpSpPr/>
          <p:nvPr/>
        </p:nvGrpSpPr>
        <p:grpSpPr>
          <a:xfrm rot="0">
            <a:off x="8298180" y="7338060"/>
            <a:ext cx="4251960" cy="960120"/>
            <a:chOff x="0" y="0"/>
            <a:chExt cx="5669280" cy="128016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5669280" cy="1280160"/>
            </a:xfrm>
            <a:custGeom>
              <a:avLst/>
              <a:gdLst/>
              <a:ahLst/>
              <a:cxnLst/>
              <a:rect r="r" b="b" t="t" l="l"/>
              <a:pathLst>
                <a:path h="1280160" w="5669280">
                  <a:moveTo>
                    <a:pt x="0" y="0"/>
                  </a:moveTo>
                  <a:lnTo>
                    <a:pt x="5669280" y="0"/>
                  </a:lnTo>
                  <a:lnTo>
                    <a:pt x="566928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290" r="0" b="-36290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19050"/>
              <a:ext cx="5669280" cy="12992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2B2B2B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Filter by Locality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1700212" y="4100512"/>
            <a:ext cx="440055" cy="440055"/>
            <a:chOff x="0" y="0"/>
            <a:chExt cx="586740" cy="58674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586740" cy="586740"/>
            </a:xfrm>
            <a:custGeom>
              <a:avLst/>
              <a:gdLst/>
              <a:ahLst/>
              <a:cxnLst/>
              <a:rect r="r" b="b" t="t" l="l"/>
              <a:pathLst>
                <a:path h="586740" w="586740">
                  <a:moveTo>
                    <a:pt x="0" y="293370"/>
                  </a:moveTo>
                  <a:cubicBezTo>
                    <a:pt x="0" y="131318"/>
                    <a:pt x="131318" y="0"/>
                    <a:pt x="293370" y="0"/>
                  </a:cubicBezTo>
                  <a:cubicBezTo>
                    <a:pt x="455422" y="0"/>
                    <a:pt x="586740" y="131318"/>
                    <a:pt x="586740" y="293370"/>
                  </a:cubicBezTo>
                  <a:cubicBezTo>
                    <a:pt x="586740" y="455422"/>
                    <a:pt x="455422" y="586740"/>
                    <a:pt x="293370" y="586740"/>
                  </a:cubicBezTo>
                  <a:cubicBezTo>
                    <a:pt x="131318" y="586740"/>
                    <a:pt x="0" y="455422"/>
                    <a:pt x="0" y="293370"/>
                  </a:cubicBez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953734"/>
              </a:solidFill>
              <a:prstDash val="solid"/>
              <a:miter/>
            </a:ln>
          </p:spPr>
        </p:sp>
      </p:grpSp>
      <p:sp>
        <p:nvSpPr>
          <p:cNvPr name="AutoShape 63" id="63"/>
          <p:cNvSpPr/>
          <p:nvPr/>
        </p:nvSpPr>
        <p:spPr>
          <a:xfrm rot="5307120">
            <a:off x="1567682" y="4864418"/>
            <a:ext cx="705107" cy="0"/>
          </a:xfrm>
          <a:prstGeom prst="line">
            <a:avLst/>
          </a:prstGeom>
          <a:ln cap="rnd" w="9525">
            <a:solidFill>
              <a:srgbClr val="4A4A4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4" id="64"/>
          <p:cNvSpPr/>
          <p:nvPr/>
        </p:nvSpPr>
        <p:spPr>
          <a:xfrm rot="47100">
            <a:off x="1224848" y="4727258"/>
            <a:ext cx="1390783" cy="0"/>
          </a:xfrm>
          <a:prstGeom prst="line">
            <a:avLst/>
          </a:prstGeom>
          <a:ln cap="rnd" w="9525">
            <a:solidFill>
              <a:srgbClr val="4A4A4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5" id="65"/>
          <p:cNvSpPr/>
          <p:nvPr/>
        </p:nvSpPr>
        <p:spPr>
          <a:xfrm rot="-3169440">
            <a:off x="1358255" y="5481638"/>
            <a:ext cx="712480" cy="0"/>
          </a:xfrm>
          <a:prstGeom prst="line">
            <a:avLst/>
          </a:prstGeom>
          <a:ln cap="rnd" w="9525">
            <a:solidFill>
              <a:srgbClr val="4A4A4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6" id="66"/>
          <p:cNvSpPr/>
          <p:nvPr/>
        </p:nvSpPr>
        <p:spPr>
          <a:xfrm rot="3169440">
            <a:off x="1769735" y="5481638"/>
            <a:ext cx="712480" cy="0"/>
          </a:xfrm>
          <a:prstGeom prst="line">
            <a:avLst/>
          </a:prstGeom>
          <a:ln cap="rnd" w="9525">
            <a:solidFill>
              <a:srgbClr val="4A4A4A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7" id="67"/>
          <p:cNvGrpSpPr/>
          <p:nvPr/>
        </p:nvGrpSpPr>
        <p:grpSpPr>
          <a:xfrm rot="0">
            <a:off x="548640" y="5829300"/>
            <a:ext cx="2743200" cy="754380"/>
            <a:chOff x="0" y="0"/>
            <a:chExt cx="3657600" cy="100584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3657600" cy="1005840"/>
            </a:xfrm>
            <a:custGeom>
              <a:avLst/>
              <a:gdLst/>
              <a:ahLst/>
              <a:cxnLst/>
              <a:rect r="r" b="b" t="t" l="l"/>
              <a:pathLst>
                <a:path h="100584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854" r="0" b="-20854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19050"/>
              <a:ext cx="3657600" cy="10248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2B2B2B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Donor</a:t>
              </a:r>
            </a:p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2B2B2B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(Volunteer)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16102012" y="3551872"/>
            <a:ext cx="440055" cy="440055"/>
            <a:chOff x="0" y="0"/>
            <a:chExt cx="586740" cy="58674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586740" cy="586740"/>
            </a:xfrm>
            <a:custGeom>
              <a:avLst/>
              <a:gdLst/>
              <a:ahLst/>
              <a:cxnLst/>
              <a:rect r="r" b="b" t="t" l="l"/>
              <a:pathLst>
                <a:path h="586740" w="586740">
                  <a:moveTo>
                    <a:pt x="0" y="293370"/>
                  </a:moveTo>
                  <a:cubicBezTo>
                    <a:pt x="0" y="131318"/>
                    <a:pt x="131318" y="0"/>
                    <a:pt x="293370" y="0"/>
                  </a:cubicBezTo>
                  <a:cubicBezTo>
                    <a:pt x="455422" y="0"/>
                    <a:pt x="586740" y="131318"/>
                    <a:pt x="586740" y="293370"/>
                  </a:cubicBezTo>
                  <a:cubicBezTo>
                    <a:pt x="586740" y="455422"/>
                    <a:pt x="455422" y="586740"/>
                    <a:pt x="293370" y="586740"/>
                  </a:cubicBezTo>
                  <a:cubicBezTo>
                    <a:pt x="131318" y="586740"/>
                    <a:pt x="0" y="455422"/>
                    <a:pt x="0" y="293370"/>
                  </a:cubicBez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953734"/>
              </a:solidFill>
              <a:prstDash val="solid"/>
              <a:miter/>
            </a:ln>
          </p:spPr>
        </p:sp>
      </p:grpSp>
      <p:sp>
        <p:nvSpPr>
          <p:cNvPr name="AutoShape 72" id="72"/>
          <p:cNvSpPr/>
          <p:nvPr/>
        </p:nvSpPr>
        <p:spPr>
          <a:xfrm rot="5307120">
            <a:off x="15969482" y="4315778"/>
            <a:ext cx="705107" cy="0"/>
          </a:xfrm>
          <a:prstGeom prst="line">
            <a:avLst/>
          </a:prstGeom>
          <a:ln cap="rnd" w="9525">
            <a:solidFill>
              <a:srgbClr val="4A4A4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3" id="73"/>
          <p:cNvSpPr/>
          <p:nvPr/>
        </p:nvSpPr>
        <p:spPr>
          <a:xfrm rot="47100">
            <a:off x="15626648" y="4178617"/>
            <a:ext cx="1390783" cy="0"/>
          </a:xfrm>
          <a:prstGeom prst="line">
            <a:avLst/>
          </a:prstGeom>
          <a:ln cap="rnd" w="9525">
            <a:solidFill>
              <a:srgbClr val="4A4A4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4" id="74"/>
          <p:cNvSpPr/>
          <p:nvPr/>
        </p:nvSpPr>
        <p:spPr>
          <a:xfrm rot="-3169440">
            <a:off x="15760055" y="4932997"/>
            <a:ext cx="712480" cy="0"/>
          </a:xfrm>
          <a:prstGeom prst="line">
            <a:avLst/>
          </a:prstGeom>
          <a:ln cap="rnd" w="9525">
            <a:solidFill>
              <a:srgbClr val="4A4A4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5" id="75"/>
          <p:cNvSpPr/>
          <p:nvPr/>
        </p:nvSpPr>
        <p:spPr>
          <a:xfrm rot="3169440">
            <a:off x="16171535" y="4932997"/>
            <a:ext cx="712480" cy="0"/>
          </a:xfrm>
          <a:prstGeom prst="line">
            <a:avLst/>
          </a:prstGeom>
          <a:ln cap="rnd" w="9525">
            <a:solidFill>
              <a:srgbClr val="4A4A4A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76" id="76"/>
          <p:cNvGrpSpPr/>
          <p:nvPr/>
        </p:nvGrpSpPr>
        <p:grpSpPr>
          <a:xfrm rot="0">
            <a:off x="14950440" y="5280660"/>
            <a:ext cx="2743200" cy="754380"/>
            <a:chOff x="0" y="0"/>
            <a:chExt cx="3657600" cy="1005840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3657600" cy="1005840"/>
            </a:xfrm>
            <a:custGeom>
              <a:avLst/>
              <a:gdLst/>
              <a:ahLst/>
              <a:cxnLst/>
              <a:rect r="r" b="b" t="t" l="l"/>
              <a:pathLst>
                <a:path h="100584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854" r="0" b="-20854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-19050"/>
              <a:ext cx="3657600" cy="10248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2B2B2B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Requester</a:t>
              </a:r>
            </a:p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2B2B2B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(Patient family)</a:t>
              </a:r>
            </a:p>
          </p:txBody>
        </p:sp>
      </p:grpSp>
      <p:sp>
        <p:nvSpPr>
          <p:cNvPr name="AutoShape 79" id="79"/>
          <p:cNvSpPr/>
          <p:nvPr/>
        </p:nvSpPr>
        <p:spPr>
          <a:xfrm rot="-2782740">
            <a:off x="2283962" y="4007167"/>
            <a:ext cx="2015757" cy="0"/>
          </a:xfrm>
          <a:prstGeom prst="line">
            <a:avLst/>
          </a:prstGeom>
          <a:ln cap="rnd" w="9525">
            <a:solidFill>
              <a:srgbClr val="4A4A4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0" id="80"/>
          <p:cNvSpPr/>
          <p:nvPr/>
        </p:nvSpPr>
        <p:spPr>
          <a:xfrm rot="-384540">
            <a:off x="2592143" y="4658678"/>
            <a:ext cx="1399394" cy="0"/>
          </a:xfrm>
          <a:prstGeom prst="line">
            <a:avLst/>
          </a:prstGeom>
          <a:ln cap="rnd" w="9525">
            <a:solidFill>
              <a:srgbClr val="4A4A4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1" id="81"/>
          <p:cNvSpPr/>
          <p:nvPr/>
        </p:nvSpPr>
        <p:spPr>
          <a:xfrm rot="2425980">
            <a:off x="2378345" y="5310188"/>
            <a:ext cx="1827000" cy="0"/>
          </a:xfrm>
          <a:prstGeom prst="line">
            <a:avLst/>
          </a:prstGeom>
          <a:ln cap="rnd" w="9525">
            <a:solidFill>
              <a:srgbClr val="4A4A4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2" id="82"/>
          <p:cNvSpPr/>
          <p:nvPr/>
        </p:nvSpPr>
        <p:spPr>
          <a:xfrm rot="3647820">
            <a:off x="1866738" y="5961697"/>
            <a:ext cx="2850213" cy="0"/>
          </a:xfrm>
          <a:prstGeom prst="line">
            <a:avLst/>
          </a:prstGeom>
          <a:ln cap="rnd" w="9525">
            <a:solidFill>
              <a:srgbClr val="4A4A4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3" id="83"/>
          <p:cNvSpPr/>
          <p:nvPr/>
        </p:nvSpPr>
        <p:spPr>
          <a:xfrm rot="4191300">
            <a:off x="1272854" y="6613207"/>
            <a:ext cx="4037971" cy="0"/>
          </a:xfrm>
          <a:prstGeom prst="line">
            <a:avLst/>
          </a:prstGeom>
          <a:ln cap="rnd" w="9525">
            <a:solidFill>
              <a:srgbClr val="4A4A4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4" id="84"/>
          <p:cNvSpPr/>
          <p:nvPr/>
        </p:nvSpPr>
        <p:spPr>
          <a:xfrm rot="316860">
            <a:off x="12465272" y="4041458"/>
            <a:ext cx="3187265" cy="0"/>
          </a:xfrm>
          <a:prstGeom prst="line">
            <a:avLst/>
          </a:prstGeom>
          <a:ln cap="rnd" w="9525">
            <a:solidFill>
              <a:srgbClr val="4A4A4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5" id="85"/>
          <p:cNvSpPr/>
          <p:nvPr/>
        </p:nvSpPr>
        <p:spPr>
          <a:xfrm rot="-1096200">
            <a:off x="12387796" y="4692968"/>
            <a:ext cx="3342208" cy="0"/>
          </a:xfrm>
          <a:prstGeom prst="line">
            <a:avLst/>
          </a:prstGeom>
          <a:ln cap="rnd" w="9525">
            <a:solidFill>
              <a:srgbClr val="4A4A4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6" id="86"/>
          <p:cNvSpPr/>
          <p:nvPr/>
        </p:nvSpPr>
        <p:spPr>
          <a:xfrm rot="-2191620">
            <a:off x="12084139" y="5344478"/>
            <a:ext cx="3949513" cy="0"/>
          </a:xfrm>
          <a:prstGeom prst="line">
            <a:avLst/>
          </a:prstGeom>
          <a:ln cap="rnd" w="9525">
            <a:solidFill>
              <a:srgbClr val="4A4A4A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7" id="87"/>
          <p:cNvGrpSpPr/>
          <p:nvPr/>
        </p:nvGrpSpPr>
        <p:grpSpPr>
          <a:xfrm rot="0">
            <a:off x="14257496" y="7673816"/>
            <a:ext cx="3306128" cy="1248727"/>
            <a:chOff x="0" y="0"/>
            <a:chExt cx="4408170" cy="1664970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4408170" cy="1664970"/>
            </a:xfrm>
            <a:custGeom>
              <a:avLst/>
              <a:gdLst/>
              <a:ahLst/>
              <a:cxnLst/>
              <a:rect r="r" b="b" t="t" l="l"/>
              <a:pathLst>
                <a:path h="1664970" w="4408170">
                  <a:moveTo>
                    <a:pt x="0" y="0"/>
                  </a:moveTo>
                  <a:lnTo>
                    <a:pt x="4408170" y="0"/>
                  </a:lnTo>
                  <a:lnTo>
                    <a:pt x="4408170" y="1664970"/>
                  </a:lnTo>
                  <a:lnTo>
                    <a:pt x="0" y="1664970"/>
                  </a:lnTo>
                  <a:close/>
                </a:path>
              </a:pathLst>
            </a:custGeom>
            <a:solidFill>
              <a:srgbClr val="028090"/>
            </a:solidFill>
            <a:ln w="14288" cap="sq">
              <a:solidFill>
                <a:srgbClr val="028090"/>
              </a:solidFill>
              <a:prstDash val="solid"/>
              <a:miter/>
            </a:ln>
          </p:spPr>
        </p:sp>
      </p:grpSp>
      <p:grpSp>
        <p:nvGrpSpPr>
          <p:cNvPr name="Group 89" id="89"/>
          <p:cNvGrpSpPr/>
          <p:nvPr/>
        </p:nvGrpSpPr>
        <p:grpSpPr>
          <a:xfrm rot="0">
            <a:off x="14333220" y="7680960"/>
            <a:ext cx="3154680" cy="1234440"/>
            <a:chOff x="0" y="0"/>
            <a:chExt cx="4206240" cy="1645920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4206240" cy="1645920"/>
            </a:xfrm>
            <a:custGeom>
              <a:avLst/>
              <a:gdLst/>
              <a:ahLst/>
              <a:cxnLst/>
              <a:rect r="r" b="b" t="t" l="l"/>
              <a:pathLst>
                <a:path h="1645920" w="4206240">
                  <a:moveTo>
                    <a:pt x="0" y="0"/>
                  </a:moveTo>
                  <a:lnTo>
                    <a:pt x="4206240" y="0"/>
                  </a:lnTo>
                  <a:lnTo>
                    <a:pt x="420624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05" t="0" r="-205" b="0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-19050"/>
              <a:ext cx="4206240" cy="16649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Phone App</a:t>
              </a:r>
            </a:p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(Call / WhatsApp)</a:t>
              </a:r>
            </a:p>
          </p:txBody>
        </p:sp>
      </p:grpSp>
      <p:grpSp>
        <p:nvGrpSpPr>
          <p:cNvPr name="Group 92" id="92"/>
          <p:cNvGrpSpPr/>
          <p:nvPr/>
        </p:nvGrpSpPr>
        <p:grpSpPr>
          <a:xfrm rot="0">
            <a:off x="14264640" y="8983980"/>
            <a:ext cx="3291840" cy="411480"/>
            <a:chOff x="0" y="0"/>
            <a:chExt cx="4389120" cy="548640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4389120" cy="548640"/>
            </a:xfrm>
            <a:custGeom>
              <a:avLst/>
              <a:gdLst/>
              <a:ahLst/>
              <a:cxnLst/>
              <a:rect r="r" b="b" t="t" l="l"/>
              <a:pathLst>
                <a:path h="54864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5880" r="0" b="-105880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-19050"/>
              <a:ext cx="438912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i="true">
                  <a:solidFill>
                    <a:srgbClr val="4A4A4A"/>
                  </a:solidFill>
                  <a:latin typeface="Times New Roman Italics"/>
                  <a:ea typeface="Times New Roman Italics"/>
                  <a:cs typeface="Times New Roman Italics"/>
                  <a:sym typeface="Times New Roman Italics"/>
                </a:rPr>
                <a:t>«secondary actor»</a:t>
              </a:r>
            </a:p>
          </p:txBody>
        </p:sp>
      </p:grpSp>
      <p:sp>
        <p:nvSpPr>
          <p:cNvPr name="AutoShape 95" id="95"/>
          <p:cNvSpPr/>
          <p:nvPr/>
        </p:nvSpPr>
        <p:spPr>
          <a:xfrm rot="1270440">
            <a:off x="12112619" y="7230428"/>
            <a:ext cx="2520972" cy="0"/>
          </a:xfrm>
          <a:prstGeom prst="line">
            <a:avLst/>
          </a:prstGeom>
          <a:ln cap="rnd" w="9525">
            <a:solidFill>
              <a:srgbClr val="4A4A4A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96" id="96"/>
          <p:cNvGrpSpPr/>
          <p:nvPr/>
        </p:nvGrpSpPr>
        <p:grpSpPr>
          <a:xfrm rot="0">
            <a:off x="685800" y="9532620"/>
            <a:ext cx="16870680" cy="480060"/>
            <a:chOff x="0" y="0"/>
            <a:chExt cx="22494240" cy="640080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22494239" cy="640080"/>
            </a:xfrm>
            <a:custGeom>
              <a:avLst/>
              <a:gdLst/>
              <a:ahLst/>
              <a:cxnLst/>
              <a:rect r="r" b="b" t="t" l="l"/>
              <a:pathLst>
                <a:path h="640080" w="22494239">
                  <a:moveTo>
                    <a:pt x="0" y="0"/>
                  </a:moveTo>
                  <a:lnTo>
                    <a:pt x="22494239" y="0"/>
                  </a:lnTo>
                  <a:lnTo>
                    <a:pt x="22494239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34759" r="0" b="-634759"/>
              </a:stretch>
            </a:blipFill>
          </p:spPr>
        </p:sp>
        <p:sp>
          <p:nvSpPr>
            <p:cNvPr name="TextBox 98" id="98"/>
            <p:cNvSpPr txBox="true"/>
            <p:nvPr/>
          </p:nvSpPr>
          <p:spPr>
            <a:xfrm>
              <a:off x="0" y="-19050"/>
              <a:ext cx="22494240" cy="6591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i="true">
                  <a:solidFill>
                    <a:srgbClr val="028090"/>
                  </a:solidFill>
                  <a:latin typeface="Times New Roman Italics"/>
                  <a:ea typeface="Times New Roman Italics"/>
                  <a:cs typeface="Times New Roman Italics"/>
                  <a:sym typeface="Times New Roman Italics"/>
                </a:rPr>
                <a:t>Donors manage their profile and status; requesters raise SOS alerts and contact matching donors.</a:t>
              </a:r>
            </a:p>
          </p:txBody>
        </p:sp>
      </p:grp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7144" y="102584"/>
            <a:ext cx="18301830" cy="864680"/>
            <a:chOff x="0" y="0"/>
            <a:chExt cx="24402440" cy="115290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152906"/>
            </a:xfrm>
            <a:custGeom>
              <a:avLst/>
              <a:gdLst/>
              <a:ahLst/>
              <a:cxnLst/>
              <a:rect r="r" b="b" t="t" l="l"/>
              <a:pathLst>
                <a:path h="1152906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152906"/>
                  </a:lnTo>
                  <a:lnTo>
                    <a:pt x="0" y="1152906"/>
                  </a:lnTo>
                  <a:close/>
                </a:path>
              </a:pathLst>
            </a:custGeom>
            <a:solidFill>
              <a:srgbClr val="953734"/>
            </a:solidFill>
            <a:ln w="14288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411480" y="109728"/>
            <a:ext cx="17464583" cy="850392"/>
            <a:chOff x="0" y="0"/>
            <a:chExt cx="23286110" cy="113385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3286110" cy="1133856"/>
            </a:xfrm>
            <a:custGeom>
              <a:avLst/>
              <a:gdLst/>
              <a:ahLst/>
              <a:cxnLst/>
              <a:rect r="r" b="b" t="t" l="l"/>
              <a:pathLst>
                <a:path h="1133856" w="23286110">
                  <a:moveTo>
                    <a:pt x="0" y="0"/>
                  </a:moveTo>
                  <a:lnTo>
                    <a:pt x="23286110" y="0"/>
                  </a:lnTo>
                  <a:lnTo>
                    <a:pt x="2328611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0166" r="0" b="-35016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23286110" cy="11529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60"/>
                </a:lnSpc>
              </a:pPr>
              <a:r>
                <a:rPr lang="en-US" sz="3300" b="true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ER Diagram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7323308" y="9738360"/>
            <a:ext cx="685800" cy="411480"/>
            <a:chOff x="0" y="0"/>
            <a:chExt cx="914400" cy="5486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91440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99999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18</a:t>
              </a: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685800" y="1146810"/>
            <a:ext cx="16870680" cy="773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2B2B2B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The ER diagram models the four core entities. Each locality has many donors and many SOS requests; contacts link donors to requests.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6985635" y="2047875"/>
            <a:ext cx="4271010" cy="567690"/>
            <a:chOff x="0" y="0"/>
            <a:chExt cx="5694680" cy="75692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694680" cy="756920"/>
            </a:xfrm>
            <a:custGeom>
              <a:avLst/>
              <a:gdLst/>
              <a:ahLst/>
              <a:cxnLst/>
              <a:rect r="r" b="b" t="t" l="l"/>
              <a:pathLst>
                <a:path h="756920" w="5694680">
                  <a:moveTo>
                    <a:pt x="0" y="0"/>
                  </a:moveTo>
                  <a:lnTo>
                    <a:pt x="5694680" y="0"/>
                  </a:lnTo>
                  <a:lnTo>
                    <a:pt x="5694680" y="756920"/>
                  </a:lnTo>
                  <a:lnTo>
                    <a:pt x="0" y="756920"/>
                  </a:lnTo>
                  <a:close/>
                </a:path>
              </a:pathLst>
            </a:custGeom>
            <a:solidFill>
              <a:srgbClr val="028090"/>
            </a:solidFill>
            <a:ln w="19050" cap="sq">
              <a:solidFill>
                <a:srgbClr val="028090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6995160" y="2057400"/>
            <a:ext cx="4251960" cy="548640"/>
            <a:chOff x="0" y="0"/>
            <a:chExt cx="5669280" cy="73152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669280" cy="731520"/>
            </a:xfrm>
            <a:custGeom>
              <a:avLst/>
              <a:gdLst/>
              <a:ahLst/>
              <a:cxnLst/>
              <a:rect r="r" b="b" t="t" l="l"/>
              <a:pathLst>
                <a:path h="731520" w="5669280">
                  <a:moveTo>
                    <a:pt x="0" y="0"/>
                  </a:moveTo>
                  <a:lnTo>
                    <a:pt x="5669280" y="0"/>
                  </a:lnTo>
                  <a:lnTo>
                    <a:pt x="56692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009" r="0" b="-101009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19050"/>
              <a:ext cx="566928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LOCALITY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6988016" y="2598896"/>
            <a:ext cx="4266247" cy="1865948"/>
            <a:chOff x="0" y="0"/>
            <a:chExt cx="5688330" cy="248793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688330" cy="2487930"/>
            </a:xfrm>
            <a:custGeom>
              <a:avLst/>
              <a:gdLst/>
              <a:ahLst/>
              <a:cxnLst/>
              <a:rect r="r" b="b" t="t" l="l"/>
              <a:pathLst>
                <a:path h="2487930" w="5688330">
                  <a:moveTo>
                    <a:pt x="0" y="0"/>
                  </a:moveTo>
                  <a:lnTo>
                    <a:pt x="5688330" y="0"/>
                  </a:lnTo>
                  <a:lnTo>
                    <a:pt x="5688330" y="2487930"/>
                  </a:lnTo>
                  <a:lnTo>
                    <a:pt x="0" y="2487930"/>
                  </a:ln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3CFC9"/>
              </a:solidFill>
              <a:prstDash val="solid"/>
              <a:miter/>
            </a:ln>
          </p:spPr>
        </p:sp>
      </p:grpSp>
      <p:sp>
        <p:nvSpPr>
          <p:cNvPr name="TextBox 18" id="18"/>
          <p:cNvSpPr txBox="true"/>
          <p:nvPr/>
        </p:nvSpPr>
        <p:spPr>
          <a:xfrm rot="0">
            <a:off x="7200900" y="2683002"/>
            <a:ext cx="3840480" cy="1664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 b="true">
                <a:solidFill>
                  <a:srgbClr val="2B2B2B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locality_id</a:t>
            </a:r>
          </a:p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2B2B2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name</a:t>
            </a:r>
          </a:p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2B2B2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city</a:t>
            </a:r>
          </a:p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2B2B2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pincode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676275" y="4516755"/>
            <a:ext cx="4956810" cy="567690"/>
            <a:chOff x="0" y="0"/>
            <a:chExt cx="6609080" cy="75692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609080" cy="756920"/>
            </a:xfrm>
            <a:custGeom>
              <a:avLst/>
              <a:gdLst/>
              <a:ahLst/>
              <a:cxnLst/>
              <a:rect r="r" b="b" t="t" l="l"/>
              <a:pathLst>
                <a:path h="756920" w="6609080">
                  <a:moveTo>
                    <a:pt x="0" y="0"/>
                  </a:moveTo>
                  <a:lnTo>
                    <a:pt x="6609080" y="0"/>
                  </a:lnTo>
                  <a:lnTo>
                    <a:pt x="6609080" y="756920"/>
                  </a:lnTo>
                  <a:lnTo>
                    <a:pt x="0" y="756920"/>
                  </a:lnTo>
                  <a:close/>
                </a:path>
              </a:pathLst>
            </a:custGeom>
            <a:solidFill>
              <a:srgbClr val="953734"/>
            </a:solidFill>
            <a:ln w="19050" cap="sq">
              <a:solidFill>
                <a:srgbClr val="953734"/>
              </a:solidFill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685800" y="4526280"/>
            <a:ext cx="4937760" cy="548640"/>
            <a:chOff x="0" y="0"/>
            <a:chExt cx="6583680" cy="73152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583680" cy="731520"/>
            </a:xfrm>
            <a:custGeom>
              <a:avLst/>
              <a:gdLst/>
              <a:ahLst/>
              <a:cxnLst/>
              <a:rect r="r" b="b" t="t" l="l"/>
              <a:pathLst>
                <a:path h="73152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5365" r="0" b="-125365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19050"/>
              <a:ext cx="658368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DONOR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678656" y="5067776"/>
            <a:ext cx="4952047" cy="3100388"/>
            <a:chOff x="0" y="0"/>
            <a:chExt cx="6602730" cy="413385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602730" cy="4133850"/>
            </a:xfrm>
            <a:custGeom>
              <a:avLst/>
              <a:gdLst/>
              <a:ahLst/>
              <a:cxnLst/>
              <a:rect r="r" b="b" t="t" l="l"/>
              <a:pathLst>
                <a:path h="4133850" w="6602730">
                  <a:moveTo>
                    <a:pt x="0" y="0"/>
                  </a:moveTo>
                  <a:lnTo>
                    <a:pt x="6602730" y="0"/>
                  </a:lnTo>
                  <a:lnTo>
                    <a:pt x="6602730" y="4133850"/>
                  </a:lnTo>
                  <a:lnTo>
                    <a:pt x="0" y="4133850"/>
                  </a:ln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3CFC9"/>
              </a:solidFill>
              <a:prstDash val="solid"/>
              <a:miter/>
            </a:ln>
          </p:spPr>
        </p:sp>
      </p:grpSp>
      <p:sp>
        <p:nvSpPr>
          <p:cNvPr name="TextBox 26" id="26"/>
          <p:cNvSpPr txBox="true"/>
          <p:nvPr/>
        </p:nvSpPr>
        <p:spPr>
          <a:xfrm rot="0">
            <a:off x="891540" y="5151882"/>
            <a:ext cx="4526280" cy="2899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 b="true">
                <a:solidFill>
                  <a:srgbClr val="2B2B2B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donor_id</a:t>
            </a:r>
          </a:p>
          <a:p>
            <a:pPr algn="l">
              <a:lnSpc>
                <a:spcPts val="1980"/>
              </a:lnSpc>
            </a:pPr>
            <a:r>
              <a:rPr lang="en-US" sz="1650" i="true">
                <a:solidFill>
                  <a:srgbClr val="2B2B2B"/>
                </a:solidFill>
                <a:latin typeface="Times New Roman Italics"/>
                <a:ea typeface="Times New Roman Italics"/>
                <a:cs typeface="Times New Roman Italics"/>
                <a:sym typeface="Times New Roman Italics"/>
              </a:rPr>
              <a:t>locality_id</a:t>
            </a:r>
          </a:p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2B2B2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name</a:t>
            </a:r>
          </a:p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2B2B2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blood_group</a:t>
            </a:r>
          </a:p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2B2B2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phone</a:t>
            </a:r>
          </a:p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2B2B2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is_available</a:t>
            </a:r>
          </a:p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2B2B2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registered_at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12609195" y="4516755"/>
            <a:ext cx="4956810" cy="567690"/>
            <a:chOff x="0" y="0"/>
            <a:chExt cx="6609080" cy="75692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6609080" cy="756920"/>
            </a:xfrm>
            <a:custGeom>
              <a:avLst/>
              <a:gdLst/>
              <a:ahLst/>
              <a:cxnLst/>
              <a:rect r="r" b="b" t="t" l="l"/>
              <a:pathLst>
                <a:path h="756920" w="6609080">
                  <a:moveTo>
                    <a:pt x="0" y="0"/>
                  </a:moveTo>
                  <a:lnTo>
                    <a:pt x="6609080" y="0"/>
                  </a:lnTo>
                  <a:lnTo>
                    <a:pt x="6609080" y="756920"/>
                  </a:lnTo>
                  <a:lnTo>
                    <a:pt x="0" y="756920"/>
                  </a:lnTo>
                  <a:close/>
                </a:path>
              </a:pathLst>
            </a:custGeom>
            <a:solidFill>
              <a:srgbClr val="6E2723"/>
            </a:solidFill>
            <a:ln w="19050" cap="sq">
              <a:solidFill>
                <a:srgbClr val="6E2723"/>
              </a:solidFill>
              <a:prstDash val="solid"/>
              <a:miter/>
            </a:ln>
          </p:spPr>
        </p:sp>
      </p:grpSp>
      <p:grpSp>
        <p:nvGrpSpPr>
          <p:cNvPr name="Group 29" id="29"/>
          <p:cNvGrpSpPr/>
          <p:nvPr/>
        </p:nvGrpSpPr>
        <p:grpSpPr>
          <a:xfrm rot="0">
            <a:off x="12618720" y="4526280"/>
            <a:ext cx="4937760" cy="548640"/>
            <a:chOff x="0" y="0"/>
            <a:chExt cx="6583680" cy="73152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6583680" cy="731520"/>
            </a:xfrm>
            <a:custGeom>
              <a:avLst/>
              <a:gdLst/>
              <a:ahLst/>
              <a:cxnLst/>
              <a:rect r="r" b="b" t="t" l="l"/>
              <a:pathLst>
                <a:path h="73152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5365" r="0" b="-125365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19050"/>
              <a:ext cx="658368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SOS_REQUEST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2611576" y="5067776"/>
            <a:ext cx="4952047" cy="3100388"/>
            <a:chOff x="0" y="0"/>
            <a:chExt cx="6602730" cy="413385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6602730" cy="4133850"/>
            </a:xfrm>
            <a:custGeom>
              <a:avLst/>
              <a:gdLst/>
              <a:ahLst/>
              <a:cxnLst/>
              <a:rect r="r" b="b" t="t" l="l"/>
              <a:pathLst>
                <a:path h="4133850" w="6602730">
                  <a:moveTo>
                    <a:pt x="0" y="0"/>
                  </a:moveTo>
                  <a:lnTo>
                    <a:pt x="6602730" y="0"/>
                  </a:lnTo>
                  <a:lnTo>
                    <a:pt x="6602730" y="4133850"/>
                  </a:lnTo>
                  <a:lnTo>
                    <a:pt x="0" y="4133850"/>
                  </a:ln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3CFC9"/>
              </a:solidFill>
              <a:prstDash val="solid"/>
              <a:miter/>
            </a:ln>
          </p:spPr>
        </p:sp>
      </p:grpSp>
      <p:sp>
        <p:nvSpPr>
          <p:cNvPr name="TextBox 34" id="34"/>
          <p:cNvSpPr txBox="true"/>
          <p:nvPr/>
        </p:nvSpPr>
        <p:spPr>
          <a:xfrm rot="0">
            <a:off x="12824460" y="5151882"/>
            <a:ext cx="4526280" cy="2899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 b="true">
                <a:solidFill>
                  <a:srgbClr val="2B2B2B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sos_id</a:t>
            </a:r>
          </a:p>
          <a:p>
            <a:pPr algn="l">
              <a:lnSpc>
                <a:spcPts val="1980"/>
              </a:lnSpc>
            </a:pPr>
            <a:r>
              <a:rPr lang="en-US" sz="1650" i="true">
                <a:solidFill>
                  <a:srgbClr val="2B2B2B"/>
                </a:solidFill>
                <a:latin typeface="Times New Roman Italics"/>
                <a:ea typeface="Times New Roman Italics"/>
                <a:cs typeface="Times New Roman Italics"/>
                <a:sym typeface="Times New Roman Italics"/>
              </a:rPr>
              <a:t>locality_id</a:t>
            </a:r>
          </a:p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2B2B2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blood_group</a:t>
            </a:r>
          </a:p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2B2B2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units</a:t>
            </a:r>
          </a:p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2B2B2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hospital</a:t>
            </a:r>
          </a:p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2B2B2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urgency</a:t>
            </a:r>
          </a:p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2B2B2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status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6985635" y="6642735"/>
            <a:ext cx="4271010" cy="567690"/>
            <a:chOff x="0" y="0"/>
            <a:chExt cx="5694680" cy="75692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5694680" cy="756920"/>
            </a:xfrm>
            <a:custGeom>
              <a:avLst/>
              <a:gdLst/>
              <a:ahLst/>
              <a:cxnLst/>
              <a:rect r="r" b="b" t="t" l="l"/>
              <a:pathLst>
                <a:path h="756920" w="5694680">
                  <a:moveTo>
                    <a:pt x="0" y="0"/>
                  </a:moveTo>
                  <a:lnTo>
                    <a:pt x="5694680" y="0"/>
                  </a:lnTo>
                  <a:lnTo>
                    <a:pt x="5694680" y="756920"/>
                  </a:lnTo>
                  <a:lnTo>
                    <a:pt x="0" y="756920"/>
                  </a:lnTo>
                  <a:close/>
                </a:path>
              </a:pathLst>
            </a:custGeom>
            <a:solidFill>
              <a:srgbClr val="C98A2C"/>
            </a:solidFill>
            <a:ln w="19050" cap="sq">
              <a:solidFill>
                <a:srgbClr val="C98A2C"/>
              </a:solidFill>
              <a:prstDash val="solid"/>
              <a:miter/>
            </a:ln>
          </p:spPr>
        </p:sp>
      </p:grpSp>
      <p:grpSp>
        <p:nvGrpSpPr>
          <p:cNvPr name="Group 37" id="37"/>
          <p:cNvGrpSpPr/>
          <p:nvPr/>
        </p:nvGrpSpPr>
        <p:grpSpPr>
          <a:xfrm rot="0">
            <a:off x="6995160" y="6652260"/>
            <a:ext cx="4251960" cy="548640"/>
            <a:chOff x="0" y="0"/>
            <a:chExt cx="5669280" cy="73152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5669280" cy="731520"/>
            </a:xfrm>
            <a:custGeom>
              <a:avLst/>
              <a:gdLst/>
              <a:ahLst/>
              <a:cxnLst/>
              <a:rect r="r" b="b" t="t" l="l"/>
              <a:pathLst>
                <a:path h="731520" w="5669280">
                  <a:moveTo>
                    <a:pt x="0" y="0"/>
                  </a:moveTo>
                  <a:lnTo>
                    <a:pt x="5669280" y="0"/>
                  </a:lnTo>
                  <a:lnTo>
                    <a:pt x="56692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009" r="0" b="-101009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19050"/>
              <a:ext cx="566928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CONTACT_LOG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6988016" y="7193756"/>
            <a:ext cx="4266247" cy="1865948"/>
            <a:chOff x="0" y="0"/>
            <a:chExt cx="5688330" cy="248793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5688330" cy="2487930"/>
            </a:xfrm>
            <a:custGeom>
              <a:avLst/>
              <a:gdLst/>
              <a:ahLst/>
              <a:cxnLst/>
              <a:rect r="r" b="b" t="t" l="l"/>
              <a:pathLst>
                <a:path h="2487930" w="5688330">
                  <a:moveTo>
                    <a:pt x="0" y="0"/>
                  </a:moveTo>
                  <a:lnTo>
                    <a:pt x="5688330" y="0"/>
                  </a:lnTo>
                  <a:lnTo>
                    <a:pt x="5688330" y="2487930"/>
                  </a:lnTo>
                  <a:lnTo>
                    <a:pt x="0" y="2487930"/>
                  </a:ln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3CFC9"/>
              </a:solidFill>
              <a:prstDash val="solid"/>
              <a:miter/>
            </a:ln>
          </p:spPr>
        </p:sp>
      </p:grpSp>
      <p:sp>
        <p:nvSpPr>
          <p:cNvPr name="TextBox 42" id="42"/>
          <p:cNvSpPr txBox="true"/>
          <p:nvPr/>
        </p:nvSpPr>
        <p:spPr>
          <a:xfrm rot="0">
            <a:off x="7200900" y="7277862"/>
            <a:ext cx="3840480" cy="1664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 b="true">
                <a:solidFill>
                  <a:srgbClr val="2B2B2B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log_id</a:t>
            </a:r>
          </a:p>
          <a:p>
            <a:pPr algn="l">
              <a:lnSpc>
                <a:spcPts val="1980"/>
              </a:lnSpc>
            </a:pPr>
            <a:r>
              <a:rPr lang="en-US" sz="1650" i="true">
                <a:solidFill>
                  <a:srgbClr val="2B2B2B"/>
                </a:solidFill>
                <a:latin typeface="Times New Roman Italics"/>
                <a:ea typeface="Times New Roman Italics"/>
                <a:cs typeface="Times New Roman Italics"/>
                <a:sym typeface="Times New Roman Italics"/>
              </a:rPr>
              <a:t>sos_id</a:t>
            </a:r>
          </a:p>
          <a:p>
            <a:pPr algn="l">
              <a:lnSpc>
                <a:spcPts val="1980"/>
              </a:lnSpc>
            </a:pPr>
            <a:r>
              <a:rPr lang="en-US" sz="1650" i="true">
                <a:solidFill>
                  <a:srgbClr val="2B2B2B"/>
                </a:solidFill>
                <a:latin typeface="Times New Roman Italics"/>
                <a:ea typeface="Times New Roman Italics"/>
                <a:cs typeface="Times New Roman Italics"/>
                <a:sym typeface="Times New Roman Italics"/>
              </a:rPr>
              <a:t>donor_id</a:t>
            </a:r>
          </a:p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2B2B2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channel</a:t>
            </a:r>
          </a:p>
        </p:txBody>
      </p:sp>
      <p:sp>
        <p:nvSpPr>
          <p:cNvPr name="AutoShape 43" id="43"/>
          <p:cNvSpPr/>
          <p:nvPr/>
        </p:nvSpPr>
        <p:spPr>
          <a:xfrm rot="-1191300">
            <a:off x="3020663" y="3835717"/>
            <a:ext cx="4108523" cy="0"/>
          </a:xfrm>
          <a:prstGeom prst="line">
            <a:avLst/>
          </a:prstGeom>
          <a:ln cap="rnd" w="9525">
            <a:solidFill>
              <a:srgbClr val="4A4A4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4" id="44"/>
          <p:cNvSpPr/>
          <p:nvPr/>
        </p:nvSpPr>
        <p:spPr>
          <a:xfrm rot="1191300">
            <a:off x="11113103" y="3835717"/>
            <a:ext cx="4108523" cy="0"/>
          </a:xfrm>
          <a:prstGeom prst="line">
            <a:avLst/>
          </a:prstGeom>
          <a:ln cap="rnd" w="9525">
            <a:solidFill>
              <a:srgbClr val="4A4A4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5" id="45"/>
          <p:cNvSpPr/>
          <p:nvPr/>
        </p:nvSpPr>
        <p:spPr>
          <a:xfrm rot="2326740">
            <a:off x="5414372" y="6716078"/>
            <a:ext cx="1789976" cy="0"/>
          </a:xfrm>
          <a:prstGeom prst="line">
            <a:avLst/>
          </a:prstGeom>
          <a:ln cap="rnd" w="9525">
            <a:solidFill>
              <a:srgbClr val="4A4A4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6" id="46"/>
          <p:cNvSpPr/>
          <p:nvPr/>
        </p:nvSpPr>
        <p:spPr>
          <a:xfrm rot="-2326740">
            <a:off x="11037932" y="6716078"/>
            <a:ext cx="1789976" cy="0"/>
          </a:xfrm>
          <a:prstGeom prst="line">
            <a:avLst/>
          </a:prstGeom>
          <a:ln cap="rnd" w="9525">
            <a:solidFill>
              <a:srgbClr val="4A4A4A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7" id="47"/>
          <p:cNvGrpSpPr/>
          <p:nvPr/>
        </p:nvGrpSpPr>
        <p:grpSpPr>
          <a:xfrm rot="0">
            <a:off x="4389120" y="3429000"/>
            <a:ext cx="960120" cy="411480"/>
            <a:chOff x="0" y="0"/>
            <a:chExt cx="1280160" cy="54864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280160" cy="548640"/>
            </a:xfrm>
            <a:custGeom>
              <a:avLst/>
              <a:gdLst/>
              <a:ahLst/>
              <a:cxnLst/>
              <a:rect r="r" b="b" t="t" l="l"/>
              <a:pathLst>
                <a:path h="548640" w="1280160">
                  <a:moveTo>
                    <a:pt x="0" y="0"/>
                  </a:moveTo>
                  <a:lnTo>
                    <a:pt x="1280160" y="0"/>
                  </a:lnTo>
                  <a:lnTo>
                    <a:pt x="128016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987" t="0" r="-4987" b="0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19050"/>
              <a:ext cx="128016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953734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1 : N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2893040" y="3429000"/>
            <a:ext cx="960120" cy="411480"/>
            <a:chOff x="0" y="0"/>
            <a:chExt cx="1280160" cy="54864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280160" cy="548640"/>
            </a:xfrm>
            <a:custGeom>
              <a:avLst/>
              <a:gdLst/>
              <a:ahLst/>
              <a:cxnLst/>
              <a:rect r="r" b="b" t="t" l="l"/>
              <a:pathLst>
                <a:path h="548640" w="1280160">
                  <a:moveTo>
                    <a:pt x="0" y="0"/>
                  </a:moveTo>
                  <a:lnTo>
                    <a:pt x="1280160" y="0"/>
                  </a:lnTo>
                  <a:lnTo>
                    <a:pt x="128016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987" t="0" r="-4987" b="0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19050"/>
              <a:ext cx="128016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953734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1 : N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5623560" y="6789420"/>
            <a:ext cx="960120" cy="411480"/>
            <a:chOff x="0" y="0"/>
            <a:chExt cx="1280160" cy="54864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280160" cy="548640"/>
            </a:xfrm>
            <a:custGeom>
              <a:avLst/>
              <a:gdLst/>
              <a:ahLst/>
              <a:cxnLst/>
              <a:rect r="r" b="b" t="t" l="l"/>
              <a:pathLst>
                <a:path h="548640" w="1280160">
                  <a:moveTo>
                    <a:pt x="0" y="0"/>
                  </a:moveTo>
                  <a:lnTo>
                    <a:pt x="1280160" y="0"/>
                  </a:lnTo>
                  <a:lnTo>
                    <a:pt x="128016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987" t="0" r="-4987" b="0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19050"/>
              <a:ext cx="128016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953734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1 : N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1658600" y="6789420"/>
            <a:ext cx="960120" cy="411480"/>
            <a:chOff x="0" y="0"/>
            <a:chExt cx="1280160" cy="54864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280160" cy="548640"/>
            </a:xfrm>
            <a:custGeom>
              <a:avLst/>
              <a:gdLst/>
              <a:ahLst/>
              <a:cxnLst/>
              <a:rect r="r" b="b" t="t" l="l"/>
              <a:pathLst>
                <a:path h="548640" w="1280160">
                  <a:moveTo>
                    <a:pt x="0" y="0"/>
                  </a:moveTo>
                  <a:lnTo>
                    <a:pt x="1280160" y="0"/>
                  </a:lnTo>
                  <a:lnTo>
                    <a:pt x="128016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987" t="0" r="-4987" b="0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19050"/>
              <a:ext cx="128016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953734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1 : N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685800" y="9189720"/>
            <a:ext cx="8229600" cy="411480"/>
            <a:chOff x="0" y="0"/>
            <a:chExt cx="10972800" cy="54864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19050"/>
              <a:ext cx="1097280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4A4A4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Bold = Primary Key   •   Italic = Foreign Key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6858000" y="9189720"/>
            <a:ext cx="10698480" cy="411480"/>
            <a:chOff x="0" y="0"/>
            <a:chExt cx="14264640" cy="54864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14264639" cy="548640"/>
            </a:xfrm>
            <a:custGeom>
              <a:avLst/>
              <a:gdLst/>
              <a:ahLst/>
              <a:cxnLst/>
              <a:rect r="r" b="b" t="t" l="l"/>
              <a:pathLst>
                <a:path h="548640" w="14264639">
                  <a:moveTo>
                    <a:pt x="0" y="0"/>
                  </a:moveTo>
                  <a:lnTo>
                    <a:pt x="14264639" y="0"/>
                  </a:lnTo>
                  <a:lnTo>
                    <a:pt x="14264639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6610" r="0" b="-456610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19050"/>
              <a:ext cx="1426464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80"/>
                </a:lnSpc>
              </a:pPr>
              <a:r>
                <a:rPr lang="en-US" sz="1650" i="true">
                  <a:solidFill>
                    <a:srgbClr val="028090"/>
                  </a:solidFill>
                  <a:latin typeface="Times New Roman Italics"/>
                  <a:ea typeface="Times New Roman Italics"/>
                  <a:cs typeface="Times New Roman Italics"/>
                  <a:sym typeface="Times New Roman Italics"/>
                </a:rPr>
                <a:t>One locality has many donors and requests; each contact records which donor was reached for which SOS.</a:t>
              </a:r>
            </a:p>
          </p:txBody>
        </p:sp>
      </p:grp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7144" y="102584"/>
            <a:ext cx="18301830" cy="864680"/>
            <a:chOff x="0" y="0"/>
            <a:chExt cx="24402440" cy="115290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152906"/>
            </a:xfrm>
            <a:custGeom>
              <a:avLst/>
              <a:gdLst/>
              <a:ahLst/>
              <a:cxnLst/>
              <a:rect r="r" b="b" t="t" l="l"/>
              <a:pathLst>
                <a:path h="1152906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152906"/>
                  </a:lnTo>
                  <a:lnTo>
                    <a:pt x="0" y="1152906"/>
                  </a:lnTo>
                  <a:close/>
                </a:path>
              </a:pathLst>
            </a:custGeom>
            <a:solidFill>
              <a:srgbClr val="953734"/>
            </a:solidFill>
            <a:ln w="14288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411480" y="109728"/>
            <a:ext cx="17464583" cy="850392"/>
            <a:chOff x="0" y="0"/>
            <a:chExt cx="23286110" cy="113385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3286110" cy="1133856"/>
            </a:xfrm>
            <a:custGeom>
              <a:avLst/>
              <a:gdLst/>
              <a:ahLst/>
              <a:cxnLst/>
              <a:rect r="r" b="b" t="t" l="l"/>
              <a:pathLst>
                <a:path h="1133856" w="23286110">
                  <a:moveTo>
                    <a:pt x="0" y="0"/>
                  </a:moveTo>
                  <a:lnTo>
                    <a:pt x="23286110" y="0"/>
                  </a:lnTo>
                  <a:lnTo>
                    <a:pt x="2328611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0166" r="0" b="-35016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23286110" cy="11529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60"/>
                </a:lnSpc>
              </a:pPr>
              <a:r>
                <a:rPr lang="en-US" sz="3300" b="true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Modular Description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7323308" y="9738360"/>
            <a:ext cx="685800" cy="411480"/>
            <a:chOff x="0" y="0"/>
            <a:chExt cx="914400" cy="5486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91440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99999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19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85800" y="1165860"/>
            <a:ext cx="16870680" cy="617220"/>
            <a:chOff x="0" y="0"/>
            <a:chExt cx="22494240" cy="82296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2494239" cy="822960"/>
            </a:xfrm>
            <a:custGeom>
              <a:avLst/>
              <a:gdLst/>
              <a:ahLst/>
              <a:cxnLst/>
              <a:rect r="r" b="b" t="t" l="l"/>
              <a:pathLst>
                <a:path h="822960" w="22494239">
                  <a:moveTo>
                    <a:pt x="0" y="0"/>
                  </a:moveTo>
                  <a:lnTo>
                    <a:pt x="22494239" y="0"/>
                  </a:lnTo>
                  <a:lnTo>
                    <a:pt x="22494239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2591" r="0" b="-482591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22494240" cy="8420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2B2B2B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The application is divided into six modules, each with a clearly defined responsibility.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678656" y="1981676"/>
            <a:ext cx="5432108" cy="3511867"/>
            <a:chOff x="0" y="0"/>
            <a:chExt cx="7242810" cy="468249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242810" cy="4682490"/>
            </a:xfrm>
            <a:custGeom>
              <a:avLst/>
              <a:gdLst/>
              <a:ahLst/>
              <a:cxnLst/>
              <a:rect r="r" b="b" t="t" l="l"/>
              <a:pathLst>
                <a:path h="4682490" w="7242810">
                  <a:moveTo>
                    <a:pt x="0" y="0"/>
                  </a:moveTo>
                  <a:lnTo>
                    <a:pt x="7242810" y="0"/>
                  </a:lnTo>
                  <a:lnTo>
                    <a:pt x="7242810" y="4682490"/>
                  </a:lnTo>
                  <a:lnTo>
                    <a:pt x="0" y="4682490"/>
                  </a:lnTo>
                  <a:close/>
                </a:path>
              </a:pathLst>
            </a:custGeom>
            <a:solidFill>
              <a:srgbClr val="F7EDEA"/>
            </a:solidFill>
            <a:ln w="14288" cap="sq">
              <a:solidFill>
                <a:srgbClr val="E3CFC9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886777" y="2189798"/>
            <a:ext cx="475869" cy="475869"/>
            <a:chOff x="0" y="0"/>
            <a:chExt cx="634492" cy="63449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34492" cy="634492"/>
            </a:xfrm>
            <a:custGeom>
              <a:avLst/>
              <a:gdLst/>
              <a:ahLst/>
              <a:cxnLst/>
              <a:rect r="r" b="b" t="t" l="l"/>
              <a:pathLst>
                <a:path h="634492" w="634492">
                  <a:moveTo>
                    <a:pt x="0" y="317246"/>
                  </a:moveTo>
                  <a:cubicBezTo>
                    <a:pt x="0" y="141986"/>
                    <a:pt x="141986" y="0"/>
                    <a:pt x="317246" y="0"/>
                  </a:cubicBezTo>
                  <a:cubicBezTo>
                    <a:pt x="492506" y="0"/>
                    <a:pt x="634492" y="141986"/>
                    <a:pt x="634492" y="317246"/>
                  </a:cubicBezTo>
                  <a:cubicBezTo>
                    <a:pt x="634492" y="492506"/>
                    <a:pt x="492506" y="634492"/>
                    <a:pt x="317246" y="634492"/>
                  </a:cubicBezTo>
                  <a:cubicBezTo>
                    <a:pt x="141986" y="634492"/>
                    <a:pt x="0" y="492506"/>
                    <a:pt x="0" y="317246"/>
                  </a:cubicBezTo>
                  <a:close/>
                </a:path>
              </a:pathLst>
            </a:custGeom>
            <a:solidFill>
              <a:srgbClr val="953734"/>
            </a:solidFill>
            <a:ln w="9525" cap="sq">
              <a:solidFill>
                <a:srgbClr val="953734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891540" y="2194560"/>
            <a:ext cx="466344" cy="466344"/>
            <a:chOff x="0" y="0"/>
            <a:chExt cx="621792" cy="62179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21792" cy="621792"/>
            </a:xfrm>
            <a:custGeom>
              <a:avLst/>
              <a:gdLst/>
              <a:ahLst/>
              <a:cxnLst/>
              <a:rect r="r" b="b" t="t" l="l"/>
              <a:pathLst>
                <a:path h="621792" w="621792">
                  <a:moveTo>
                    <a:pt x="0" y="0"/>
                  </a:moveTo>
                  <a:lnTo>
                    <a:pt x="621792" y="0"/>
                  </a:lnTo>
                  <a:lnTo>
                    <a:pt x="621792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19050"/>
              <a:ext cx="621792" cy="6408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1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508760" y="2125980"/>
            <a:ext cx="4457700" cy="685800"/>
            <a:chOff x="0" y="0"/>
            <a:chExt cx="5943600" cy="9144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943600" cy="914400"/>
            </a:xfrm>
            <a:custGeom>
              <a:avLst/>
              <a:gdLst/>
              <a:ahLst/>
              <a:cxnLst/>
              <a:rect r="r" b="b" t="t" l="l"/>
              <a:pathLst>
                <a:path h="914400" w="5943600">
                  <a:moveTo>
                    <a:pt x="0" y="0"/>
                  </a:moveTo>
                  <a:lnTo>
                    <a:pt x="5943600" y="0"/>
                  </a:lnTo>
                  <a:lnTo>
                    <a:pt x="59436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6652" r="0" b="-76652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19050"/>
              <a:ext cx="5943600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2B2B2B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User Authentication Module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960120" y="2948940"/>
            <a:ext cx="4869180" cy="411480"/>
            <a:chOff x="0" y="0"/>
            <a:chExt cx="6492240" cy="54864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492240" cy="548640"/>
            </a:xfrm>
            <a:custGeom>
              <a:avLst/>
              <a:gdLst/>
              <a:ahLst/>
              <a:cxnLst/>
              <a:rect r="r" b="b" t="t" l="l"/>
              <a:pathLst>
                <a:path h="548640" w="6492240">
                  <a:moveTo>
                    <a:pt x="0" y="0"/>
                  </a:moveTo>
                  <a:lnTo>
                    <a:pt x="6492240" y="0"/>
                  </a:lnTo>
                  <a:lnTo>
                    <a:pt x="649224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0572" r="0" b="-180572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19050"/>
              <a:ext cx="649224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i="true">
                  <a:solidFill>
                    <a:srgbClr val="028090"/>
                  </a:solidFill>
                  <a:latin typeface="Times New Roman Italics"/>
                  <a:ea typeface="Times New Roman Italics"/>
                  <a:cs typeface="Times New Roman Italics"/>
                  <a:sym typeface="Times New Roman Italics"/>
                </a:rPr>
                <a:t>authRoutes + JWT</a:t>
              </a: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960120" y="3478530"/>
            <a:ext cx="4869180" cy="1870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4A4A4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Handles registration, login, password hashing and protected routes.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6370796" y="1981676"/>
            <a:ext cx="5432108" cy="3511867"/>
            <a:chOff x="0" y="0"/>
            <a:chExt cx="7242810" cy="468249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7242810" cy="4682490"/>
            </a:xfrm>
            <a:custGeom>
              <a:avLst/>
              <a:gdLst/>
              <a:ahLst/>
              <a:cxnLst/>
              <a:rect r="r" b="b" t="t" l="l"/>
              <a:pathLst>
                <a:path h="4682490" w="7242810">
                  <a:moveTo>
                    <a:pt x="0" y="0"/>
                  </a:moveTo>
                  <a:lnTo>
                    <a:pt x="7242810" y="0"/>
                  </a:lnTo>
                  <a:lnTo>
                    <a:pt x="7242810" y="4682490"/>
                  </a:lnTo>
                  <a:lnTo>
                    <a:pt x="0" y="4682490"/>
                  </a:lnTo>
                  <a:close/>
                </a:path>
              </a:pathLst>
            </a:custGeom>
            <a:solidFill>
              <a:srgbClr val="F7EDEA"/>
            </a:solidFill>
            <a:ln w="14288" cap="sq">
              <a:solidFill>
                <a:srgbClr val="E3CFC9"/>
              </a:solidFill>
              <a:prstDash val="solid"/>
              <a:miter/>
            </a:ln>
          </p:spPr>
        </p:sp>
      </p:grpSp>
      <p:grpSp>
        <p:nvGrpSpPr>
          <p:cNvPr name="Group 29" id="29"/>
          <p:cNvGrpSpPr/>
          <p:nvPr/>
        </p:nvGrpSpPr>
        <p:grpSpPr>
          <a:xfrm rot="0">
            <a:off x="6578918" y="2189798"/>
            <a:ext cx="475869" cy="475869"/>
            <a:chOff x="0" y="0"/>
            <a:chExt cx="634492" cy="634492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634492" cy="634492"/>
            </a:xfrm>
            <a:custGeom>
              <a:avLst/>
              <a:gdLst/>
              <a:ahLst/>
              <a:cxnLst/>
              <a:rect r="r" b="b" t="t" l="l"/>
              <a:pathLst>
                <a:path h="634492" w="634492">
                  <a:moveTo>
                    <a:pt x="0" y="317246"/>
                  </a:moveTo>
                  <a:cubicBezTo>
                    <a:pt x="0" y="141986"/>
                    <a:pt x="141986" y="0"/>
                    <a:pt x="317246" y="0"/>
                  </a:cubicBezTo>
                  <a:cubicBezTo>
                    <a:pt x="492506" y="0"/>
                    <a:pt x="634492" y="141986"/>
                    <a:pt x="634492" y="317246"/>
                  </a:cubicBezTo>
                  <a:cubicBezTo>
                    <a:pt x="634492" y="492506"/>
                    <a:pt x="492506" y="634492"/>
                    <a:pt x="317246" y="634492"/>
                  </a:cubicBezTo>
                  <a:cubicBezTo>
                    <a:pt x="141986" y="634492"/>
                    <a:pt x="0" y="492506"/>
                    <a:pt x="0" y="317246"/>
                  </a:cubicBezTo>
                  <a:close/>
                </a:path>
              </a:pathLst>
            </a:custGeom>
            <a:solidFill>
              <a:srgbClr val="028090"/>
            </a:solidFill>
            <a:ln w="9525" cap="sq">
              <a:solidFill>
                <a:srgbClr val="028090"/>
              </a:solidFill>
              <a:prstDash val="solid"/>
              <a:miter/>
            </a:ln>
          </p:spPr>
        </p:sp>
      </p:grpSp>
      <p:grpSp>
        <p:nvGrpSpPr>
          <p:cNvPr name="Group 31" id="31"/>
          <p:cNvGrpSpPr/>
          <p:nvPr/>
        </p:nvGrpSpPr>
        <p:grpSpPr>
          <a:xfrm rot="0">
            <a:off x="6583680" y="2194560"/>
            <a:ext cx="466344" cy="466344"/>
            <a:chOff x="0" y="0"/>
            <a:chExt cx="621792" cy="621792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621792" cy="621792"/>
            </a:xfrm>
            <a:custGeom>
              <a:avLst/>
              <a:gdLst/>
              <a:ahLst/>
              <a:cxnLst/>
              <a:rect r="r" b="b" t="t" l="l"/>
              <a:pathLst>
                <a:path h="621792" w="621792">
                  <a:moveTo>
                    <a:pt x="0" y="0"/>
                  </a:moveTo>
                  <a:lnTo>
                    <a:pt x="621792" y="0"/>
                  </a:lnTo>
                  <a:lnTo>
                    <a:pt x="621792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19050"/>
              <a:ext cx="621792" cy="6408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2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7200900" y="2125980"/>
            <a:ext cx="4457700" cy="685800"/>
            <a:chOff x="0" y="0"/>
            <a:chExt cx="5943600" cy="9144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5943600" cy="914400"/>
            </a:xfrm>
            <a:custGeom>
              <a:avLst/>
              <a:gdLst/>
              <a:ahLst/>
              <a:cxnLst/>
              <a:rect r="r" b="b" t="t" l="l"/>
              <a:pathLst>
                <a:path h="914400" w="5943600">
                  <a:moveTo>
                    <a:pt x="0" y="0"/>
                  </a:moveTo>
                  <a:lnTo>
                    <a:pt x="5943600" y="0"/>
                  </a:lnTo>
                  <a:lnTo>
                    <a:pt x="59436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6652" r="0" b="-76652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19050"/>
              <a:ext cx="5943600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2B2B2B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Donor Directory Module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6652260" y="2948940"/>
            <a:ext cx="4869180" cy="411480"/>
            <a:chOff x="0" y="0"/>
            <a:chExt cx="6492240" cy="54864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6492240" cy="548640"/>
            </a:xfrm>
            <a:custGeom>
              <a:avLst/>
              <a:gdLst/>
              <a:ahLst/>
              <a:cxnLst/>
              <a:rect r="r" b="b" t="t" l="l"/>
              <a:pathLst>
                <a:path h="548640" w="6492240">
                  <a:moveTo>
                    <a:pt x="0" y="0"/>
                  </a:moveTo>
                  <a:lnTo>
                    <a:pt x="6492240" y="0"/>
                  </a:lnTo>
                  <a:lnTo>
                    <a:pt x="649224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0572" r="0" b="-180572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19050"/>
              <a:ext cx="649224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i="true">
                  <a:solidFill>
                    <a:srgbClr val="028090"/>
                  </a:solidFill>
                  <a:latin typeface="Times New Roman Italics"/>
                  <a:ea typeface="Times New Roman Italics"/>
                  <a:cs typeface="Times New Roman Italics"/>
                  <a:sym typeface="Times New Roman Italics"/>
                </a:rPr>
                <a:t>donorRoutes</a:t>
              </a:r>
            </a:p>
          </p:txBody>
        </p:sp>
      </p:grpSp>
      <p:sp>
        <p:nvSpPr>
          <p:cNvPr name="TextBox 40" id="40"/>
          <p:cNvSpPr txBox="true"/>
          <p:nvPr/>
        </p:nvSpPr>
        <p:spPr>
          <a:xfrm rot="0">
            <a:off x="6652260" y="3478530"/>
            <a:ext cx="4869180" cy="1870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4A4A4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Stores donor profiles and supports search by blood group and locality.</a:t>
            </a:r>
          </a:p>
        </p:txBody>
      </p:sp>
      <p:grpSp>
        <p:nvGrpSpPr>
          <p:cNvPr name="Group 41" id="41"/>
          <p:cNvGrpSpPr/>
          <p:nvPr/>
        </p:nvGrpSpPr>
        <p:grpSpPr>
          <a:xfrm rot="0">
            <a:off x="12062936" y="1981676"/>
            <a:ext cx="5432108" cy="3511867"/>
            <a:chOff x="0" y="0"/>
            <a:chExt cx="7242810" cy="468249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7242810" cy="4682490"/>
            </a:xfrm>
            <a:custGeom>
              <a:avLst/>
              <a:gdLst/>
              <a:ahLst/>
              <a:cxnLst/>
              <a:rect r="r" b="b" t="t" l="l"/>
              <a:pathLst>
                <a:path h="4682490" w="7242810">
                  <a:moveTo>
                    <a:pt x="0" y="0"/>
                  </a:moveTo>
                  <a:lnTo>
                    <a:pt x="7242810" y="0"/>
                  </a:lnTo>
                  <a:lnTo>
                    <a:pt x="7242810" y="4682490"/>
                  </a:lnTo>
                  <a:lnTo>
                    <a:pt x="0" y="4682490"/>
                  </a:lnTo>
                  <a:close/>
                </a:path>
              </a:pathLst>
            </a:custGeom>
            <a:solidFill>
              <a:srgbClr val="F7EDEA"/>
            </a:solidFill>
            <a:ln w="14288" cap="sq">
              <a:solidFill>
                <a:srgbClr val="E3CFC9"/>
              </a:solidFill>
              <a:prstDash val="solid"/>
              <a:miter/>
            </a:ln>
          </p:spPr>
        </p:sp>
      </p:grpSp>
      <p:grpSp>
        <p:nvGrpSpPr>
          <p:cNvPr name="Group 43" id="43"/>
          <p:cNvGrpSpPr/>
          <p:nvPr/>
        </p:nvGrpSpPr>
        <p:grpSpPr>
          <a:xfrm rot="0">
            <a:off x="12271057" y="2189798"/>
            <a:ext cx="475869" cy="475869"/>
            <a:chOff x="0" y="0"/>
            <a:chExt cx="634492" cy="634492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634492" cy="634492"/>
            </a:xfrm>
            <a:custGeom>
              <a:avLst/>
              <a:gdLst/>
              <a:ahLst/>
              <a:cxnLst/>
              <a:rect r="r" b="b" t="t" l="l"/>
              <a:pathLst>
                <a:path h="634492" w="634492">
                  <a:moveTo>
                    <a:pt x="0" y="317246"/>
                  </a:moveTo>
                  <a:cubicBezTo>
                    <a:pt x="0" y="141986"/>
                    <a:pt x="141986" y="0"/>
                    <a:pt x="317246" y="0"/>
                  </a:cubicBezTo>
                  <a:cubicBezTo>
                    <a:pt x="492506" y="0"/>
                    <a:pt x="634492" y="141986"/>
                    <a:pt x="634492" y="317246"/>
                  </a:cubicBezTo>
                  <a:cubicBezTo>
                    <a:pt x="634492" y="492506"/>
                    <a:pt x="492506" y="634492"/>
                    <a:pt x="317246" y="634492"/>
                  </a:cubicBezTo>
                  <a:cubicBezTo>
                    <a:pt x="141986" y="634492"/>
                    <a:pt x="0" y="492506"/>
                    <a:pt x="0" y="317246"/>
                  </a:cubicBezTo>
                  <a:close/>
                </a:path>
              </a:pathLst>
            </a:custGeom>
            <a:solidFill>
              <a:srgbClr val="C98A2C"/>
            </a:solidFill>
            <a:ln w="9525" cap="sq">
              <a:solidFill>
                <a:srgbClr val="C98A2C"/>
              </a:solidFill>
              <a:prstDash val="solid"/>
              <a:miter/>
            </a:ln>
          </p:spPr>
        </p:sp>
      </p:grpSp>
      <p:grpSp>
        <p:nvGrpSpPr>
          <p:cNvPr name="Group 45" id="45"/>
          <p:cNvGrpSpPr/>
          <p:nvPr/>
        </p:nvGrpSpPr>
        <p:grpSpPr>
          <a:xfrm rot="0">
            <a:off x="12275820" y="2194560"/>
            <a:ext cx="466344" cy="466344"/>
            <a:chOff x="0" y="0"/>
            <a:chExt cx="621792" cy="621792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621792" cy="621792"/>
            </a:xfrm>
            <a:custGeom>
              <a:avLst/>
              <a:gdLst/>
              <a:ahLst/>
              <a:cxnLst/>
              <a:rect r="r" b="b" t="t" l="l"/>
              <a:pathLst>
                <a:path h="621792" w="621792">
                  <a:moveTo>
                    <a:pt x="0" y="0"/>
                  </a:moveTo>
                  <a:lnTo>
                    <a:pt x="621792" y="0"/>
                  </a:lnTo>
                  <a:lnTo>
                    <a:pt x="621792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19050"/>
              <a:ext cx="621792" cy="6408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3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2893040" y="2125980"/>
            <a:ext cx="4457700" cy="685800"/>
            <a:chOff x="0" y="0"/>
            <a:chExt cx="5943600" cy="91440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5943600" cy="914400"/>
            </a:xfrm>
            <a:custGeom>
              <a:avLst/>
              <a:gdLst/>
              <a:ahLst/>
              <a:cxnLst/>
              <a:rect r="r" b="b" t="t" l="l"/>
              <a:pathLst>
                <a:path h="914400" w="5943600">
                  <a:moveTo>
                    <a:pt x="0" y="0"/>
                  </a:moveTo>
                  <a:lnTo>
                    <a:pt x="5943600" y="0"/>
                  </a:lnTo>
                  <a:lnTo>
                    <a:pt x="59436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6652" r="0" b="-76652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19050"/>
              <a:ext cx="5943600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2B2B2B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SOS Request Module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12344400" y="2948940"/>
            <a:ext cx="4869180" cy="411480"/>
            <a:chOff x="0" y="0"/>
            <a:chExt cx="6492240" cy="54864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6492240" cy="548640"/>
            </a:xfrm>
            <a:custGeom>
              <a:avLst/>
              <a:gdLst/>
              <a:ahLst/>
              <a:cxnLst/>
              <a:rect r="r" b="b" t="t" l="l"/>
              <a:pathLst>
                <a:path h="548640" w="6492240">
                  <a:moveTo>
                    <a:pt x="0" y="0"/>
                  </a:moveTo>
                  <a:lnTo>
                    <a:pt x="6492240" y="0"/>
                  </a:lnTo>
                  <a:lnTo>
                    <a:pt x="649224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0572" r="0" b="-180572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19050"/>
              <a:ext cx="649224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i="true">
                  <a:solidFill>
                    <a:srgbClr val="028090"/>
                  </a:solidFill>
                  <a:latin typeface="Times New Roman Italics"/>
                  <a:ea typeface="Times New Roman Italics"/>
                  <a:cs typeface="Times New Roman Italics"/>
                  <a:sym typeface="Times New Roman Italics"/>
                </a:rPr>
                <a:t>sosRoutes</a:t>
              </a:r>
            </a:p>
          </p:txBody>
        </p:sp>
      </p:grpSp>
      <p:sp>
        <p:nvSpPr>
          <p:cNvPr name="TextBox 54" id="54"/>
          <p:cNvSpPr txBox="true"/>
          <p:nvPr/>
        </p:nvSpPr>
        <p:spPr>
          <a:xfrm rot="0">
            <a:off x="12344400" y="3478530"/>
            <a:ext cx="4869180" cy="1870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4A4A4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Creates, lists and closes urgent requests with urgency levels.</a:t>
            </a:r>
          </a:p>
        </p:txBody>
      </p:sp>
      <p:grpSp>
        <p:nvGrpSpPr>
          <p:cNvPr name="Group 55" id="55"/>
          <p:cNvGrpSpPr/>
          <p:nvPr/>
        </p:nvGrpSpPr>
        <p:grpSpPr>
          <a:xfrm rot="0">
            <a:off x="678656" y="5753576"/>
            <a:ext cx="5432108" cy="3511867"/>
            <a:chOff x="0" y="0"/>
            <a:chExt cx="7242810" cy="468249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7242810" cy="4682490"/>
            </a:xfrm>
            <a:custGeom>
              <a:avLst/>
              <a:gdLst/>
              <a:ahLst/>
              <a:cxnLst/>
              <a:rect r="r" b="b" t="t" l="l"/>
              <a:pathLst>
                <a:path h="4682490" w="7242810">
                  <a:moveTo>
                    <a:pt x="0" y="0"/>
                  </a:moveTo>
                  <a:lnTo>
                    <a:pt x="7242810" y="0"/>
                  </a:lnTo>
                  <a:lnTo>
                    <a:pt x="7242810" y="4682490"/>
                  </a:lnTo>
                  <a:lnTo>
                    <a:pt x="0" y="4682490"/>
                  </a:lnTo>
                  <a:close/>
                </a:path>
              </a:pathLst>
            </a:custGeom>
            <a:solidFill>
              <a:srgbClr val="F7EDEA"/>
            </a:solidFill>
            <a:ln w="14288" cap="sq">
              <a:solidFill>
                <a:srgbClr val="E3CFC9"/>
              </a:solidFill>
              <a:prstDash val="solid"/>
              <a:miter/>
            </a:ln>
          </p:spPr>
        </p:sp>
      </p:grpSp>
      <p:grpSp>
        <p:nvGrpSpPr>
          <p:cNvPr name="Group 57" id="57"/>
          <p:cNvGrpSpPr/>
          <p:nvPr/>
        </p:nvGrpSpPr>
        <p:grpSpPr>
          <a:xfrm rot="0">
            <a:off x="886777" y="5961697"/>
            <a:ext cx="475869" cy="475869"/>
            <a:chOff x="0" y="0"/>
            <a:chExt cx="634492" cy="634492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634492" cy="634492"/>
            </a:xfrm>
            <a:custGeom>
              <a:avLst/>
              <a:gdLst/>
              <a:ahLst/>
              <a:cxnLst/>
              <a:rect r="r" b="b" t="t" l="l"/>
              <a:pathLst>
                <a:path h="634492" w="634492">
                  <a:moveTo>
                    <a:pt x="0" y="317246"/>
                  </a:moveTo>
                  <a:cubicBezTo>
                    <a:pt x="0" y="141986"/>
                    <a:pt x="141986" y="0"/>
                    <a:pt x="317246" y="0"/>
                  </a:cubicBezTo>
                  <a:cubicBezTo>
                    <a:pt x="492506" y="0"/>
                    <a:pt x="634492" y="141986"/>
                    <a:pt x="634492" y="317246"/>
                  </a:cubicBezTo>
                  <a:cubicBezTo>
                    <a:pt x="634492" y="492506"/>
                    <a:pt x="492506" y="634492"/>
                    <a:pt x="317246" y="634492"/>
                  </a:cubicBezTo>
                  <a:cubicBezTo>
                    <a:pt x="141986" y="634492"/>
                    <a:pt x="0" y="492506"/>
                    <a:pt x="0" y="317246"/>
                  </a:cubicBezTo>
                  <a:close/>
                </a:path>
              </a:pathLst>
            </a:custGeom>
            <a:solidFill>
              <a:srgbClr val="6E2723"/>
            </a:solidFill>
            <a:ln w="9525" cap="sq">
              <a:solidFill>
                <a:srgbClr val="6E2723"/>
              </a:solidFill>
              <a:prstDash val="solid"/>
              <a:miter/>
            </a:ln>
          </p:spPr>
        </p:sp>
      </p:grpSp>
      <p:grpSp>
        <p:nvGrpSpPr>
          <p:cNvPr name="Group 59" id="59"/>
          <p:cNvGrpSpPr/>
          <p:nvPr/>
        </p:nvGrpSpPr>
        <p:grpSpPr>
          <a:xfrm rot="0">
            <a:off x="891540" y="5966460"/>
            <a:ext cx="466344" cy="466344"/>
            <a:chOff x="0" y="0"/>
            <a:chExt cx="621792" cy="621792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621792" cy="621792"/>
            </a:xfrm>
            <a:custGeom>
              <a:avLst/>
              <a:gdLst/>
              <a:ahLst/>
              <a:cxnLst/>
              <a:rect r="r" b="b" t="t" l="l"/>
              <a:pathLst>
                <a:path h="621792" w="621792">
                  <a:moveTo>
                    <a:pt x="0" y="0"/>
                  </a:moveTo>
                  <a:lnTo>
                    <a:pt x="621792" y="0"/>
                  </a:lnTo>
                  <a:lnTo>
                    <a:pt x="621792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19050"/>
              <a:ext cx="621792" cy="6408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4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1508760" y="5897880"/>
            <a:ext cx="4457700" cy="685800"/>
            <a:chOff x="0" y="0"/>
            <a:chExt cx="5943600" cy="91440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5943600" cy="914400"/>
            </a:xfrm>
            <a:custGeom>
              <a:avLst/>
              <a:gdLst/>
              <a:ahLst/>
              <a:cxnLst/>
              <a:rect r="r" b="b" t="t" l="l"/>
              <a:pathLst>
                <a:path h="914400" w="5943600">
                  <a:moveTo>
                    <a:pt x="0" y="0"/>
                  </a:moveTo>
                  <a:lnTo>
                    <a:pt x="5943600" y="0"/>
                  </a:lnTo>
                  <a:lnTo>
                    <a:pt x="59436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6652" r="0" b="-76652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19050"/>
              <a:ext cx="5943600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2B2B2B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Matching Module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960120" y="6720840"/>
            <a:ext cx="4869180" cy="411480"/>
            <a:chOff x="0" y="0"/>
            <a:chExt cx="6492240" cy="54864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6492240" cy="548640"/>
            </a:xfrm>
            <a:custGeom>
              <a:avLst/>
              <a:gdLst/>
              <a:ahLst/>
              <a:cxnLst/>
              <a:rect r="r" b="b" t="t" l="l"/>
              <a:pathLst>
                <a:path h="548640" w="6492240">
                  <a:moveTo>
                    <a:pt x="0" y="0"/>
                  </a:moveTo>
                  <a:lnTo>
                    <a:pt x="6492240" y="0"/>
                  </a:lnTo>
                  <a:lnTo>
                    <a:pt x="649224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0572" r="0" b="-180572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19050"/>
              <a:ext cx="649224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i="true">
                  <a:solidFill>
                    <a:srgbClr val="028090"/>
                  </a:solidFill>
                  <a:latin typeface="Times New Roman Italics"/>
                  <a:ea typeface="Times New Roman Italics"/>
                  <a:cs typeface="Times New Roman Italics"/>
                  <a:sym typeface="Times New Roman Italics"/>
                </a:rPr>
                <a:t>matching logic</a:t>
              </a:r>
            </a:p>
          </p:txBody>
        </p:sp>
      </p:grpSp>
      <p:sp>
        <p:nvSpPr>
          <p:cNvPr name="TextBox 68" id="68"/>
          <p:cNvSpPr txBox="true"/>
          <p:nvPr/>
        </p:nvSpPr>
        <p:spPr>
          <a:xfrm rot="0">
            <a:off x="960120" y="7250430"/>
            <a:ext cx="4869180" cy="1870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4A4A4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Combines blood compatibility, locality and availability to list donors.</a:t>
            </a:r>
          </a:p>
        </p:txBody>
      </p:sp>
      <p:grpSp>
        <p:nvGrpSpPr>
          <p:cNvPr name="Group 69" id="69"/>
          <p:cNvGrpSpPr/>
          <p:nvPr/>
        </p:nvGrpSpPr>
        <p:grpSpPr>
          <a:xfrm rot="0">
            <a:off x="6370796" y="5753576"/>
            <a:ext cx="5432108" cy="3511867"/>
            <a:chOff x="0" y="0"/>
            <a:chExt cx="7242810" cy="468249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7242810" cy="4682490"/>
            </a:xfrm>
            <a:custGeom>
              <a:avLst/>
              <a:gdLst/>
              <a:ahLst/>
              <a:cxnLst/>
              <a:rect r="r" b="b" t="t" l="l"/>
              <a:pathLst>
                <a:path h="4682490" w="7242810">
                  <a:moveTo>
                    <a:pt x="0" y="0"/>
                  </a:moveTo>
                  <a:lnTo>
                    <a:pt x="7242810" y="0"/>
                  </a:lnTo>
                  <a:lnTo>
                    <a:pt x="7242810" y="4682490"/>
                  </a:lnTo>
                  <a:lnTo>
                    <a:pt x="0" y="4682490"/>
                  </a:lnTo>
                  <a:close/>
                </a:path>
              </a:pathLst>
            </a:custGeom>
            <a:solidFill>
              <a:srgbClr val="F7EDEA"/>
            </a:solidFill>
            <a:ln w="14288" cap="sq">
              <a:solidFill>
                <a:srgbClr val="E3CFC9"/>
              </a:solidFill>
              <a:prstDash val="solid"/>
              <a:miter/>
            </a:ln>
          </p:spPr>
        </p:sp>
      </p:grpSp>
      <p:grpSp>
        <p:nvGrpSpPr>
          <p:cNvPr name="Group 71" id="71"/>
          <p:cNvGrpSpPr/>
          <p:nvPr/>
        </p:nvGrpSpPr>
        <p:grpSpPr>
          <a:xfrm rot="0">
            <a:off x="6578918" y="5961697"/>
            <a:ext cx="475869" cy="475869"/>
            <a:chOff x="0" y="0"/>
            <a:chExt cx="634492" cy="634492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634492" cy="634492"/>
            </a:xfrm>
            <a:custGeom>
              <a:avLst/>
              <a:gdLst/>
              <a:ahLst/>
              <a:cxnLst/>
              <a:rect r="r" b="b" t="t" l="l"/>
              <a:pathLst>
                <a:path h="634492" w="634492">
                  <a:moveTo>
                    <a:pt x="0" y="317246"/>
                  </a:moveTo>
                  <a:cubicBezTo>
                    <a:pt x="0" y="141986"/>
                    <a:pt x="141986" y="0"/>
                    <a:pt x="317246" y="0"/>
                  </a:cubicBezTo>
                  <a:cubicBezTo>
                    <a:pt x="492506" y="0"/>
                    <a:pt x="634492" y="141986"/>
                    <a:pt x="634492" y="317246"/>
                  </a:cubicBezTo>
                  <a:cubicBezTo>
                    <a:pt x="634492" y="492506"/>
                    <a:pt x="492506" y="634492"/>
                    <a:pt x="317246" y="634492"/>
                  </a:cubicBezTo>
                  <a:cubicBezTo>
                    <a:pt x="141986" y="634492"/>
                    <a:pt x="0" y="492506"/>
                    <a:pt x="0" y="317246"/>
                  </a:cubicBezTo>
                  <a:close/>
                </a:path>
              </a:pathLst>
            </a:custGeom>
            <a:solidFill>
              <a:srgbClr val="444444"/>
            </a:solidFill>
            <a:ln w="9525" cap="sq">
              <a:solidFill>
                <a:srgbClr val="444444"/>
              </a:solidFill>
              <a:prstDash val="solid"/>
              <a:miter/>
            </a:ln>
          </p:spPr>
        </p:sp>
      </p:grpSp>
      <p:grpSp>
        <p:nvGrpSpPr>
          <p:cNvPr name="Group 73" id="73"/>
          <p:cNvGrpSpPr/>
          <p:nvPr/>
        </p:nvGrpSpPr>
        <p:grpSpPr>
          <a:xfrm rot="0">
            <a:off x="6583680" y="5966460"/>
            <a:ext cx="466344" cy="466344"/>
            <a:chOff x="0" y="0"/>
            <a:chExt cx="621792" cy="621792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621792" cy="621792"/>
            </a:xfrm>
            <a:custGeom>
              <a:avLst/>
              <a:gdLst/>
              <a:ahLst/>
              <a:cxnLst/>
              <a:rect r="r" b="b" t="t" l="l"/>
              <a:pathLst>
                <a:path h="621792" w="621792">
                  <a:moveTo>
                    <a:pt x="0" y="0"/>
                  </a:moveTo>
                  <a:lnTo>
                    <a:pt x="621792" y="0"/>
                  </a:lnTo>
                  <a:lnTo>
                    <a:pt x="621792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-19050"/>
              <a:ext cx="621792" cy="6408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5</a:t>
              </a:r>
            </a:p>
          </p:txBody>
        </p:sp>
      </p:grpSp>
      <p:grpSp>
        <p:nvGrpSpPr>
          <p:cNvPr name="Group 76" id="76"/>
          <p:cNvGrpSpPr/>
          <p:nvPr/>
        </p:nvGrpSpPr>
        <p:grpSpPr>
          <a:xfrm rot="0">
            <a:off x="7200900" y="5897880"/>
            <a:ext cx="4457700" cy="685800"/>
            <a:chOff x="0" y="0"/>
            <a:chExt cx="5943600" cy="914400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5943600" cy="914400"/>
            </a:xfrm>
            <a:custGeom>
              <a:avLst/>
              <a:gdLst/>
              <a:ahLst/>
              <a:cxnLst/>
              <a:rect r="r" b="b" t="t" l="l"/>
              <a:pathLst>
                <a:path h="914400" w="5943600">
                  <a:moveTo>
                    <a:pt x="0" y="0"/>
                  </a:moveTo>
                  <a:lnTo>
                    <a:pt x="5943600" y="0"/>
                  </a:lnTo>
                  <a:lnTo>
                    <a:pt x="59436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6652" r="0" b="-76652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-19050"/>
              <a:ext cx="5943600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2B2B2B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Contact &amp; Availability Module</a:t>
              </a:r>
            </a:p>
          </p:txBody>
        </p:sp>
      </p:grpSp>
      <p:grpSp>
        <p:nvGrpSpPr>
          <p:cNvPr name="Group 79" id="79"/>
          <p:cNvGrpSpPr/>
          <p:nvPr/>
        </p:nvGrpSpPr>
        <p:grpSpPr>
          <a:xfrm rot="0">
            <a:off x="6652260" y="6720840"/>
            <a:ext cx="4869180" cy="411480"/>
            <a:chOff x="0" y="0"/>
            <a:chExt cx="6492240" cy="548640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6492240" cy="548640"/>
            </a:xfrm>
            <a:custGeom>
              <a:avLst/>
              <a:gdLst/>
              <a:ahLst/>
              <a:cxnLst/>
              <a:rect r="r" b="b" t="t" l="l"/>
              <a:pathLst>
                <a:path h="548640" w="6492240">
                  <a:moveTo>
                    <a:pt x="0" y="0"/>
                  </a:moveTo>
                  <a:lnTo>
                    <a:pt x="6492240" y="0"/>
                  </a:lnTo>
                  <a:lnTo>
                    <a:pt x="649224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0572" r="0" b="-180572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-19050"/>
              <a:ext cx="649224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i="true">
                  <a:solidFill>
                    <a:srgbClr val="028090"/>
                  </a:solidFill>
                  <a:latin typeface="Times New Roman Italics"/>
                  <a:ea typeface="Times New Roman Italics"/>
                  <a:cs typeface="Times New Roman Italics"/>
                  <a:sym typeface="Times New Roman Italics"/>
                </a:rPr>
                <a:t>tel: / wa.me links</a:t>
              </a:r>
            </a:p>
          </p:txBody>
        </p:sp>
      </p:grpSp>
      <p:sp>
        <p:nvSpPr>
          <p:cNvPr name="TextBox 82" id="82"/>
          <p:cNvSpPr txBox="true"/>
          <p:nvPr/>
        </p:nvSpPr>
        <p:spPr>
          <a:xfrm rot="0">
            <a:off x="6652260" y="7250430"/>
            <a:ext cx="4869180" cy="1870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4A4A4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Builds one-click contact links and applies the availability toggle.</a:t>
            </a:r>
          </a:p>
        </p:txBody>
      </p:sp>
      <p:grpSp>
        <p:nvGrpSpPr>
          <p:cNvPr name="Group 83" id="83"/>
          <p:cNvGrpSpPr/>
          <p:nvPr/>
        </p:nvGrpSpPr>
        <p:grpSpPr>
          <a:xfrm rot="0">
            <a:off x="12062936" y="5753576"/>
            <a:ext cx="5432108" cy="3511867"/>
            <a:chOff x="0" y="0"/>
            <a:chExt cx="7242810" cy="4682490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7242810" cy="4682490"/>
            </a:xfrm>
            <a:custGeom>
              <a:avLst/>
              <a:gdLst/>
              <a:ahLst/>
              <a:cxnLst/>
              <a:rect r="r" b="b" t="t" l="l"/>
              <a:pathLst>
                <a:path h="4682490" w="7242810">
                  <a:moveTo>
                    <a:pt x="0" y="0"/>
                  </a:moveTo>
                  <a:lnTo>
                    <a:pt x="7242810" y="0"/>
                  </a:lnTo>
                  <a:lnTo>
                    <a:pt x="7242810" y="4682490"/>
                  </a:lnTo>
                  <a:lnTo>
                    <a:pt x="0" y="4682490"/>
                  </a:lnTo>
                  <a:close/>
                </a:path>
              </a:pathLst>
            </a:custGeom>
            <a:solidFill>
              <a:srgbClr val="F7EDEA"/>
            </a:solidFill>
            <a:ln w="14288" cap="sq">
              <a:solidFill>
                <a:srgbClr val="E3CFC9"/>
              </a:solidFill>
              <a:prstDash val="solid"/>
              <a:miter/>
            </a:ln>
          </p:spPr>
        </p:sp>
      </p:grpSp>
      <p:grpSp>
        <p:nvGrpSpPr>
          <p:cNvPr name="Group 85" id="85"/>
          <p:cNvGrpSpPr/>
          <p:nvPr/>
        </p:nvGrpSpPr>
        <p:grpSpPr>
          <a:xfrm rot="0">
            <a:off x="12271057" y="5961697"/>
            <a:ext cx="475869" cy="475869"/>
            <a:chOff x="0" y="0"/>
            <a:chExt cx="634492" cy="634492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634492" cy="634492"/>
            </a:xfrm>
            <a:custGeom>
              <a:avLst/>
              <a:gdLst/>
              <a:ahLst/>
              <a:cxnLst/>
              <a:rect r="r" b="b" t="t" l="l"/>
              <a:pathLst>
                <a:path h="634492" w="634492">
                  <a:moveTo>
                    <a:pt x="0" y="317246"/>
                  </a:moveTo>
                  <a:cubicBezTo>
                    <a:pt x="0" y="141986"/>
                    <a:pt x="141986" y="0"/>
                    <a:pt x="317246" y="0"/>
                  </a:cubicBezTo>
                  <a:cubicBezTo>
                    <a:pt x="492506" y="0"/>
                    <a:pt x="634492" y="141986"/>
                    <a:pt x="634492" y="317246"/>
                  </a:cubicBezTo>
                  <a:cubicBezTo>
                    <a:pt x="634492" y="492506"/>
                    <a:pt x="492506" y="634492"/>
                    <a:pt x="317246" y="634492"/>
                  </a:cubicBezTo>
                  <a:cubicBezTo>
                    <a:pt x="141986" y="634492"/>
                    <a:pt x="0" y="492506"/>
                    <a:pt x="0" y="317246"/>
                  </a:cubicBezTo>
                  <a:close/>
                </a:path>
              </a:pathLst>
            </a:custGeom>
            <a:solidFill>
              <a:srgbClr val="953734"/>
            </a:solidFill>
            <a:ln w="9525" cap="sq">
              <a:solidFill>
                <a:srgbClr val="953734"/>
              </a:solidFill>
              <a:prstDash val="solid"/>
              <a:miter/>
            </a:ln>
          </p:spPr>
        </p:sp>
      </p:grpSp>
      <p:grpSp>
        <p:nvGrpSpPr>
          <p:cNvPr name="Group 87" id="87"/>
          <p:cNvGrpSpPr/>
          <p:nvPr/>
        </p:nvGrpSpPr>
        <p:grpSpPr>
          <a:xfrm rot="0">
            <a:off x="12275820" y="5966460"/>
            <a:ext cx="466344" cy="466344"/>
            <a:chOff x="0" y="0"/>
            <a:chExt cx="621792" cy="621792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621792" cy="621792"/>
            </a:xfrm>
            <a:custGeom>
              <a:avLst/>
              <a:gdLst/>
              <a:ahLst/>
              <a:cxnLst/>
              <a:rect r="r" b="b" t="t" l="l"/>
              <a:pathLst>
                <a:path h="621792" w="621792">
                  <a:moveTo>
                    <a:pt x="0" y="0"/>
                  </a:moveTo>
                  <a:lnTo>
                    <a:pt x="621792" y="0"/>
                  </a:lnTo>
                  <a:lnTo>
                    <a:pt x="621792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89" id="89"/>
            <p:cNvSpPr txBox="true"/>
            <p:nvPr/>
          </p:nvSpPr>
          <p:spPr>
            <a:xfrm>
              <a:off x="0" y="-19050"/>
              <a:ext cx="621792" cy="6408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6</a:t>
              </a:r>
            </a:p>
          </p:txBody>
        </p:sp>
      </p:grpSp>
      <p:grpSp>
        <p:nvGrpSpPr>
          <p:cNvPr name="Group 90" id="90"/>
          <p:cNvGrpSpPr/>
          <p:nvPr/>
        </p:nvGrpSpPr>
        <p:grpSpPr>
          <a:xfrm rot="0">
            <a:off x="12893040" y="5897880"/>
            <a:ext cx="4457700" cy="685800"/>
            <a:chOff x="0" y="0"/>
            <a:chExt cx="5943600" cy="914400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5943600" cy="914400"/>
            </a:xfrm>
            <a:custGeom>
              <a:avLst/>
              <a:gdLst/>
              <a:ahLst/>
              <a:cxnLst/>
              <a:rect r="r" b="b" t="t" l="l"/>
              <a:pathLst>
                <a:path h="914400" w="5943600">
                  <a:moveTo>
                    <a:pt x="0" y="0"/>
                  </a:moveTo>
                  <a:lnTo>
                    <a:pt x="5943600" y="0"/>
                  </a:lnTo>
                  <a:lnTo>
                    <a:pt x="59436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6652" r="0" b="-76652"/>
              </a:stretch>
            </a:blipFill>
          </p:spPr>
        </p:sp>
        <p:sp>
          <p:nvSpPr>
            <p:cNvPr name="TextBox 92" id="92"/>
            <p:cNvSpPr txBox="true"/>
            <p:nvPr/>
          </p:nvSpPr>
          <p:spPr>
            <a:xfrm>
              <a:off x="0" y="-19050"/>
              <a:ext cx="5943600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2B2B2B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User Interface Module</a:t>
              </a:r>
            </a:p>
          </p:txBody>
        </p:sp>
      </p:grpSp>
      <p:grpSp>
        <p:nvGrpSpPr>
          <p:cNvPr name="Group 93" id="93"/>
          <p:cNvGrpSpPr/>
          <p:nvPr/>
        </p:nvGrpSpPr>
        <p:grpSpPr>
          <a:xfrm rot="0">
            <a:off x="12344400" y="6720840"/>
            <a:ext cx="4869180" cy="411480"/>
            <a:chOff x="0" y="0"/>
            <a:chExt cx="6492240" cy="548640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6492240" cy="548640"/>
            </a:xfrm>
            <a:custGeom>
              <a:avLst/>
              <a:gdLst/>
              <a:ahLst/>
              <a:cxnLst/>
              <a:rect r="r" b="b" t="t" l="l"/>
              <a:pathLst>
                <a:path h="548640" w="6492240">
                  <a:moveTo>
                    <a:pt x="0" y="0"/>
                  </a:moveTo>
                  <a:lnTo>
                    <a:pt x="6492240" y="0"/>
                  </a:lnTo>
                  <a:lnTo>
                    <a:pt x="649224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0572" r="0" b="-180572"/>
              </a:stretch>
            </a:blipFill>
          </p:spPr>
        </p:sp>
        <p:sp>
          <p:nvSpPr>
            <p:cNvPr name="TextBox 95" id="95"/>
            <p:cNvSpPr txBox="true"/>
            <p:nvPr/>
          </p:nvSpPr>
          <p:spPr>
            <a:xfrm>
              <a:off x="0" y="-19050"/>
              <a:ext cx="649224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i="true">
                  <a:solidFill>
                    <a:srgbClr val="028090"/>
                  </a:solidFill>
                  <a:latin typeface="Times New Roman Italics"/>
                  <a:ea typeface="Times New Roman Italics"/>
                  <a:cs typeface="Times New Roman Italics"/>
                  <a:sym typeface="Times New Roman Italics"/>
                </a:rPr>
                <a:t>React + Vite</a:t>
              </a:r>
            </a:p>
          </p:txBody>
        </p:sp>
      </p:grpSp>
      <p:sp>
        <p:nvSpPr>
          <p:cNvPr name="TextBox 96" id="96"/>
          <p:cNvSpPr txBox="true"/>
          <p:nvPr/>
        </p:nvSpPr>
        <p:spPr>
          <a:xfrm rot="0">
            <a:off x="12344400" y="7250430"/>
            <a:ext cx="4869180" cy="1870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4A4A4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Registration form, SOS board, donor cards and search filters.</a:t>
            </a:r>
          </a:p>
        </p:txBody>
      </p:sp>
      <p:grpSp>
        <p:nvGrpSpPr>
          <p:cNvPr name="Group 97" id="97"/>
          <p:cNvGrpSpPr/>
          <p:nvPr/>
        </p:nvGrpSpPr>
        <p:grpSpPr>
          <a:xfrm rot="0">
            <a:off x="685800" y="9532620"/>
            <a:ext cx="16870680" cy="411480"/>
            <a:chOff x="0" y="0"/>
            <a:chExt cx="22494240" cy="548640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22494239" cy="548640"/>
            </a:xfrm>
            <a:custGeom>
              <a:avLst/>
              <a:gdLst/>
              <a:ahLst/>
              <a:cxnLst/>
              <a:rect r="r" b="b" t="t" l="l"/>
              <a:pathLst>
                <a:path h="548640" w="22494239">
                  <a:moveTo>
                    <a:pt x="0" y="0"/>
                  </a:moveTo>
                  <a:lnTo>
                    <a:pt x="22494239" y="0"/>
                  </a:lnTo>
                  <a:lnTo>
                    <a:pt x="22494239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48886" r="0" b="-748886"/>
              </a:stretch>
            </a:blipFill>
          </p:spPr>
        </p:sp>
        <p:sp>
          <p:nvSpPr>
            <p:cNvPr name="TextBox 99" id="99"/>
            <p:cNvSpPr txBox="true"/>
            <p:nvPr/>
          </p:nvSpPr>
          <p:spPr>
            <a:xfrm>
              <a:off x="0" y="-19050"/>
              <a:ext cx="2249424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i="true">
                  <a:solidFill>
                    <a:srgbClr val="028090"/>
                  </a:solidFill>
                  <a:latin typeface="Times New Roman Italics"/>
                  <a:ea typeface="Times New Roman Italics"/>
                  <a:cs typeface="Times New Roman Italics"/>
                  <a:sym typeface="Times New Roman Italics"/>
                </a:rPr>
                <a:t>Each module can be built, tested and explained independently — following the Single Responsibility Principle.</a:t>
              </a:r>
            </a:p>
          </p:txBody>
        </p:sp>
      </p:grp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7144" y="102584"/>
            <a:ext cx="18301830" cy="864680"/>
            <a:chOff x="0" y="0"/>
            <a:chExt cx="24402440" cy="115290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152906"/>
            </a:xfrm>
            <a:custGeom>
              <a:avLst/>
              <a:gdLst/>
              <a:ahLst/>
              <a:cxnLst/>
              <a:rect r="r" b="b" t="t" l="l"/>
              <a:pathLst>
                <a:path h="1152906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152906"/>
                  </a:lnTo>
                  <a:lnTo>
                    <a:pt x="0" y="1152906"/>
                  </a:lnTo>
                  <a:close/>
                </a:path>
              </a:pathLst>
            </a:custGeom>
            <a:solidFill>
              <a:srgbClr val="953734"/>
            </a:solidFill>
            <a:ln w="14288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411480" y="109728"/>
            <a:ext cx="17464583" cy="850392"/>
            <a:chOff x="0" y="0"/>
            <a:chExt cx="23286110" cy="113385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3286110" cy="1133856"/>
            </a:xfrm>
            <a:custGeom>
              <a:avLst/>
              <a:gdLst/>
              <a:ahLst/>
              <a:cxnLst/>
              <a:rect r="r" b="b" t="t" l="l"/>
              <a:pathLst>
                <a:path h="1133856" w="23286110">
                  <a:moveTo>
                    <a:pt x="0" y="0"/>
                  </a:moveTo>
                  <a:lnTo>
                    <a:pt x="23286110" y="0"/>
                  </a:lnTo>
                  <a:lnTo>
                    <a:pt x="2328611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0166" r="0" b="-35016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23286110" cy="11529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60"/>
                </a:lnSpc>
              </a:pPr>
              <a:r>
                <a:rPr lang="en-US" sz="3300" b="true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Technology Stack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7323308" y="9738360"/>
            <a:ext cx="685800" cy="411480"/>
            <a:chOff x="0" y="0"/>
            <a:chExt cx="914400" cy="5486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91440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99999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20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85800" y="1165860"/>
            <a:ext cx="16870680" cy="617220"/>
            <a:chOff x="0" y="0"/>
            <a:chExt cx="22494240" cy="82296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2494239" cy="822960"/>
            </a:xfrm>
            <a:custGeom>
              <a:avLst/>
              <a:gdLst/>
              <a:ahLst/>
              <a:cxnLst/>
              <a:rect r="r" b="b" t="t" l="l"/>
              <a:pathLst>
                <a:path h="822960" w="22494239">
                  <a:moveTo>
                    <a:pt x="0" y="0"/>
                  </a:moveTo>
                  <a:lnTo>
                    <a:pt x="22494239" y="0"/>
                  </a:lnTo>
                  <a:lnTo>
                    <a:pt x="22494239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2591" r="0" b="-482591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22494240" cy="8420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2B2B2B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The stack is deliberately minimal — only the technologies genuinely required, keeping every dependency explainable.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678656" y="1981676"/>
            <a:ext cx="4060508" cy="590360"/>
            <a:chOff x="0" y="0"/>
            <a:chExt cx="5414010" cy="78714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414010" cy="787146"/>
            </a:xfrm>
            <a:custGeom>
              <a:avLst/>
              <a:gdLst/>
              <a:ahLst/>
              <a:cxnLst/>
              <a:rect r="r" b="b" t="t" l="l"/>
              <a:pathLst>
                <a:path h="787146" w="5414010">
                  <a:moveTo>
                    <a:pt x="0" y="0"/>
                  </a:moveTo>
                  <a:lnTo>
                    <a:pt x="5414010" y="0"/>
                  </a:lnTo>
                  <a:lnTo>
                    <a:pt x="5414010" y="787146"/>
                  </a:lnTo>
                  <a:lnTo>
                    <a:pt x="0" y="787146"/>
                  </a:lnTo>
                  <a:close/>
                </a:path>
              </a:pathLst>
            </a:custGeom>
            <a:solidFill>
              <a:srgbClr val="028090"/>
            </a:solidFill>
            <a:ln w="14288" cap="sq">
              <a:solidFill>
                <a:srgbClr val="028090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754380" y="1988820"/>
            <a:ext cx="3909060" cy="576072"/>
            <a:chOff x="0" y="0"/>
            <a:chExt cx="5212080" cy="76809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212080" cy="768096"/>
            </a:xfrm>
            <a:custGeom>
              <a:avLst/>
              <a:gdLst/>
              <a:ahLst/>
              <a:cxnLst/>
              <a:rect r="r" b="b" t="t" l="l"/>
              <a:pathLst>
                <a:path h="768096" w="5212080">
                  <a:moveTo>
                    <a:pt x="0" y="0"/>
                  </a:moveTo>
                  <a:lnTo>
                    <a:pt x="5212080" y="0"/>
                  </a:lnTo>
                  <a:lnTo>
                    <a:pt x="521208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2219" r="0" b="-82219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19050"/>
              <a:ext cx="5212080" cy="7871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FRONTEND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678656" y="2667476"/>
            <a:ext cx="4060508" cy="1084136"/>
            <a:chOff x="0" y="0"/>
            <a:chExt cx="5414010" cy="1445514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414010" cy="1445514"/>
            </a:xfrm>
            <a:custGeom>
              <a:avLst/>
              <a:gdLst/>
              <a:ahLst/>
              <a:cxnLst/>
              <a:rect r="r" b="b" t="t" l="l"/>
              <a:pathLst>
                <a:path h="1445514" w="5414010">
                  <a:moveTo>
                    <a:pt x="0" y="0"/>
                  </a:moveTo>
                  <a:lnTo>
                    <a:pt x="5414010" y="0"/>
                  </a:lnTo>
                  <a:lnTo>
                    <a:pt x="5414010" y="1445514"/>
                  </a:lnTo>
                  <a:lnTo>
                    <a:pt x="0" y="1445514"/>
                  </a:lnTo>
                  <a:close/>
                </a:path>
              </a:pathLst>
            </a:custGeom>
            <a:solidFill>
              <a:srgbClr val="F7EDEA"/>
            </a:solidFill>
            <a:ln w="14288" cap="sq">
              <a:solidFill>
                <a:srgbClr val="E3CFC9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850392" y="2756916"/>
            <a:ext cx="3703320" cy="411480"/>
            <a:chOff x="0" y="0"/>
            <a:chExt cx="4937760" cy="54864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937760" cy="548640"/>
            </a:xfrm>
            <a:custGeom>
              <a:avLst/>
              <a:gdLst/>
              <a:ahLst/>
              <a:cxnLst/>
              <a:rect r="r" b="b" t="t" l="l"/>
              <a:pathLst>
                <a:path h="548640" w="4937760">
                  <a:moveTo>
                    <a:pt x="0" y="0"/>
                  </a:moveTo>
                  <a:lnTo>
                    <a:pt x="4937760" y="0"/>
                  </a:lnTo>
                  <a:lnTo>
                    <a:pt x="493776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5365" r="0" b="-125365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19050"/>
              <a:ext cx="493776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02809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React.js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850392" y="3195828"/>
            <a:ext cx="3703320" cy="466344"/>
            <a:chOff x="0" y="0"/>
            <a:chExt cx="4937760" cy="621792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937760" cy="621792"/>
            </a:xfrm>
            <a:custGeom>
              <a:avLst/>
              <a:gdLst/>
              <a:ahLst/>
              <a:cxnLst/>
              <a:rect r="r" b="b" t="t" l="l"/>
              <a:pathLst>
                <a:path h="621792" w="4937760">
                  <a:moveTo>
                    <a:pt x="0" y="0"/>
                  </a:moveTo>
                  <a:lnTo>
                    <a:pt x="4937760" y="0"/>
                  </a:lnTo>
                  <a:lnTo>
                    <a:pt x="493776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4734" r="0" b="-104734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19050"/>
              <a:ext cx="4937760" cy="6408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4A4A4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Component-based UI library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678656" y="3833336"/>
            <a:ext cx="4060508" cy="1084136"/>
            <a:chOff x="0" y="0"/>
            <a:chExt cx="5414010" cy="1445514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414010" cy="1445514"/>
            </a:xfrm>
            <a:custGeom>
              <a:avLst/>
              <a:gdLst/>
              <a:ahLst/>
              <a:cxnLst/>
              <a:rect r="r" b="b" t="t" l="l"/>
              <a:pathLst>
                <a:path h="1445514" w="5414010">
                  <a:moveTo>
                    <a:pt x="0" y="0"/>
                  </a:moveTo>
                  <a:lnTo>
                    <a:pt x="5414010" y="0"/>
                  </a:lnTo>
                  <a:lnTo>
                    <a:pt x="5414010" y="1445514"/>
                  </a:lnTo>
                  <a:lnTo>
                    <a:pt x="0" y="1445514"/>
                  </a:lnTo>
                  <a:close/>
                </a:path>
              </a:pathLst>
            </a:custGeom>
            <a:solidFill>
              <a:srgbClr val="F7EDEA"/>
            </a:solidFill>
            <a:ln w="14288" cap="sq">
              <a:solidFill>
                <a:srgbClr val="E3CFC9"/>
              </a:solidFill>
              <a:prstDash val="solid"/>
              <a:miter/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850392" y="3922776"/>
            <a:ext cx="3703320" cy="411480"/>
            <a:chOff x="0" y="0"/>
            <a:chExt cx="4937760" cy="54864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4937760" cy="548640"/>
            </a:xfrm>
            <a:custGeom>
              <a:avLst/>
              <a:gdLst/>
              <a:ahLst/>
              <a:cxnLst/>
              <a:rect r="r" b="b" t="t" l="l"/>
              <a:pathLst>
                <a:path h="548640" w="4937760">
                  <a:moveTo>
                    <a:pt x="0" y="0"/>
                  </a:moveTo>
                  <a:lnTo>
                    <a:pt x="4937760" y="0"/>
                  </a:lnTo>
                  <a:lnTo>
                    <a:pt x="493776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5365" r="0" b="-125365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19050"/>
              <a:ext cx="493776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02809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Vite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850392" y="4361688"/>
            <a:ext cx="3703320" cy="466344"/>
            <a:chOff x="0" y="0"/>
            <a:chExt cx="4937760" cy="621792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4937760" cy="621792"/>
            </a:xfrm>
            <a:custGeom>
              <a:avLst/>
              <a:gdLst/>
              <a:ahLst/>
              <a:cxnLst/>
              <a:rect r="r" b="b" t="t" l="l"/>
              <a:pathLst>
                <a:path h="621792" w="4937760">
                  <a:moveTo>
                    <a:pt x="0" y="0"/>
                  </a:moveTo>
                  <a:lnTo>
                    <a:pt x="4937760" y="0"/>
                  </a:lnTo>
                  <a:lnTo>
                    <a:pt x="493776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4734" r="0" b="-104734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19050"/>
              <a:ext cx="4937760" cy="6408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4A4A4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Fast dev server and build tool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678656" y="4999196"/>
            <a:ext cx="4060508" cy="1084136"/>
            <a:chOff x="0" y="0"/>
            <a:chExt cx="5414010" cy="1445514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5414010" cy="1445514"/>
            </a:xfrm>
            <a:custGeom>
              <a:avLst/>
              <a:gdLst/>
              <a:ahLst/>
              <a:cxnLst/>
              <a:rect r="r" b="b" t="t" l="l"/>
              <a:pathLst>
                <a:path h="1445514" w="5414010">
                  <a:moveTo>
                    <a:pt x="0" y="0"/>
                  </a:moveTo>
                  <a:lnTo>
                    <a:pt x="5414010" y="0"/>
                  </a:lnTo>
                  <a:lnTo>
                    <a:pt x="5414010" y="1445514"/>
                  </a:lnTo>
                  <a:lnTo>
                    <a:pt x="0" y="1445514"/>
                  </a:lnTo>
                  <a:close/>
                </a:path>
              </a:pathLst>
            </a:custGeom>
            <a:solidFill>
              <a:srgbClr val="F7EDEA"/>
            </a:solidFill>
            <a:ln w="14288" cap="sq">
              <a:solidFill>
                <a:srgbClr val="E3CFC9"/>
              </a:solidFill>
              <a:prstDash val="solid"/>
              <a:miter/>
            </a:ln>
          </p:spPr>
        </p:sp>
      </p:grpSp>
      <p:grpSp>
        <p:nvGrpSpPr>
          <p:cNvPr name="Group 36" id="36"/>
          <p:cNvGrpSpPr/>
          <p:nvPr/>
        </p:nvGrpSpPr>
        <p:grpSpPr>
          <a:xfrm rot="0">
            <a:off x="850392" y="5088636"/>
            <a:ext cx="3703320" cy="411480"/>
            <a:chOff x="0" y="0"/>
            <a:chExt cx="4937760" cy="54864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4937760" cy="548640"/>
            </a:xfrm>
            <a:custGeom>
              <a:avLst/>
              <a:gdLst/>
              <a:ahLst/>
              <a:cxnLst/>
              <a:rect r="r" b="b" t="t" l="l"/>
              <a:pathLst>
                <a:path h="548640" w="4937760">
                  <a:moveTo>
                    <a:pt x="0" y="0"/>
                  </a:moveTo>
                  <a:lnTo>
                    <a:pt x="4937760" y="0"/>
                  </a:lnTo>
                  <a:lnTo>
                    <a:pt x="493776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5365" r="0" b="-125365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19050"/>
              <a:ext cx="493776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02809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React Router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850392" y="5527548"/>
            <a:ext cx="3703320" cy="466344"/>
            <a:chOff x="0" y="0"/>
            <a:chExt cx="4937760" cy="621792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4937760" cy="621792"/>
            </a:xfrm>
            <a:custGeom>
              <a:avLst/>
              <a:gdLst/>
              <a:ahLst/>
              <a:cxnLst/>
              <a:rect r="r" b="b" t="t" l="l"/>
              <a:pathLst>
                <a:path h="621792" w="4937760">
                  <a:moveTo>
                    <a:pt x="0" y="0"/>
                  </a:moveTo>
                  <a:lnTo>
                    <a:pt x="4937760" y="0"/>
                  </a:lnTo>
                  <a:lnTo>
                    <a:pt x="493776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4734" r="0" b="-104734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19050"/>
              <a:ext cx="4937760" cy="6408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4A4A4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Client-side page navigation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678656" y="6165056"/>
            <a:ext cx="4060508" cy="1084136"/>
            <a:chOff x="0" y="0"/>
            <a:chExt cx="5414010" cy="1445514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5414010" cy="1445514"/>
            </a:xfrm>
            <a:custGeom>
              <a:avLst/>
              <a:gdLst/>
              <a:ahLst/>
              <a:cxnLst/>
              <a:rect r="r" b="b" t="t" l="l"/>
              <a:pathLst>
                <a:path h="1445514" w="5414010">
                  <a:moveTo>
                    <a:pt x="0" y="0"/>
                  </a:moveTo>
                  <a:lnTo>
                    <a:pt x="5414010" y="0"/>
                  </a:lnTo>
                  <a:lnTo>
                    <a:pt x="5414010" y="1445514"/>
                  </a:lnTo>
                  <a:lnTo>
                    <a:pt x="0" y="1445514"/>
                  </a:lnTo>
                  <a:close/>
                </a:path>
              </a:pathLst>
            </a:custGeom>
            <a:solidFill>
              <a:srgbClr val="F7EDEA"/>
            </a:solidFill>
            <a:ln w="14288" cap="sq">
              <a:solidFill>
                <a:srgbClr val="E3CFC9"/>
              </a:solidFill>
              <a:prstDash val="solid"/>
              <a:miter/>
            </a:ln>
          </p:spPr>
        </p:sp>
      </p:grpSp>
      <p:grpSp>
        <p:nvGrpSpPr>
          <p:cNvPr name="Group 44" id="44"/>
          <p:cNvGrpSpPr/>
          <p:nvPr/>
        </p:nvGrpSpPr>
        <p:grpSpPr>
          <a:xfrm rot="0">
            <a:off x="850392" y="6254496"/>
            <a:ext cx="3703320" cy="411480"/>
            <a:chOff x="0" y="0"/>
            <a:chExt cx="4937760" cy="54864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4937760" cy="548640"/>
            </a:xfrm>
            <a:custGeom>
              <a:avLst/>
              <a:gdLst/>
              <a:ahLst/>
              <a:cxnLst/>
              <a:rect r="r" b="b" t="t" l="l"/>
              <a:pathLst>
                <a:path h="548640" w="4937760">
                  <a:moveTo>
                    <a:pt x="0" y="0"/>
                  </a:moveTo>
                  <a:lnTo>
                    <a:pt x="4937760" y="0"/>
                  </a:lnTo>
                  <a:lnTo>
                    <a:pt x="493776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5365" r="0" b="-125365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19050"/>
              <a:ext cx="493776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02809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Axios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850392" y="6693408"/>
            <a:ext cx="3703320" cy="466344"/>
            <a:chOff x="0" y="0"/>
            <a:chExt cx="4937760" cy="621792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4937760" cy="621792"/>
            </a:xfrm>
            <a:custGeom>
              <a:avLst/>
              <a:gdLst/>
              <a:ahLst/>
              <a:cxnLst/>
              <a:rect r="r" b="b" t="t" l="l"/>
              <a:pathLst>
                <a:path h="621792" w="4937760">
                  <a:moveTo>
                    <a:pt x="0" y="0"/>
                  </a:moveTo>
                  <a:lnTo>
                    <a:pt x="4937760" y="0"/>
                  </a:lnTo>
                  <a:lnTo>
                    <a:pt x="493776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4734" r="0" b="-104734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19050"/>
              <a:ext cx="4937760" cy="6408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4A4A4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HTTP requests to the backend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678656" y="7330916"/>
            <a:ext cx="4060508" cy="1084136"/>
            <a:chOff x="0" y="0"/>
            <a:chExt cx="5414010" cy="1445514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5414010" cy="1445514"/>
            </a:xfrm>
            <a:custGeom>
              <a:avLst/>
              <a:gdLst/>
              <a:ahLst/>
              <a:cxnLst/>
              <a:rect r="r" b="b" t="t" l="l"/>
              <a:pathLst>
                <a:path h="1445514" w="5414010">
                  <a:moveTo>
                    <a:pt x="0" y="0"/>
                  </a:moveTo>
                  <a:lnTo>
                    <a:pt x="5414010" y="0"/>
                  </a:lnTo>
                  <a:lnTo>
                    <a:pt x="5414010" y="1445514"/>
                  </a:lnTo>
                  <a:lnTo>
                    <a:pt x="0" y="1445514"/>
                  </a:lnTo>
                  <a:close/>
                </a:path>
              </a:pathLst>
            </a:custGeom>
            <a:solidFill>
              <a:srgbClr val="F7EDEA"/>
            </a:solidFill>
            <a:ln w="14288" cap="sq">
              <a:solidFill>
                <a:srgbClr val="E3CFC9"/>
              </a:solidFill>
              <a:prstDash val="solid"/>
              <a:miter/>
            </a:ln>
          </p:spPr>
        </p:sp>
      </p:grpSp>
      <p:grpSp>
        <p:nvGrpSpPr>
          <p:cNvPr name="Group 52" id="52"/>
          <p:cNvGrpSpPr/>
          <p:nvPr/>
        </p:nvGrpSpPr>
        <p:grpSpPr>
          <a:xfrm rot="0">
            <a:off x="850392" y="7420356"/>
            <a:ext cx="3703320" cy="411480"/>
            <a:chOff x="0" y="0"/>
            <a:chExt cx="4937760" cy="54864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4937760" cy="548640"/>
            </a:xfrm>
            <a:custGeom>
              <a:avLst/>
              <a:gdLst/>
              <a:ahLst/>
              <a:cxnLst/>
              <a:rect r="r" b="b" t="t" l="l"/>
              <a:pathLst>
                <a:path h="548640" w="4937760">
                  <a:moveTo>
                    <a:pt x="0" y="0"/>
                  </a:moveTo>
                  <a:lnTo>
                    <a:pt x="4937760" y="0"/>
                  </a:lnTo>
                  <a:lnTo>
                    <a:pt x="493776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5365" r="0" b="-125365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19050"/>
              <a:ext cx="493776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02809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Plain CSS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850392" y="7859268"/>
            <a:ext cx="3703320" cy="466344"/>
            <a:chOff x="0" y="0"/>
            <a:chExt cx="4937760" cy="621792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4937760" cy="621792"/>
            </a:xfrm>
            <a:custGeom>
              <a:avLst/>
              <a:gdLst/>
              <a:ahLst/>
              <a:cxnLst/>
              <a:rect r="r" b="b" t="t" l="l"/>
              <a:pathLst>
                <a:path h="621792" w="4937760">
                  <a:moveTo>
                    <a:pt x="0" y="0"/>
                  </a:moveTo>
                  <a:lnTo>
                    <a:pt x="4937760" y="0"/>
                  </a:lnTo>
                  <a:lnTo>
                    <a:pt x="493776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4734" r="0" b="-104734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19050"/>
              <a:ext cx="4937760" cy="6408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4A4A4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Responsive mobile-first layout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4930616" y="1981676"/>
            <a:ext cx="4060508" cy="590360"/>
            <a:chOff x="0" y="0"/>
            <a:chExt cx="5414010" cy="787146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5414010" cy="787146"/>
            </a:xfrm>
            <a:custGeom>
              <a:avLst/>
              <a:gdLst/>
              <a:ahLst/>
              <a:cxnLst/>
              <a:rect r="r" b="b" t="t" l="l"/>
              <a:pathLst>
                <a:path h="787146" w="5414010">
                  <a:moveTo>
                    <a:pt x="0" y="0"/>
                  </a:moveTo>
                  <a:lnTo>
                    <a:pt x="5414010" y="0"/>
                  </a:lnTo>
                  <a:lnTo>
                    <a:pt x="5414010" y="787146"/>
                  </a:lnTo>
                  <a:lnTo>
                    <a:pt x="0" y="787146"/>
                  </a:lnTo>
                  <a:close/>
                </a:path>
              </a:pathLst>
            </a:custGeom>
            <a:solidFill>
              <a:srgbClr val="953734"/>
            </a:solidFill>
            <a:ln w="14288" cap="sq">
              <a:solidFill>
                <a:srgbClr val="953734"/>
              </a:solidFill>
              <a:prstDash val="solid"/>
              <a:miter/>
            </a:ln>
          </p:spPr>
        </p:sp>
      </p:grpSp>
      <p:grpSp>
        <p:nvGrpSpPr>
          <p:cNvPr name="Group 60" id="60"/>
          <p:cNvGrpSpPr/>
          <p:nvPr/>
        </p:nvGrpSpPr>
        <p:grpSpPr>
          <a:xfrm rot="0">
            <a:off x="5006340" y="1988820"/>
            <a:ext cx="3909060" cy="576072"/>
            <a:chOff x="0" y="0"/>
            <a:chExt cx="5212080" cy="768096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5212080" cy="768096"/>
            </a:xfrm>
            <a:custGeom>
              <a:avLst/>
              <a:gdLst/>
              <a:ahLst/>
              <a:cxnLst/>
              <a:rect r="r" b="b" t="t" l="l"/>
              <a:pathLst>
                <a:path h="768096" w="5212080">
                  <a:moveTo>
                    <a:pt x="0" y="0"/>
                  </a:moveTo>
                  <a:lnTo>
                    <a:pt x="5212080" y="0"/>
                  </a:lnTo>
                  <a:lnTo>
                    <a:pt x="521208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2219" r="0" b="-82219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19050"/>
              <a:ext cx="5212080" cy="7871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BACKEND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4930616" y="2667476"/>
            <a:ext cx="4060508" cy="1084136"/>
            <a:chOff x="0" y="0"/>
            <a:chExt cx="5414010" cy="1445514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5414010" cy="1445514"/>
            </a:xfrm>
            <a:custGeom>
              <a:avLst/>
              <a:gdLst/>
              <a:ahLst/>
              <a:cxnLst/>
              <a:rect r="r" b="b" t="t" l="l"/>
              <a:pathLst>
                <a:path h="1445514" w="5414010">
                  <a:moveTo>
                    <a:pt x="0" y="0"/>
                  </a:moveTo>
                  <a:lnTo>
                    <a:pt x="5414010" y="0"/>
                  </a:lnTo>
                  <a:lnTo>
                    <a:pt x="5414010" y="1445514"/>
                  </a:lnTo>
                  <a:lnTo>
                    <a:pt x="0" y="1445514"/>
                  </a:lnTo>
                  <a:close/>
                </a:path>
              </a:pathLst>
            </a:custGeom>
            <a:solidFill>
              <a:srgbClr val="F7EDEA"/>
            </a:solidFill>
            <a:ln w="14288" cap="sq">
              <a:solidFill>
                <a:srgbClr val="E3CFC9"/>
              </a:solidFill>
              <a:prstDash val="solid"/>
              <a:miter/>
            </a:ln>
          </p:spPr>
        </p:sp>
      </p:grpSp>
      <p:grpSp>
        <p:nvGrpSpPr>
          <p:cNvPr name="Group 65" id="65"/>
          <p:cNvGrpSpPr/>
          <p:nvPr/>
        </p:nvGrpSpPr>
        <p:grpSpPr>
          <a:xfrm rot="0">
            <a:off x="5102352" y="2756916"/>
            <a:ext cx="3703320" cy="411480"/>
            <a:chOff x="0" y="0"/>
            <a:chExt cx="4937760" cy="54864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4937760" cy="548640"/>
            </a:xfrm>
            <a:custGeom>
              <a:avLst/>
              <a:gdLst/>
              <a:ahLst/>
              <a:cxnLst/>
              <a:rect r="r" b="b" t="t" l="l"/>
              <a:pathLst>
                <a:path h="548640" w="4937760">
                  <a:moveTo>
                    <a:pt x="0" y="0"/>
                  </a:moveTo>
                  <a:lnTo>
                    <a:pt x="4937760" y="0"/>
                  </a:lnTo>
                  <a:lnTo>
                    <a:pt x="493776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5365" r="0" b="-125365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19050"/>
              <a:ext cx="493776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953734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Node.js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5102352" y="3195828"/>
            <a:ext cx="3703320" cy="466344"/>
            <a:chOff x="0" y="0"/>
            <a:chExt cx="4937760" cy="621792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4937760" cy="621792"/>
            </a:xfrm>
            <a:custGeom>
              <a:avLst/>
              <a:gdLst/>
              <a:ahLst/>
              <a:cxnLst/>
              <a:rect r="r" b="b" t="t" l="l"/>
              <a:pathLst>
                <a:path h="621792" w="4937760">
                  <a:moveTo>
                    <a:pt x="0" y="0"/>
                  </a:moveTo>
                  <a:lnTo>
                    <a:pt x="4937760" y="0"/>
                  </a:lnTo>
                  <a:lnTo>
                    <a:pt x="493776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4734" r="0" b="-104734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19050"/>
              <a:ext cx="4937760" cy="6408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4A4A4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JavaScript runtime environment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4930616" y="3833336"/>
            <a:ext cx="4060508" cy="1084136"/>
            <a:chOff x="0" y="0"/>
            <a:chExt cx="5414010" cy="1445514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5414010" cy="1445514"/>
            </a:xfrm>
            <a:custGeom>
              <a:avLst/>
              <a:gdLst/>
              <a:ahLst/>
              <a:cxnLst/>
              <a:rect r="r" b="b" t="t" l="l"/>
              <a:pathLst>
                <a:path h="1445514" w="5414010">
                  <a:moveTo>
                    <a:pt x="0" y="0"/>
                  </a:moveTo>
                  <a:lnTo>
                    <a:pt x="5414010" y="0"/>
                  </a:lnTo>
                  <a:lnTo>
                    <a:pt x="5414010" y="1445514"/>
                  </a:lnTo>
                  <a:lnTo>
                    <a:pt x="0" y="1445514"/>
                  </a:lnTo>
                  <a:close/>
                </a:path>
              </a:pathLst>
            </a:custGeom>
            <a:solidFill>
              <a:srgbClr val="F7EDEA"/>
            </a:solidFill>
            <a:ln w="14288" cap="sq">
              <a:solidFill>
                <a:srgbClr val="E3CFC9"/>
              </a:solidFill>
              <a:prstDash val="solid"/>
              <a:miter/>
            </a:ln>
          </p:spPr>
        </p:sp>
      </p:grpSp>
      <p:grpSp>
        <p:nvGrpSpPr>
          <p:cNvPr name="Group 73" id="73"/>
          <p:cNvGrpSpPr/>
          <p:nvPr/>
        </p:nvGrpSpPr>
        <p:grpSpPr>
          <a:xfrm rot="0">
            <a:off x="5102352" y="3922776"/>
            <a:ext cx="3703320" cy="411480"/>
            <a:chOff x="0" y="0"/>
            <a:chExt cx="4937760" cy="548640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4937760" cy="548640"/>
            </a:xfrm>
            <a:custGeom>
              <a:avLst/>
              <a:gdLst/>
              <a:ahLst/>
              <a:cxnLst/>
              <a:rect r="r" b="b" t="t" l="l"/>
              <a:pathLst>
                <a:path h="548640" w="4937760">
                  <a:moveTo>
                    <a:pt x="0" y="0"/>
                  </a:moveTo>
                  <a:lnTo>
                    <a:pt x="4937760" y="0"/>
                  </a:lnTo>
                  <a:lnTo>
                    <a:pt x="493776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5365" r="0" b="-125365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-19050"/>
              <a:ext cx="493776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953734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Express.js</a:t>
              </a:r>
            </a:p>
          </p:txBody>
        </p:sp>
      </p:grpSp>
      <p:grpSp>
        <p:nvGrpSpPr>
          <p:cNvPr name="Group 76" id="76"/>
          <p:cNvGrpSpPr/>
          <p:nvPr/>
        </p:nvGrpSpPr>
        <p:grpSpPr>
          <a:xfrm rot="0">
            <a:off x="5102352" y="4361688"/>
            <a:ext cx="3703320" cy="466344"/>
            <a:chOff x="0" y="0"/>
            <a:chExt cx="4937760" cy="621792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4937760" cy="621792"/>
            </a:xfrm>
            <a:custGeom>
              <a:avLst/>
              <a:gdLst/>
              <a:ahLst/>
              <a:cxnLst/>
              <a:rect r="r" b="b" t="t" l="l"/>
              <a:pathLst>
                <a:path h="621792" w="4937760">
                  <a:moveTo>
                    <a:pt x="0" y="0"/>
                  </a:moveTo>
                  <a:lnTo>
                    <a:pt x="4937760" y="0"/>
                  </a:lnTo>
                  <a:lnTo>
                    <a:pt x="493776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4734" r="0" b="-104734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-19050"/>
              <a:ext cx="4937760" cy="6408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4A4A4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REST API and routing framework</a:t>
              </a:r>
            </a:p>
          </p:txBody>
        </p:sp>
      </p:grpSp>
      <p:grpSp>
        <p:nvGrpSpPr>
          <p:cNvPr name="Group 79" id="79"/>
          <p:cNvGrpSpPr/>
          <p:nvPr/>
        </p:nvGrpSpPr>
        <p:grpSpPr>
          <a:xfrm rot="0">
            <a:off x="4930616" y="4999196"/>
            <a:ext cx="4060508" cy="1084136"/>
            <a:chOff x="0" y="0"/>
            <a:chExt cx="5414010" cy="1445514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5414010" cy="1445514"/>
            </a:xfrm>
            <a:custGeom>
              <a:avLst/>
              <a:gdLst/>
              <a:ahLst/>
              <a:cxnLst/>
              <a:rect r="r" b="b" t="t" l="l"/>
              <a:pathLst>
                <a:path h="1445514" w="5414010">
                  <a:moveTo>
                    <a:pt x="0" y="0"/>
                  </a:moveTo>
                  <a:lnTo>
                    <a:pt x="5414010" y="0"/>
                  </a:lnTo>
                  <a:lnTo>
                    <a:pt x="5414010" y="1445514"/>
                  </a:lnTo>
                  <a:lnTo>
                    <a:pt x="0" y="1445514"/>
                  </a:lnTo>
                  <a:close/>
                </a:path>
              </a:pathLst>
            </a:custGeom>
            <a:solidFill>
              <a:srgbClr val="F7EDEA"/>
            </a:solidFill>
            <a:ln w="14288" cap="sq">
              <a:solidFill>
                <a:srgbClr val="E3CFC9"/>
              </a:solidFill>
              <a:prstDash val="solid"/>
              <a:miter/>
            </a:ln>
          </p:spPr>
        </p:sp>
      </p:grpSp>
      <p:grpSp>
        <p:nvGrpSpPr>
          <p:cNvPr name="Group 81" id="81"/>
          <p:cNvGrpSpPr/>
          <p:nvPr/>
        </p:nvGrpSpPr>
        <p:grpSpPr>
          <a:xfrm rot="0">
            <a:off x="5102352" y="5088636"/>
            <a:ext cx="3703320" cy="411480"/>
            <a:chOff x="0" y="0"/>
            <a:chExt cx="4937760" cy="548640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4937760" cy="548640"/>
            </a:xfrm>
            <a:custGeom>
              <a:avLst/>
              <a:gdLst/>
              <a:ahLst/>
              <a:cxnLst/>
              <a:rect r="r" b="b" t="t" l="l"/>
              <a:pathLst>
                <a:path h="548640" w="4937760">
                  <a:moveTo>
                    <a:pt x="0" y="0"/>
                  </a:moveTo>
                  <a:lnTo>
                    <a:pt x="4937760" y="0"/>
                  </a:lnTo>
                  <a:lnTo>
                    <a:pt x="493776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5365" r="0" b="-125365"/>
              </a:stretch>
            </a:blipFill>
          </p:spPr>
        </p:sp>
        <p:sp>
          <p:nvSpPr>
            <p:cNvPr name="TextBox 83" id="83"/>
            <p:cNvSpPr txBox="true"/>
            <p:nvPr/>
          </p:nvSpPr>
          <p:spPr>
            <a:xfrm>
              <a:off x="0" y="-19050"/>
              <a:ext cx="493776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953734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JWT</a:t>
              </a:r>
            </a:p>
          </p:txBody>
        </p:sp>
      </p:grpSp>
      <p:grpSp>
        <p:nvGrpSpPr>
          <p:cNvPr name="Group 84" id="84"/>
          <p:cNvGrpSpPr/>
          <p:nvPr/>
        </p:nvGrpSpPr>
        <p:grpSpPr>
          <a:xfrm rot="0">
            <a:off x="5102352" y="5527548"/>
            <a:ext cx="3703320" cy="466344"/>
            <a:chOff x="0" y="0"/>
            <a:chExt cx="4937760" cy="621792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4937760" cy="621792"/>
            </a:xfrm>
            <a:custGeom>
              <a:avLst/>
              <a:gdLst/>
              <a:ahLst/>
              <a:cxnLst/>
              <a:rect r="r" b="b" t="t" l="l"/>
              <a:pathLst>
                <a:path h="621792" w="4937760">
                  <a:moveTo>
                    <a:pt x="0" y="0"/>
                  </a:moveTo>
                  <a:lnTo>
                    <a:pt x="4937760" y="0"/>
                  </a:lnTo>
                  <a:lnTo>
                    <a:pt x="493776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4734" r="0" b="-104734"/>
              </a:stretch>
            </a:blipFill>
          </p:spPr>
        </p:sp>
        <p:sp>
          <p:nvSpPr>
            <p:cNvPr name="TextBox 86" id="86"/>
            <p:cNvSpPr txBox="true"/>
            <p:nvPr/>
          </p:nvSpPr>
          <p:spPr>
            <a:xfrm>
              <a:off x="0" y="-19050"/>
              <a:ext cx="4937760" cy="6408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4A4A4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Token-based authentication</a:t>
              </a:r>
            </a:p>
          </p:txBody>
        </p:sp>
      </p:grpSp>
      <p:grpSp>
        <p:nvGrpSpPr>
          <p:cNvPr name="Group 87" id="87"/>
          <p:cNvGrpSpPr/>
          <p:nvPr/>
        </p:nvGrpSpPr>
        <p:grpSpPr>
          <a:xfrm rot="0">
            <a:off x="4930616" y="6165056"/>
            <a:ext cx="4060508" cy="1084136"/>
            <a:chOff x="0" y="0"/>
            <a:chExt cx="5414010" cy="1445514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5414010" cy="1445514"/>
            </a:xfrm>
            <a:custGeom>
              <a:avLst/>
              <a:gdLst/>
              <a:ahLst/>
              <a:cxnLst/>
              <a:rect r="r" b="b" t="t" l="l"/>
              <a:pathLst>
                <a:path h="1445514" w="5414010">
                  <a:moveTo>
                    <a:pt x="0" y="0"/>
                  </a:moveTo>
                  <a:lnTo>
                    <a:pt x="5414010" y="0"/>
                  </a:lnTo>
                  <a:lnTo>
                    <a:pt x="5414010" y="1445514"/>
                  </a:lnTo>
                  <a:lnTo>
                    <a:pt x="0" y="1445514"/>
                  </a:lnTo>
                  <a:close/>
                </a:path>
              </a:pathLst>
            </a:custGeom>
            <a:solidFill>
              <a:srgbClr val="F7EDEA"/>
            </a:solidFill>
            <a:ln w="14288" cap="sq">
              <a:solidFill>
                <a:srgbClr val="E3CFC9"/>
              </a:solidFill>
              <a:prstDash val="solid"/>
              <a:miter/>
            </a:ln>
          </p:spPr>
        </p:sp>
      </p:grpSp>
      <p:grpSp>
        <p:nvGrpSpPr>
          <p:cNvPr name="Group 89" id="89"/>
          <p:cNvGrpSpPr/>
          <p:nvPr/>
        </p:nvGrpSpPr>
        <p:grpSpPr>
          <a:xfrm rot="0">
            <a:off x="5102352" y="6254496"/>
            <a:ext cx="3703320" cy="411480"/>
            <a:chOff x="0" y="0"/>
            <a:chExt cx="4937760" cy="548640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4937760" cy="548640"/>
            </a:xfrm>
            <a:custGeom>
              <a:avLst/>
              <a:gdLst/>
              <a:ahLst/>
              <a:cxnLst/>
              <a:rect r="r" b="b" t="t" l="l"/>
              <a:pathLst>
                <a:path h="548640" w="4937760">
                  <a:moveTo>
                    <a:pt x="0" y="0"/>
                  </a:moveTo>
                  <a:lnTo>
                    <a:pt x="4937760" y="0"/>
                  </a:lnTo>
                  <a:lnTo>
                    <a:pt x="493776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5365" r="0" b="-125365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-19050"/>
              <a:ext cx="493776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953734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bcrypt</a:t>
              </a:r>
            </a:p>
          </p:txBody>
        </p:sp>
      </p:grpSp>
      <p:grpSp>
        <p:nvGrpSpPr>
          <p:cNvPr name="Group 92" id="92"/>
          <p:cNvGrpSpPr/>
          <p:nvPr/>
        </p:nvGrpSpPr>
        <p:grpSpPr>
          <a:xfrm rot="0">
            <a:off x="5102352" y="6693408"/>
            <a:ext cx="3703320" cy="466344"/>
            <a:chOff x="0" y="0"/>
            <a:chExt cx="4937760" cy="621792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4937760" cy="621792"/>
            </a:xfrm>
            <a:custGeom>
              <a:avLst/>
              <a:gdLst/>
              <a:ahLst/>
              <a:cxnLst/>
              <a:rect r="r" b="b" t="t" l="l"/>
              <a:pathLst>
                <a:path h="621792" w="4937760">
                  <a:moveTo>
                    <a:pt x="0" y="0"/>
                  </a:moveTo>
                  <a:lnTo>
                    <a:pt x="4937760" y="0"/>
                  </a:lnTo>
                  <a:lnTo>
                    <a:pt x="493776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4734" r="0" b="-104734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-19050"/>
              <a:ext cx="4937760" cy="6408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4A4A4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Password hashing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4930616" y="7330916"/>
            <a:ext cx="4060508" cy="1084136"/>
            <a:chOff x="0" y="0"/>
            <a:chExt cx="5414010" cy="1445514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5414010" cy="1445514"/>
            </a:xfrm>
            <a:custGeom>
              <a:avLst/>
              <a:gdLst/>
              <a:ahLst/>
              <a:cxnLst/>
              <a:rect r="r" b="b" t="t" l="l"/>
              <a:pathLst>
                <a:path h="1445514" w="5414010">
                  <a:moveTo>
                    <a:pt x="0" y="0"/>
                  </a:moveTo>
                  <a:lnTo>
                    <a:pt x="5414010" y="0"/>
                  </a:lnTo>
                  <a:lnTo>
                    <a:pt x="5414010" y="1445514"/>
                  </a:lnTo>
                  <a:lnTo>
                    <a:pt x="0" y="1445514"/>
                  </a:lnTo>
                  <a:close/>
                </a:path>
              </a:pathLst>
            </a:custGeom>
            <a:solidFill>
              <a:srgbClr val="F7EDEA"/>
            </a:solidFill>
            <a:ln w="14288" cap="sq">
              <a:solidFill>
                <a:srgbClr val="E3CFC9"/>
              </a:solidFill>
              <a:prstDash val="solid"/>
              <a:miter/>
            </a:ln>
          </p:spPr>
        </p:sp>
      </p:grpSp>
      <p:grpSp>
        <p:nvGrpSpPr>
          <p:cNvPr name="Group 97" id="97"/>
          <p:cNvGrpSpPr/>
          <p:nvPr/>
        </p:nvGrpSpPr>
        <p:grpSpPr>
          <a:xfrm rot="0">
            <a:off x="5102352" y="7420356"/>
            <a:ext cx="3703320" cy="411480"/>
            <a:chOff x="0" y="0"/>
            <a:chExt cx="4937760" cy="548640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4937760" cy="548640"/>
            </a:xfrm>
            <a:custGeom>
              <a:avLst/>
              <a:gdLst/>
              <a:ahLst/>
              <a:cxnLst/>
              <a:rect r="r" b="b" t="t" l="l"/>
              <a:pathLst>
                <a:path h="548640" w="4937760">
                  <a:moveTo>
                    <a:pt x="0" y="0"/>
                  </a:moveTo>
                  <a:lnTo>
                    <a:pt x="4937760" y="0"/>
                  </a:lnTo>
                  <a:lnTo>
                    <a:pt x="493776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5365" r="0" b="-125365"/>
              </a:stretch>
            </a:blipFill>
          </p:spPr>
        </p:sp>
        <p:sp>
          <p:nvSpPr>
            <p:cNvPr name="TextBox 99" id="99"/>
            <p:cNvSpPr txBox="true"/>
            <p:nvPr/>
          </p:nvSpPr>
          <p:spPr>
            <a:xfrm>
              <a:off x="0" y="-19050"/>
              <a:ext cx="493776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953734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dotenv</a:t>
              </a:r>
            </a:p>
          </p:txBody>
        </p:sp>
      </p:grpSp>
      <p:grpSp>
        <p:nvGrpSpPr>
          <p:cNvPr name="Group 100" id="100"/>
          <p:cNvGrpSpPr/>
          <p:nvPr/>
        </p:nvGrpSpPr>
        <p:grpSpPr>
          <a:xfrm rot="0">
            <a:off x="5102352" y="7859268"/>
            <a:ext cx="3703320" cy="466344"/>
            <a:chOff x="0" y="0"/>
            <a:chExt cx="4937760" cy="621792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4937760" cy="621792"/>
            </a:xfrm>
            <a:custGeom>
              <a:avLst/>
              <a:gdLst/>
              <a:ahLst/>
              <a:cxnLst/>
              <a:rect r="r" b="b" t="t" l="l"/>
              <a:pathLst>
                <a:path h="621792" w="4937760">
                  <a:moveTo>
                    <a:pt x="0" y="0"/>
                  </a:moveTo>
                  <a:lnTo>
                    <a:pt x="4937760" y="0"/>
                  </a:lnTo>
                  <a:lnTo>
                    <a:pt x="493776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4734" r="0" b="-104734"/>
              </a:stretch>
            </a:blipFill>
          </p:spPr>
        </p:sp>
        <p:sp>
          <p:nvSpPr>
            <p:cNvPr name="TextBox 102" id="102"/>
            <p:cNvSpPr txBox="true"/>
            <p:nvPr/>
          </p:nvSpPr>
          <p:spPr>
            <a:xfrm>
              <a:off x="0" y="-19050"/>
              <a:ext cx="4937760" cy="6408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4A4A4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Loads secrets from .env</a:t>
              </a:r>
            </a:p>
          </p:txBody>
        </p:sp>
      </p:grpSp>
      <p:grpSp>
        <p:nvGrpSpPr>
          <p:cNvPr name="Group 103" id="103"/>
          <p:cNvGrpSpPr/>
          <p:nvPr/>
        </p:nvGrpSpPr>
        <p:grpSpPr>
          <a:xfrm rot="0">
            <a:off x="9182576" y="1981676"/>
            <a:ext cx="4060508" cy="590360"/>
            <a:chOff x="0" y="0"/>
            <a:chExt cx="5414010" cy="787146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5414010" cy="787146"/>
            </a:xfrm>
            <a:custGeom>
              <a:avLst/>
              <a:gdLst/>
              <a:ahLst/>
              <a:cxnLst/>
              <a:rect r="r" b="b" t="t" l="l"/>
              <a:pathLst>
                <a:path h="787146" w="5414010">
                  <a:moveTo>
                    <a:pt x="0" y="0"/>
                  </a:moveTo>
                  <a:lnTo>
                    <a:pt x="5414010" y="0"/>
                  </a:lnTo>
                  <a:lnTo>
                    <a:pt x="5414010" y="787146"/>
                  </a:lnTo>
                  <a:lnTo>
                    <a:pt x="0" y="787146"/>
                  </a:lnTo>
                  <a:close/>
                </a:path>
              </a:pathLst>
            </a:custGeom>
            <a:solidFill>
              <a:srgbClr val="C98A2C"/>
            </a:solidFill>
            <a:ln w="14288" cap="sq">
              <a:solidFill>
                <a:srgbClr val="C98A2C"/>
              </a:solidFill>
              <a:prstDash val="solid"/>
              <a:miter/>
            </a:ln>
          </p:spPr>
        </p:sp>
      </p:grpSp>
      <p:grpSp>
        <p:nvGrpSpPr>
          <p:cNvPr name="Group 105" id="105"/>
          <p:cNvGrpSpPr/>
          <p:nvPr/>
        </p:nvGrpSpPr>
        <p:grpSpPr>
          <a:xfrm rot="0">
            <a:off x="9258300" y="1988820"/>
            <a:ext cx="3909060" cy="576072"/>
            <a:chOff x="0" y="0"/>
            <a:chExt cx="5212080" cy="768096"/>
          </a:xfrm>
        </p:grpSpPr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5212080" cy="768096"/>
            </a:xfrm>
            <a:custGeom>
              <a:avLst/>
              <a:gdLst/>
              <a:ahLst/>
              <a:cxnLst/>
              <a:rect r="r" b="b" t="t" l="l"/>
              <a:pathLst>
                <a:path h="768096" w="5212080">
                  <a:moveTo>
                    <a:pt x="0" y="0"/>
                  </a:moveTo>
                  <a:lnTo>
                    <a:pt x="5212080" y="0"/>
                  </a:lnTo>
                  <a:lnTo>
                    <a:pt x="521208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2219" r="0" b="-82219"/>
              </a:stretch>
            </a:blipFill>
          </p:spPr>
        </p:sp>
        <p:sp>
          <p:nvSpPr>
            <p:cNvPr name="TextBox 107" id="107"/>
            <p:cNvSpPr txBox="true"/>
            <p:nvPr/>
          </p:nvSpPr>
          <p:spPr>
            <a:xfrm>
              <a:off x="0" y="-19050"/>
              <a:ext cx="5212080" cy="7871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DATABASE</a:t>
              </a:r>
            </a:p>
          </p:txBody>
        </p:sp>
      </p:grpSp>
      <p:grpSp>
        <p:nvGrpSpPr>
          <p:cNvPr name="Group 108" id="108"/>
          <p:cNvGrpSpPr/>
          <p:nvPr/>
        </p:nvGrpSpPr>
        <p:grpSpPr>
          <a:xfrm rot="0">
            <a:off x="9182576" y="2667476"/>
            <a:ext cx="4060508" cy="1084136"/>
            <a:chOff x="0" y="0"/>
            <a:chExt cx="5414010" cy="1445514"/>
          </a:xfrm>
        </p:grpSpPr>
        <p:sp>
          <p:nvSpPr>
            <p:cNvPr name="Freeform 109" id="109"/>
            <p:cNvSpPr/>
            <p:nvPr/>
          </p:nvSpPr>
          <p:spPr>
            <a:xfrm flipH="false" flipV="false" rot="0">
              <a:off x="0" y="0"/>
              <a:ext cx="5414010" cy="1445514"/>
            </a:xfrm>
            <a:custGeom>
              <a:avLst/>
              <a:gdLst/>
              <a:ahLst/>
              <a:cxnLst/>
              <a:rect r="r" b="b" t="t" l="l"/>
              <a:pathLst>
                <a:path h="1445514" w="5414010">
                  <a:moveTo>
                    <a:pt x="0" y="0"/>
                  </a:moveTo>
                  <a:lnTo>
                    <a:pt x="5414010" y="0"/>
                  </a:lnTo>
                  <a:lnTo>
                    <a:pt x="5414010" y="1445514"/>
                  </a:lnTo>
                  <a:lnTo>
                    <a:pt x="0" y="1445514"/>
                  </a:lnTo>
                  <a:close/>
                </a:path>
              </a:pathLst>
            </a:custGeom>
            <a:solidFill>
              <a:srgbClr val="F7EDEA"/>
            </a:solidFill>
            <a:ln w="14288" cap="sq">
              <a:solidFill>
                <a:srgbClr val="E3CFC9"/>
              </a:solidFill>
              <a:prstDash val="solid"/>
              <a:miter/>
            </a:ln>
          </p:spPr>
        </p:sp>
      </p:grpSp>
      <p:grpSp>
        <p:nvGrpSpPr>
          <p:cNvPr name="Group 110" id="110"/>
          <p:cNvGrpSpPr/>
          <p:nvPr/>
        </p:nvGrpSpPr>
        <p:grpSpPr>
          <a:xfrm rot="0">
            <a:off x="9354312" y="2756916"/>
            <a:ext cx="3703320" cy="411480"/>
            <a:chOff x="0" y="0"/>
            <a:chExt cx="4937760" cy="548640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4937760" cy="548640"/>
            </a:xfrm>
            <a:custGeom>
              <a:avLst/>
              <a:gdLst/>
              <a:ahLst/>
              <a:cxnLst/>
              <a:rect r="r" b="b" t="t" l="l"/>
              <a:pathLst>
                <a:path h="548640" w="4937760">
                  <a:moveTo>
                    <a:pt x="0" y="0"/>
                  </a:moveTo>
                  <a:lnTo>
                    <a:pt x="4937760" y="0"/>
                  </a:lnTo>
                  <a:lnTo>
                    <a:pt x="493776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5365" r="0" b="-125365"/>
              </a:stretch>
            </a:blipFill>
          </p:spPr>
        </p:sp>
        <p:sp>
          <p:nvSpPr>
            <p:cNvPr name="TextBox 112" id="112"/>
            <p:cNvSpPr txBox="true"/>
            <p:nvPr/>
          </p:nvSpPr>
          <p:spPr>
            <a:xfrm>
              <a:off x="0" y="-19050"/>
              <a:ext cx="493776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C98A2C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MongoDB</a:t>
              </a:r>
            </a:p>
          </p:txBody>
        </p:sp>
      </p:grpSp>
      <p:grpSp>
        <p:nvGrpSpPr>
          <p:cNvPr name="Group 113" id="113"/>
          <p:cNvGrpSpPr/>
          <p:nvPr/>
        </p:nvGrpSpPr>
        <p:grpSpPr>
          <a:xfrm rot="0">
            <a:off x="9354312" y="3195828"/>
            <a:ext cx="3703320" cy="466344"/>
            <a:chOff x="0" y="0"/>
            <a:chExt cx="4937760" cy="621792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0" y="0"/>
              <a:ext cx="4937760" cy="621792"/>
            </a:xfrm>
            <a:custGeom>
              <a:avLst/>
              <a:gdLst/>
              <a:ahLst/>
              <a:cxnLst/>
              <a:rect r="r" b="b" t="t" l="l"/>
              <a:pathLst>
                <a:path h="621792" w="4937760">
                  <a:moveTo>
                    <a:pt x="0" y="0"/>
                  </a:moveTo>
                  <a:lnTo>
                    <a:pt x="4937760" y="0"/>
                  </a:lnTo>
                  <a:lnTo>
                    <a:pt x="493776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4734" r="0" b="-104734"/>
              </a:stretch>
            </a:blipFill>
          </p:spPr>
        </p:sp>
        <p:sp>
          <p:nvSpPr>
            <p:cNvPr name="TextBox 115" id="115"/>
            <p:cNvSpPr txBox="true"/>
            <p:nvPr/>
          </p:nvSpPr>
          <p:spPr>
            <a:xfrm>
              <a:off x="0" y="-19050"/>
              <a:ext cx="4937760" cy="6408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4A4A4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Document database for donors and SOS</a:t>
              </a:r>
            </a:p>
          </p:txBody>
        </p:sp>
      </p:grpSp>
      <p:grpSp>
        <p:nvGrpSpPr>
          <p:cNvPr name="Group 116" id="116"/>
          <p:cNvGrpSpPr/>
          <p:nvPr/>
        </p:nvGrpSpPr>
        <p:grpSpPr>
          <a:xfrm rot="0">
            <a:off x="9182576" y="3833336"/>
            <a:ext cx="4060508" cy="1084136"/>
            <a:chOff x="0" y="0"/>
            <a:chExt cx="5414010" cy="1445514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0" y="0"/>
              <a:ext cx="5414010" cy="1445514"/>
            </a:xfrm>
            <a:custGeom>
              <a:avLst/>
              <a:gdLst/>
              <a:ahLst/>
              <a:cxnLst/>
              <a:rect r="r" b="b" t="t" l="l"/>
              <a:pathLst>
                <a:path h="1445514" w="5414010">
                  <a:moveTo>
                    <a:pt x="0" y="0"/>
                  </a:moveTo>
                  <a:lnTo>
                    <a:pt x="5414010" y="0"/>
                  </a:lnTo>
                  <a:lnTo>
                    <a:pt x="5414010" y="1445514"/>
                  </a:lnTo>
                  <a:lnTo>
                    <a:pt x="0" y="1445514"/>
                  </a:lnTo>
                  <a:close/>
                </a:path>
              </a:pathLst>
            </a:custGeom>
            <a:solidFill>
              <a:srgbClr val="F7EDEA"/>
            </a:solidFill>
            <a:ln w="14288" cap="sq">
              <a:solidFill>
                <a:srgbClr val="E3CFC9"/>
              </a:solidFill>
              <a:prstDash val="solid"/>
              <a:miter/>
            </a:ln>
          </p:spPr>
        </p:sp>
      </p:grpSp>
      <p:grpSp>
        <p:nvGrpSpPr>
          <p:cNvPr name="Group 118" id="118"/>
          <p:cNvGrpSpPr/>
          <p:nvPr/>
        </p:nvGrpSpPr>
        <p:grpSpPr>
          <a:xfrm rot="0">
            <a:off x="9354312" y="3922776"/>
            <a:ext cx="3703320" cy="411480"/>
            <a:chOff x="0" y="0"/>
            <a:chExt cx="4937760" cy="548640"/>
          </a:xfrm>
        </p:grpSpPr>
        <p:sp>
          <p:nvSpPr>
            <p:cNvPr name="Freeform 119" id="119"/>
            <p:cNvSpPr/>
            <p:nvPr/>
          </p:nvSpPr>
          <p:spPr>
            <a:xfrm flipH="false" flipV="false" rot="0">
              <a:off x="0" y="0"/>
              <a:ext cx="4937760" cy="548640"/>
            </a:xfrm>
            <a:custGeom>
              <a:avLst/>
              <a:gdLst/>
              <a:ahLst/>
              <a:cxnLst/>
              <a:rect r="r" b="b" t="t" l="l"/>
              <a:pathLst>
                <a:path h="548640" w="4937760">
                  <a:moveTo>
                    <a:pt x="0" y="0"/>
                  </a:moveTo>
                  <a:lnTo>
                    <a:pt x="4937760" y="0"/>
                  </a:lnTo>
                  <a:lnTo>
                    <a:pt x="493776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5365" r="0" b="-125365"/>
              </a:stretch>
            </a:blipFill>
          </p:spPr>
        </p:sp>
        <p:sp>
          <p:nvSpPr>
            <p:cNvPr name="TextBox 120" id="120"/>
            <p:cNvSpPr txBox="true"/>
            <p:nvPr/>
          </p:nvSpPr>
          <p:spPr>
            <a:xfrm>
              <a:off x="0" y="-19050"/>
              <a:ext cx="493776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C98A2C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Mongoose</a:t>
              </a:r>
            </a:p>
          </p:txBody>
        </p:sp>
      </p:grpSp>
      <p:grpSp>
        <p:nvGrpSpPr>
          <p:cNvPr name="Group 121" id="121"/>
          <p:cNvGrpSpPr/>
          <p:nvPr/>
        </p:nvGrpSpPr>
        <p:grpSpPr>
          <a:xfrm rot="0">
            <a:off x="9354312" y="4361688"/>
            <a:ext cx="3703320" cy="466344"/>
            <a:chOff x="0" y="0"/>
            <a:chExt cx="4937760" cy="621792"/>
          </a:xfrm>
        </p:grpSpPr>
        <p:sp>
          <p:nvSpPr>
            <p:cNvPr name="Freeform 122" id="122"/>
            <p:cNvSpPr/>
            <p:nvPr/>
          </p:nvSpPr>
          <p:spPr>
            <a:xfrm flipH="false" flipV="false" rot="0">
              <a:off x="0" y="0"/>
              <a:ext cx="4937760" cy="621792"/>
            </a:xfrm>
            <a:custGeom>
              <a:avLst/>
              <a:gdLst/>
              <a:ahLst/>
              <a:cxnLst/>
              <a:rect r="r" b="b" t="t" l="l"/>
              <a:pathLst>
                <a:path h="621792" w="4937760">
                  <a:moveTo>
                    <a:pt x="0" y="0"/>
                  </a:moveTo>
                  <a:lnTo>
                    <a:pt x="4937760" y="0"/>
                  </a:lnTo>
                  <a:lnTo>
                    <a:pt x="493776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4734" r="0" b="-104734"/>
              </a:stretch>
            </a:blipFill>
          </p:spPr>
        </p:sp>
        <p:sp>
          <p:nvSpPr>
            <p:cNvPr name="TextBox 123" id="123"/>
            <p:cNvSpPr txBox="true"/>
            <p:nvPr/>
          </p:nvSpPr>
          <p:spPr>
            <a:xfrm>
              <a:off x="0" y="-19050"/>
              <a:ext cx="4937760" cy="6408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4A4A4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Schema modelling and queries</a:t>
              </a:r>
            </a:p>
          </p:txBody>
        </p:sp>
      </p:grpSp>
      <p:grpSp>
        <p:nvGrpSpPr>
          <p:cNvPr name="Group 124" id="124"/>
          <p:cNvGrpSpPr/>
          <p:nvPr/>
        </p:nvGrpSpPr>
        <p:grpSpPr>
          <a:xfrm rot="0">
            <a:off x="9182576" y="4999196"/>
            <a:ext cx="4060508" cy="1084136"/>
            <a:chOff x="0" y="0"/>
            <a:chExt cx="5414010" cy="1445514"/>
          </a:xfrm>
        </p:grpSpPr>
        <p:sp>
          <p:nvSpPr>
            <p:cNvPr name="Freeform 125" id="125"/>
            <p:cNvSpPr/>
            <p:nvPr/>
          </p:nvSpPr>
          <p:spPr>
            <a:xfrm flipH="false" flipV="false" rot="0">
              <a:off x="0" y="0"/>
              <a:ext cx="5414010" cy="1445514"/>
            </a:xfrm>
            <a:custGeom>
              <a:avLst/>
              <a:gdLst/>
              <a:ahLst/>
              <a:cxnLst/>
              <a:rect r="r" b="b" t="t" l="l"/>
              <a:pathLst>
                <a:path h="1445514" w="5414010">
                  <a:moveTo>
                    <a:pt x="0" y="0"/>
                  </a:moveTo>
                  <a:lnTo>
                    <a:pt x="5414010" y="0"/>
                  </a:lnTo>
                  <a:lnTo>
                    <a:pt x="5414010" y="1445514"/>
                  </a:lnTo>
                  <a:lnTo>
                    <a:pt x="0" y="1445514"/>
                  </a:lnTo>
                  <a:close/>
                </a:path>
              </a:pathLst>
            </a:custGeom>
            <a:solidFill>
              <a:srgbClr val="F7EDEA"/>
            </a:solidFill>
            <a:ln w="14288" cap="sq">
              <a:solidFill>
                <a:srgbClr val="E3CFC9"/>
              </a:solidFill>
              <a:prstDash val="solid"/>
              <a:miter/>
            </a:ln>
          </p:spPr>
        </p:sp>
      </p:grpSp>
      <p:grpSp>
        <p:nvGrpSpPr>
          <p:cNvPr name="Group 126" id="126"/>
          <p:cNvGrpSpPr/>
          <p:nvPr/>
        </p:nvGrpSpPr>
        <p:grpSpPr>
          <a:xfrm rot="0">
            <a:off x="9354312" y="5088636"/>
            <a:ext cx="3703320" cy="411480"/>
            <a:chOff x="0" y="0"/>
            <a:chExt cx="4937760" cy="548640"/>
          </a:xfrm>
        </p:grpSpPr>
        <p:sp>
          <p:nvSpPr>
            <p:cNvPr name="Freeform 127" id="127"/>
            <p:cNvSpPr/>
            <p:nvPr/>
          </p:nvSpPr>
          <p:spPr>
            <a:xfrm flipH="false" flipV="false" rot="0">
              <a:off x="0" y="0"/>
              <a:ext cx="4937760" cy="548640"/>
            </a:xfrm>
            <a:custGeom>
              <a:avLst/>
              <a:gdLst/>
              <a:ahLst/>
              <a:cxnLst/>
              <a:rect r="r" b="b" t="t" l="l"/>
              <a:pathLst>
                <a:path h="548640" w="4937760">
                  <a:moveTo>
                    <a:pt x="0" y="0"/>
                  </a:moveTo>
                  <a:lnTo>
                    <a:pt x="4937760" y="0"/>
                  </a:lnTo>
                  <a:lnTo>
                    <a:pt x="493776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5365" r="0" b="-125365"/>
              </a:stretch>
            </a:blipFill>
          </p:spPr>
        </p:sp>
        <p:sp>
          <p:nvSpPr>
            <p:cNvPr name="TextBox 128" id="128"/>
            <p:cNvSpPr txBox="true"/>
            <p:nvPr/>
          </p:nvSpPr>
          <p:spPr>
            <a:xfrm>
              <a:off x="0" y="-19050"/>
              <a:ext cx="493776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C98A2C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Indexes</a:t>
              </a:r>
            </a:p>
          </p:txBody>
        </p:sp>
      </p:grpSp>
      <p:grpSp>
        <p:nvGrpSpPr>
          <p:cNvPr name="Group 129" id="129"/>
          <p:cNvGrpSpPr/>
          <p:nvPr/>
        </p:nvGrpSpPr>
        <p:grpSpPr>
          <a:xfrm rot="0">
            <a:off x="9354312" y="5527548"/>
            <a:ext cx="3703320" cy="466344"/>
            <a:chOff x="0" y="0"/>
            <a:chExt cx="4937760" cy="621792"/>
          </a:xfrm>
        </p:grpSpPr>
        <p:sp>
          <p:nvSpPr>
            <p:cNvPr name="Freeform 130" id="130"/>
            <p:cNvSpPr/>
            <p:nvPr/>
          </p:nvSpPr>
          <p:spPr>
            <a:xfrm flipH="false" flipV="false" rot="0">
              <a:off x="0" y="0"/>
              <a:ext cx="4937760" cy="621792"/>
            </a:xfrm>
            <a:custGeom>
              <a:avLst/>
              <a:gdLst/>
              <a:ahLst/>
              <a:cxnLst/>
              <a:rect r="r" b="b" t="t" l="l"/>
              <a:pathLst>
                <a:path h="621792" w="4937760">
                  <a:moveTo>
                    <a:pt x="0" y="0"/>
                  </a:moveTo>
                  <a:lnTo>
                    <a:pt x="4937760" y="0"/>
                  </a:lnTo>
                  <a:lnTo>
                    <a:pt x="493776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4734" r="0" b="-104734"/>
              </a:stretch>
            </a:blipFill>
          </p:spPr>
        </p:sp>
        <p:sp>
          <p:nvSpPr>
            <p:cNvPr name="TextBox 131" id="131"/>
            <p:cNvSpPr txBox="true"/>
            <p:nvPr/>
          </p:nvSpPr>
          <p:spPr>
            <a:xfrm>
              <a:off x="0" y="-19050"/>
              <a:ext cx="4937760" cy="6408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4A4A4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Fast blood-group + locality search</a:t>
              </a:r>
            </a:p>
          </p:txBody>
        </p:sp>
      </p:grpSp>
      <p:grpSp>
        <p:nvGrpSpPr>
          <p:cNvPr name="Group 132" id="132"/>
          <p:cNvGrpSpPr/>
          <p:nvPr/>
        </p:nvGrpSpPr>
        <p:grpSpPr>
          <a:xfrm rot="0">
            <a:off x="13434536" y="1981676"/>
            <a:ext cx="4060508" cy="590360"/>
            <a:chOff x="0" y="0"/>
            <a:chExt cx="5414010" cy="787146"/>
          </a:xfrm>
        </p:grpSpPr>
        <p:sp>
          <p:nvSpPr>
            <p:cNvPr name="Freeform 133" id="133"/>
            <p:cNvSpPr/>
            <p:nvPr/>
          </p:nvSpPr>
          <p:spPr>
            <a:xfrm flipH="false" flipV="false" rot="0">
              <a:off x="0" y="0"/>
              <a:ext cx="5414010" cy="787146"/>
            </a:xfrm>
            <a:custGeom>
              <a:avLst/>
              <a:gdLst/>
              <a:ahLst/>
              <a:cxnLst/>
              <a:rect r="r" b="b" t="t" l="l"/>
              <a:pathLst>
                <a:path h="787146" w="5414010">
                  <a:moveTo>
                    <a:pt x="0" y="0"/>
                  </a:moveTo>
                  <a:lnTo>
                    <a:pt x="5414010" y="0"/>
                  </a:lnTo>
                  <a:lnTo>
                    <a:pt x="5414010" y="787146"/>
                  </a:lnTo>
                  <a:lnTo>
                    <a:pt x="0" y="787146"/>
                  </a:lnTo>
                  <a:close/>
                </a:path>
              </a:pathLst>
            </a:custGeom>
            <a:solidFill>
              <a:srgbClr val="444444"/>
            </a:solidFill>
            <a:ln w="14288" cap="sq">
              <a:solidFill>
                <a:srgbClr val="444444"/>
              </a:solidFill>
              <a:prstDash val="solid"/>
              <a:miter/>
            </a:ln>
          </p:spPr>
        </p:sp>
      </p:grpSp>
      <p:grpSp>
        <p:nvGrpSpPr>
          <p:cNvPr name="Group 134" id="134"/>
          <p:cNvGrpSpPr/>
          <p:nvPr/>
        </p:nvGrpSpPr>
        <p:grpSpPr>
          <a:xfrm rot="0">
            <a:off x="13510260" y="1988820"/>
            <a:ext cx="3909060" cy="576072"/>
            <a:chOff x="0" y="0"/>
            <a:chExt cx="5212080" cy="768096"/>
          </a:xfrm>
        </p:grpSpPr>
        <p:sp>
          <p:nvSpPr>
            <p:cNvPr name="Freeform 135" id="135"/>
            <p:cNvSpPr/>
            <p:nvPr/>
          </p:nvSpPr>
          <p:spPr>
            <a:xfrm flipH="false" flipV="false" rot="0">
              <a:off x="0" y="0"/>
              <a:ext cx="5212080" cy="768096"/>
            </a:xfrm>
            <a:custGeom>
              <a:avLst/>
              <a:gdLst/>
              <a:ahLst/>
              <a:cxnLst/>
              <a:rect r="r" b="b" t="t" l="l"/>
              <a:pathLst>
                <a:path h="768096" w="5212080">
                  <a:moveTo>
                    <a:pt x="0" y="0"/>
                  </a:moveTo>
                  <a:lnTo>
                    <a:pt x="5212080" y="0"/>
                  </a:lnTo>
                  <a:lnTo>
                    <a:pt x="521208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2219" r="0" b="-82219"/>
              </a:stretch>
            </a:blipFill>
          </p:spPr>
        </p:sp>
        <p:sp>
          <p:nvSpPr>
            <p:cNvPr name="TextBox 136" id="136"/>
            <p:cNvSpPr txBox="true"/>
            <p:nvPr/>
          </p:nvSpPr>
          <p:spPr>
            <a:xfrm>
              <a:off x="0" y="-19050"/>
              <a:ext cx="5212080" cy="7871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CONTACT &amp; TOOLS</a:t>
              </a:r>
            </a:p>
          </p:txBody>
        </p:sp>
      </p:grpSp>
      <p:grpSp>
        <p:nvGrpSpPr>
          <p:cNvPr name="Group 137" id="137"/>
          <p:cNvGrpSpPr/>
          <p:nvPr/>
        </p:nvGrpSpPr>
        <p:grpSpPr>
          <a:xfrm rot="0">
            <a:off x="13434536" y="2667476"/>
            <a:ext cx="4060508" cy="1084136"/>
            <a:chOff x="0" y="0"/>
            <a:chExt cx="5414010" cy="1445514"/>
          </a:xfrm>
        </p:grpSpPr>
        <p:sp>
          <p:nvSpPr>
            <p:cNvPr name="Freeform 138" id="138"/>
            <p:cNvSpPr/>
            <p:nvPr/>
          </p:nvSpPr>
          <p:spPr>
            <a:xfrm flipH="false" flipV="false" rot="0">
              <a:off x="0" y="0"/>
              <a:ext cx="5414010" cy="1445514"/>
            </a:xfrm>
            <a:custGeom>
              <a:avLst/>
              <a:gdLst/>
              <a:ahLst/>
              <a:cxnLst/>
              <a:rect r="r" b="b" t="t" l="l"/>
              <a:pathLst>
                <a:path h="1445514" w="5414010">
                  <a:moveTo>
                    <a:pt x="0" y="0"/>
                  </a:moveTo>
                  <a:lnTo>
                    <a:pt x="5414010" y="0"/>
                  </a:lnTo>
                  <a:lnTo>
                    <a:pt x="5414010" y="1445514"/>
                  </a:lnTo>
                  <a:lnTo>
                    <a:pt x="0" y="1445514"/>
                  </a:lnTo>
                  <a:close/>
                </a:path>
              </a:pathLst>
            </a:custGeom>
            <a:solidFill>
              <a:srgbClr val="F7EDEA"/>
            </a:solidFill>
            <a:ln w="14288" cap="sq">
              <a:solidFill>
                <a:srgbClr val="E3CFC9"/>
              </a:solidFill>
              <a:prstDash val="solid"/>
              <a:miter/>
            </a:ln>
          </p:spPr>
        </p:sp>
      </p:grpSp>
      <p:grpSp>
        <p:nvGrpSpPr>
          <p:cNvPr name="Group 139" id="139"/>
          <p:cNvGrpSpPr/>
          <p:nvPr/>
        </p:nvGrpSpPr>
        <p:grpSpPr>
          <a:xfrm rot="0">
            <a:off x="13606272" y="2756916"/>
            <a:ext cx="3703320" cy="411480"/>
            <a:chOff x="0" y="0"/>
            <a:chExt cx="4937760" cy="548640"/>
          </a:xfrm>
        </p:grpSpPr>
        <p:sp>
          <p:nvSpPr>
            <p:cNvPr name="Freeform 140" id="140"/>
            <p:cNvSpPr/>
            <p:nvPr/>
          </p:nvSpPr>
          <p:spPr>
            <a:xfrm flipH="false" flipV="false" rot="0">
              <a:off x="0" y="0"/>
              <a:ext cx="4937760" cy="548640"/>
            </a:xfrm>
            <a:custGeom>
              <a:avLst/>
              <a:gdLst/>
              <a:ahLst/>
              <a:cxnLst/>
              <a:rect r="r" b="b" t="t" l="l"/>
              <a:pathLst>
                <a:path h="548640" w="4937760">
                  <a:moveTo>
                    <a:pt x="0" y="0"/>
                  </a:moveTo>
                  <a:lnTo>
                    <a:pt x="4937760" y="0"/>
                  </a:lnTo>
                  <a:lnTo>
                    <a:pt x="493776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5365" r="0" b="-125365"/>
              </a:stretch>
            </a:blipFill>
          </p:spPr>
        </p:sp>
        <p:sp>
          <p:nvSpPr>
            <p:cNvPr name="TextBox 141" id="141"/>
            <p:cNvSpPr txBox="true"/>
            <p:nvPr/>
          </p:nvSpPr>
          <p:spPr>
            <a:xfrm>
              <a:off x="0" y="-19050"/>
              <a:ext cx="493776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444444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tel: links</a:t>
              </a:r>
            </a:p>
          </p:txBody>
        </p:sp>
      </p:grpSp>
      <p:grpSp>
        <p:nvGrpSpPr>
          <p:cNvPr name="Group 142" id="142"/>
          <p:cNvGrpSpPr/>
          <p:nvPr/>
        </p:nvGrpSpPr>
        <p:grpSpPr>
          <a:xfrm rot="0">
            <a:off x="13606272" y="3195828"/>
            <a:ext cx="3703320" cy="466344"/>
            <a:chOff x="0" y="0"/>
            <a:chExt cx="4937760" cy="621792"/>
          </a:xfrm>
        </p:grpSpPr>
        <p:sp>
          <p:nvSpPr>
            <p:cNvPr name="Freeform 143" id="143"/>
            <p:cNvSpPr/>
            <p:nvPr/>
          </p:nvSpPr>
          <p:spPr>
            <a:xfrm flipH="false" flipV="false" rot="0">
              <a:off x="0" y="0"/>
              <a:ext cx="4937760" cy="621792"/>
            </a:xfrm>
            <a:custGeom>
              <a:avLst/>
              <a:gdLst/>
              <a:ahLst/>
              <a:cxnLst/>
              <a:rect r="r" b="b" t="t" l="l"/>
              <a:pathLst>
                <a:path h="621792" w="4937760">
                  <a:moveTo>
                    <a:pt x="0" y="0"/>
                  </a:moveTo>
                  <a:lnTo>
                    <a:pt x="4937760" y="0"/>
                  </a:lnTo>
                  <a:lnTo>
                    <a:pt x="493776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4734" r="0" b="-104734"/>
              </a:stretch>
            </a:blipFill>
          </p:spPr>
        </p:sp>
        <p:sp>
          <p:nvSpPr>
            <p:cNvPr name="TextBox 144" id="144"/>
            <p:cNvSpPr txBox="true"/>
            <p:nvPr/>
          </p:nvSpPr>
          <p:spPr>
            <a:xfrm>
              <a:off x="0" y="-19050"/>
              <a:ext cx="4937760" cy="6408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4A4A4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Direct phone call from browser</a:t>
              </a:r>
            </a:p>
          </p:txBody>
        </p:sp>
      </p:grpSp>
      <p:grpSp>
        <p:nvGrpSpPr>
          <p:cNvPr name="Group 145" id="145"/>
          <p:cNvGrpSpPr/>
          <p:nvPr/>
        </p:nvGrpSpPr>
        <p:grpSpPr>
          <a:xfrm rot="0">
            <a:off x="13434536" y="3833336"/>
            <a:ext cx="4060508" cy="1084136"/>
            <a:chOff x="0" y="0"/>
            <a:chExt cx="5414010" cy="1445514"/>
          </a:xfrm>
        </p:grpSpPr>
        <p:sp>
          <p:nvSpPr>
            <p:cNvPr name="Freeform 146" id="146"/>
            <p:cNvSpPr/>
            <p:nvPr/>
          </p:nvSpPr>
          <p:spPr>
            <a:xfrm flipH="false" flipV="false" rot="0">
              <a:off x="0" y="0"/>
              <a:ext cx="5414010" cy="1445514"/>
            </a:xfrm>
            <a:custGeom>
              <a:avLst/>
              <a:gdLst/>
              <a:ahLst/>
              <a:cxnLst/>
              <a:rect r="r" b="b" t="t" l="l"/>
              <a:pathLst>
                <a:path h="1445514" w="5414010">
                  <a:moveTo>
                    <a:pt x="0" y="0"/>
                  </a:moveTo>
                  <a:lnTo>
                    <a:pt x="5414010" y="0"/>
                  </a:lnTo>
                  <a:lnTo>
                    <a:pt x="5414010" y="1445514"/>
                  </a:lnTo>
                  <a:lnTo>
                    <a:pt x="0" y="1445514"/>
                  </a:lnTo>
                  <a:close/>
                </a:path>
              </a:pathLst>
            </a:custGeom>
            <a:solidFill>
              <a:srgbClr val="F7EDEA"/>
            </a:solidFill>
            <a:ln w="14288" cap="sq">
              <a:solidFill>
                <a:srgbClr val="E3CFC9"/>
              </a:solidFill>
              <a:prstDash val="solid"/>
              <a:miter/>
            </a:ln>
          </p:spPr>
        </p:sp>
      </p:grpSp>
      <p:grpSp>
        <p:nvGrpSpPr>
          <p:cNvPr name="Group 147" id="147"/>
          <p:cNvGrpSpPr/>
          <p:nvPr/>
        </p:nvGrpSpPr>
        <p:grpSpPr>
          <a:xfrm rot="0">
            <a:off x="13606272" y="3922776"/>
            <a:ext cx="3703320" cy="411480"/>
            <a:chOff x="0" y="0"/>
            <a:chExt cx="4937760" cy="548640"/>
          </a:xfrm>
        </p:grpSpPr>
        <p:sp>
          <p:nvSpPr>
            <p:cNvPr name="Freeform 148" id="148"/>
            <p:cNvSpPr/>
            <p:nvPr/>
          </p:nvSpPr>
          <p:spPr>
            <a:xfrm flipH="false" flipV="false" rot="0">
              <a:off x="0" y="0"/>
              <a:ext cx="4937760" cy="548640"/>
            </a:xfrm>
            <a:custGeom>
              <a:avLst/>
              <a:gdLst/>
              <a:ahLst/>
              <a:cxnLst/>
              <a:rect r="r" b="b" t="t" l="l"/>
              <a:pathLst>
                <a:path h="548640" w="4937760">
                  <a:moveTo>
                    <a:pt x="0" y="0"/>
                  </a:moveTo>
                  <a:lnTo>
                    <a:pt x="4937760" y="0"/>
                  </a:lnTo>
                  <a:lnTo>
                    <a:pt x="493776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5365" r="0" b="-125365"/>
              </a:stretch>
            </a:blipFill>
          </p:spPr>
        </p:sp>
        <p:sp>
          <p:nvSpPr>
            <p:cNvPr name="TextBox 149" id="149"/>
            <p:cNvSpPr txBox="true"/>
            <p:nvPr/>
          </p:nvSpPr>
          <p:spPr>
            <a:xfrm>
              <a:off x="0" y="-19050"/>
              <a:ext cx="493776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444444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wa.me links</a:t>
              </a:r>
            </a:p>
          </p:txBody>
        </p:sp>
      </p:grpSp>
      <p:grpSp>
        <p:nvGrpSpPr>
          <p:cNvPr name="Group 150" id="150"/>
          <p:cNvGrpSpPr/>
          <p:nvPr/>
        </p:nvGrpSpPr>
        <p:grpSpPr>
          <a:xfrm rot="0">
            <a:off x="13606272" y="4361688"/>
            <a:ext cx="3703320" cy="466344"/>
            <a:chOff x="0" y="0"/>
            <a:chExt cx="4937760" cy="621792"/>
          </a:xfrm>
        </p:grpSpPr>
        <p:sp>
          <p:nvSpPr>
            <p:cNvPr name="Freeform 151" id="151"/>
            <p:cNvSpPr/>
            <p:nvPr/>
          </p:nvSpPr>
          <p:spPr>
            <a:xfrm flipH="false" flipV="false" rot="0">
              <a:off x="0" y="0"/>
              <a:ext cx="4937760" cy="621792"/>
            </a:xfrm>
            <a:custGeom>
              <a:avLst/>
              <a:gdLst/>
              <a:ahLst/>
              <a:cxnLst/>
              <a:rect r="r" b="b" t="t" l="l"/>
              <a:pathLst>
                <a:path h="621792" w="4937760">
                  <a:moveTo>
                    <a:pt x="0" y="0"/>
                  </a:moveTo>
                  <a:lnTo>
                    <a:pt x="4937760" y="0"/>
                  </a:lnTo>
                  <a:lnTo>
                    <a:pt x="493776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4734" r="0" b="-104734"/>
              </a:stretch>
            </a:blipFill>
          </p:spPr>
        </p:sp>
        <p:sp>
          <p:nvSpPr>
            <p:cNvPr name="TextBox 152" id="152"/>
            <p:cNvSpPr txBox="true"/>
            <p:nvPr/>
          </p:nvSpPr>
          <p:spPr>
            <a:xfrm>
              <a:off x="0" y="-19050"/>
              <a:ext cx="4937760" cy="6408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4A4A4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WhatsApp chat in one tap</a:t>
              </a:r>
            </a:p>
          </p:txBody>
        </p:sp>
      </p:grpSp>
      <p:grpSp>
        <p:nvGrpSpPr>
          <p:cNvPr name="Group 153" id="153"/>
          <p:cNvGrpSpPr/>
          <p:nvPr/>
        </p:nvGrpSpPr>
        <p:grpSpPr>
          <a:xfrm rot="0">
            <a:off x="13434536" y="4999196"/>
            <a:ext cx="4060508" cy="1084136"/>
            <a:chOff x="0" y="0"/>
            <a:chExt cx="5414010" cy="1445514"/>
          </a:xfrm>
        </p:grpSpPr>
        <p:sp>
          <p:nvSpPr>
            <p:cNvPr name="Freeform 154" id="154"/>
            <p:cNvSpPr/>
            <p:nvPr/>
          </p:nvSpPr>
          <p:spPr>
            <a:xfrm flipH="false" flipV="false" rot="0">
              <a:off x="0" y="0"/>
              <a:ext cx="5414010" cy="1445514"/>
            </a:xfrm>
            <a:custGeom>
              <a:avLst/>
              <a:gdLst/>
              <a:ahLst/>
              <a:cxnLst/>
              <a:rect r="r" b="b" t="t" l="l"/>
              <a:pathLst>
                <a:path h="1445514" w="5414010">
                  <a:moveTo>
                    <a:pt x="0" y="0"/>
                  </a:moveTo>
                  <a:lnTo>
                    <a:pt x="5414010" y="0"/>
                  </a:lnTo>
                  <a:lnTo>
                    <a:pt x="5414010" y="1445514"/>
                  </a:lnTo>
                  <a:lnTo>
                    <a:pt x="0" y="1445514"/>
                  </a:lnTo>
                  <a:close/>
                </a:path>
              </a:pathLst>
            </a:custGeom>
            <a:solidFill>
              <a:srgbClr val="F7EDEA"/>
            </a:solidFill>
            <a:ln w="14288" cap="sq">
              <a:solidFill>
                <a:srgbClr val="E3CFC9"/>
              </a:solidFill>
              <a:prstDash val="solid"/>
              <a:miter/>
            </a:ln>
          </p:spPr>
        </p:sp>
      </p:grpSp>
      <p:grpSp>
        <p:nvGrpSpPr>
          <p:cNvPr name="Group 155" id="155"/>
          <p:cNvGrpSpPr/>
          <p:nvPr/>
        </p:nvGrpSpPr>
        <p:grpSpPr>
          <a:xfrm rot="0">
            <a:off x="13606272" y="5088636"/>
            <a:ext cx="3703320" cy="411480"/>
            <a:chOff x="0" y="0"/>
            <a:chExt cx="4937760" cy="548640"/>
          </a:xfrm>
        </p:grpSpPr>
        <p:sp>
          <p:nvSpPr>
            <p:cNvPr name="Freeform 156" id="156"/>
            <p:cNvSpPr/>
            <p:nvPr/>
          </p:nvSpPr>
          <p:spPr>
            <a:xfrm flipH="false" flipV="false" rot="0">
              <a:off x="0" y="0"/>
              <a:ext cx="4937760" cy="548640"/>
            </a:xfrm>
            <a:custGeom>
              <a:avLst/>
              <a:gdLst/>
              <a:ahLst/>
              <a:cxnLst/>
              <a:rect r="r" b="b" t="t" l="l"/>
              <a:pathLst>
                <a:path h="548640" w="4937760">
                  <a:moveTo>
                    <a:pt x="0" y="0"/>
                  </a:moveTo>
                  <a:lnTo>
                    <a:pt x="4937760" y="0"/>
                  </a:lnTo>
                  <a:lnTo>
                    <a:pt x="493776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5365" r="0" b="-125365"/>
              </a:stretch>
            </a:blipFill>
          </p:spPr>
        </p:sp>
        <p:sp>
          <p:nvSpPr>
            <p:cNvPr name="TextBox 157" id="157"/>
            <p:cNvSpPr txBox="true"/>
            <p:nvPr/>
          </p:nvSpPr>
          <p:spPr>
            <a:xfrm>
              <a:off x="0" y="-19050"/>
              <a:ext cx="493776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444444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Git &amp; .gitignore</a:t>
              </a:r>
            </a:p>
          </p:txBody>
        </p:sp>
      </p:grpSp>
      <p:grpSp>
        <p:nvGrpSpPr>
          <p:cNvPr name="Group 158" id="158"/>
          <p:cNvGrpSpPr/>
          <p:nvPr/>
        </p:nvGrpSpPr>
        <p:grpSpPr>
          <a:xfrm rot="0">
            <a:off x="13606272" y="5527548"/>
            <a:ext cx="3703320" cy="466344"/>
            <a:chOff x="0" y="0"/>
            <a:chExt cx="4937760" cy="621792"/>
          </a:xfrm>
        </p:grpSpPr>
        <p:sp>
          <p:nvSpPr>
            <p:cNvPr name="Freeform 159" id="159"/>
            <p:cNvSpPr/>
            <p:nvPr/>
          </p:nvSpPr>
          <p:spPr>
            <a:xfrm flipH="false" flipV="false" rot="0">
              <a:off x="0" y="0"/>
              <a:ext cx="4937760" cy="621792"/>
            </a:xfrm>
            <a:custGeom>
              <a:avLst/>
              <a:gdLst/>
              <a:ahLst/>
              <a:cxnLst/>
              <a:rect r="r" b="b" t="t" l="l"/>
              <a:pathLst>
                <a:path h="621792" w="4937760">
                  <a:moveTo>
                    <a:pt x="0" y="0"/>
                  </a:moveTo>
                  <a:lnTo>
                    <a:pt x="4937760" y="0"/>
                  </a:lnTo>
                  <a:lnTo>
                    <a:pt x="493776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4734" r="0" b="-104734"/>
              </a:stretch>
            </a:blipFill>
          </p:spPr>
        </p:sp>
        <p:sp>
          <p:nvSpPr>
            <p:cNvPr name="TextBox 160" id="160"/>
            <p:cNvSpPr txBox="true"/>
            <p:nvPr/>
          </p:nvSpPr>
          <p:spPr>
            <a:xfrm>
              <a:off x="0" y="-19050"/>
              <a:ext cx="4937760" cy="6408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4A4A4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Version control, secret exclusion</a:t>
              </a:r>
            </a:p>
          </p:txBody>
        </p:sp>
      </p:grpSp>
      <p:grpSp>
        <p:nvGrpSpPr>
          <p:cNvPr name="Group 161" id="161"/>
          <p:cNvGrpSpPr/>
          <p:nvPr/>
        </p:nvGrpSpPr>
        <p:grpSpPr>
          <a:xfrm rot="0">
            <a:off x="13434536" y="6165056"/>
            <a:ext cx="4060508" cy="1084136"/>
            <a:chOff x="0" y="0"/>
            <a:chExt cx="5414010" cy="1445514"/>
          </a:xfrm>
        </p:grpSpPr>
        <p:sp>
          <p:nvSpPr>
            <p:cNvPr name="Freeform 162" id="162"/>
            <p:cNvSpPr/>
            <p:nvPr/>
          </p:nvSpPr>
          <p:spPr>
            <a:xfrm flipH="false" flipV="false" rot="0">
              <a:off x="0" y="0"/>
              <a:ext cx="5414010" cy="1445514"/>
            </a:xfrm>
            <a:custGeom>
              <a:avLst/>
              <a:gdLst/>
              <a:ahLst/>
              <a:cxnLst/>
              <a:rect r="r" b="b" t="t" l="l"/>
              <a:pathLst>
                <a:path h="1445514" w="5414010">
                  <a:moveTo>
                    <a:pt x="0" y="0"/>
                  </a:moveTo>
                  <a:lnTo>
                    <a:pt x="5414010" y="0"/>
                  </a:lnTo>
                  <a:lnTo>
                    <a:pt x="5414010" y="1445514"/>
                  </a:lnTo>
                  <a:lnTo>
                    <a:pt x="0" y="1445514"/>
                  </a:lnTo>
                  <a:close/>
                </a:path>
              </a:pathLst>
            </a:custGeom>
            <a:solidFill>
              <a:srgbClr val="F7EDEA"/>
            </a:solidFill>
            <a:ln w="14288" cap="sq">
              <a:solidFill>
                <a:srgbClr val="E3CFC9"/>
              </a:solidFill>
              <a:prstDash val="solid"/>
              <a:miter/>
            </a:ln>
          </p:spPr>
        </p:sp>
      </p:grpSp>
      <p:grpSp>
        <p:nvGrpSpPr>
          <p:cNvPr name="Group 163" id="163"/>
          <p:cNvGrpSpPr/>
          <p:nvPr/>
        </p:nvGrpSpPr>
        <p:grpSpPr>
          <a:xfrm rot="0">
            <a:off x="13606272" y="6254496"/>
            <a:ext cx="3703320" cy="411480"/>
            <a:chOff x="0" y="0"/>
            <a:chExt cx="4937760" cy="548640"/>
          </a:xfrm>
        </p:grpSpPr>
        <p:sp>
          <p:nvSpPr>
            <p:cNvPr name="Freeform 164" id="164"/>
            <p:cNvSpPr/>
            <p:nvPr/>
          </p:nvSpPr>
          <p:spPr>
            <a:xfrm flipH="false" flipV="false" rot="0">
              <a:off x="0" y="0"/>
              <a:ext cx="4937760" cy="548640"/>
            </a:xfrm>
            <a:custGeom>
              <a:avLst/>
              <a:gdLst/>
              <a:ahLst/>
              <a:cxnLst/>
              <a:rect r="r" b="b" t="t" l="l"/>
              <a:pathLst>
                <a:path h="548640" w="4937760">
                  <a:moveTo>
                    <a:pt x="0" y="0"/>
                  </a:moveTo>
                  <a:lnTo>
                    <a:pt x="4937760" y="0"/>
                  </a:lnTo>
                  <a:lnTo>
                    <a:pt x="493776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5365" r="0" b="-125365"/>
              </a:stretch>
            </a:blipFill>
          </p:spPr>
        </p:sp>
        <p:sp>
          <p:nvSpPr>
            <p:cNvPr name="TextBox 165" id="165"/>
            <p:cNvSpPr txBox="true"/>
            <p:nvPr/>
          </p:nvSpPr>
          <p:spPr>
            <a:xfrm>
              <a:off x="0" y="-19050"/>
              <a:ext cx="493776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444444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npm</a:t>
              </a:r>
            </a:p>
          </p:txBody>
        </p:sp>
      </p:grpSp>
      <p:grpSp>
        <p:nvGrpSpPr>
          <p:cNvPr name="Group 166" id="166"/>
          <p:cNvGrpSpPr/>
          <p:nvPr/>
        </p:nvGrpSpPr>
        <p:grpSpPr>
          <a:xfrm rot="0">
            <a:off x="13606272" y="6693408"/>
            <a:ext cx="3703320" cy="466344"/>
            <a:chOff x="0" y="0"/>
            <a:chExt cx="4937760" cy="621792"/>
          </a:xfrm>
        </p:grpSpPr>
        <p:sp>
          <p:nvSpPr>
            <p:cNvPr name="Freeform 167" id="167"/>
            <p:cNvSpPr/>
            <p:nvPr/>
          </p:nvSpPr>
          <p:spPr>
            <a:xfrm flipH="false" flipV="false" rot="0">
              <a:off x="0" y="0"/>
              <a:ext cx="4937760" cy="621792"/>
            </a:xfrm>
            <a:custGeom>
              <a:avLst/>
              <a:gdLst/>
              <a:ahLst/>
              <a:cxnLst/>
              <a:rect r="r" b="b" t="t" l="l"/>
              <a:pathLst>
                <a:path h="621792" w="4937760">
                  <a:moveTo>
                    <a:pt x="0" y="0"/>
                  </a:moveTo>
                  <a:lnTo>
                    <a:pt x="4937760" y="0"/>
                  </a:lnTo>
                  <a:lnTo>
                    <a:pt x="493776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4734" r="0" b="-104734"/>
              </a:stretch>
            </a:blipFill>
          </p:spPr>
        </p:sp>
        <p:sp>
          <p:nvSpPr>
            <p:cNvPr name="TextBox 168" id="168"/>
            <p:cNvSpPr txBox="true"/>
            <p:nvPr/>
          </p:nvSpPr>
          <p:spPr>
            <a:xfrm>
              <a:off x="0" y="-19050"/>
              <a:ext cx="4937760" cy="6408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4A4A4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Dependency management</a:t>
              </a:r>
            </a:p>
          </p:txBody>
        </p:sp>
      </p:grpSp>
      <p:grpSp>
        <p:nvGrpSpPr>
          <p:cNvPr name="Group 169" id="169"/>
          <p:cNvGrpSpPr/>
          <p:nvPr/>
        </p:nvGrpSpPr>
        <p:grpSpPr>
          <a:xfrm rot="0">
            <a:off x="678656" y="8633936"/>
            <a:ext cx="16884968" cy="974407"/>
            <a:chOff x="0" y="0"/>
            <a:chExt cx="22513290" cy="1299210"/>
          </a:xfrm>
        </p:grpSpPr>
        <p:sp>
          <p:nvSpPr>
            <p:cNvPr name="Freeform 170" id="170"/>
            <p:cNvSpPr/>
            <p:nvPr/>
          </p:nvSpPr>
          <p:spPr>
            <a:xfrm flipH="false" flipV="false" rot="0">
              <a:off x="0" y="0"/>
              <a:ext cx="22513289" cy="1299210"/>
            </a:xfrm>
            <a:custGeom>
              <a:avLst/>
              <a:gdLst/>
              <a:ahLst/>
              <a:cxnLst/>
              <a:rect r="r" b="b" t="t" l="l"/>
              <a:pathLst>
                <a:path h="1299210" w="22513289">
                  <a:moveTo>
                    <a:pt x="0" y="0"/>
                  </a:moveTo>
                  <a:lnTo>
                    <a:pt x="22513289" y="0"/>
                  </a:lnTo>
                  <a:lnTo>
                    <a:pt x="22513289" y="1299210"/>
                  </a:lnTo>
                  <a:lnTo>
                    <a:pt x="0" y="1299210"/>
                  </a:ln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3CFC9"/>
              </a:solidFill>
              <a:prstDash val="solid"/>
              <a:miter/>
            </a:ln>
          </p:spPr>
        </p:sp>
      </p:grpSp>
      <p:grpSp>
        <p:nvGrpSpPr>
          <p:cNvPr name="Group 171" id="171"/>
          <p:cNvGrpSpPr/>
          <p:nvPr/>
        </p:nvGrpSpPr>
        <p:grpSpPr>
          <a:xfrm rot="0">
            <a:off x="891540" y="8641080"/>
            <a:ext cx="16459200" cy="960120"/>
            <a:chOff x="0" y="0"/>
            <a:chExt cx="21945600" cy="1280160"/>
          </a:xfrm>
        </p:grpSpPr>
        <p:sp>
          <p:nvSpPr>
            <p:cNvPr name="Freeform 172" id="172"/>
            <p:cNvSpPr/>
            <p:nvPr/>
          </p:nvSpPr>
          <p:spPr>
            <a:xfrm flipH="false" flipV="false" rot="0">
              <a:off x="0" y="0"/>
              <a:ext cx="219456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4029" r="0" b="-284029"/>
              </a:stretch>
            </a:blipFill>
          </p:spPr>
        </p:sp>
        <p:sp>
          <p:nvSpPr>
            <p:cNvPr name="TextBox 173" id="173"/>
            <p:cNvSpPr txBox="true"/>
            <p:nvPr/>
          </p:nvSpPr>
          <p:spPr>
            <a:xfrm>
              <a:off x="0" y="-19050"/>
              <a:ext cx="21945600" cy="12992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6E2723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Why this stack?  One language (JavaScript) across all tiers lowers the learning curve, and JSON documents fit the flexible donor and request data naturally.</a:t>
              </a:r>
            </a:p>
          </p:txBody>
        </p:sp>
      </p:grp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7144" y="102584"/>
            <a:ext cx="18301830" cy="864680"/>
            <a:chOff x="0" y="0"/>
            <a:chExt cx="24402440" cy="115290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152906"/>
            </a:xfrm>
            <a:custGeom>
              <a:avLst/>
              <a:gdLst/>
              <a:ahLst/>
              <a:cxnLst/>
              <a:rect r="r" b="b" t="t" l="l"/>
              <a:pathLst>
                <a:path h="1152906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152906"/>
                  </a:lnTo>
                  <a:lnTo>
                    <a:pt x="0" y="1152906"/>
                  </a:lnTo>
                  <a:close/>
                </a:path>
              </a:pathLst>
            </a:custGeom>
            <a:solidFill>
              <a:srgbClr val="953734"/>
            </a:solidFill>
            <a:ln w="14288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411480" y="109728"/>
            <a:ext cx="17464583" cy="850392"/>
            <a:chOff x="0" y="0"/>
            <a:chExt cx="23286110" cy="113385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3286110" cy="1133856"/>
            </a:xfrm>
            <a:custGeom>
              <a:avLst/>
              <a:gdLst/>
              <a:ahLst/>
              <a:cxnLst/>
              <a:rect r="r" b="b" t="t" l="l"/>
              <a:pathLst>
                <a:path h="1133856" w="23286110">
                  <a:moveTo>
                    <a:pt x="0" y="0"/>
                  </a:moveTo>
                  <a:lnTo>
                    <a:pt x="23286110" y="0"/>
                  </a:lnTo>
                  <a:lnTo>
                    <a:pt x="2328611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0166" r="0" b="-35016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23286110" cy="11529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60"/>
                </a:lnSpc>
              </a:pPr>
              <a:r>
                <a:rPr lang="en-US" sz="3300" b="true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UI Design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7323308" y="9738360"/>
            <a:ext cx="685800" cy="411480"/>
            <a:chOff x="0" y="0"/>
            <a:chExt cx="914400" cy="5486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91440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99999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21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85800" y="1165860"/>
            <a:ext cx="16870680" cy="617220"/>
            <a:chOff x="0" y="0"/>
            <a:chExt cx="22494240" cy="82296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2494239" cy="822960"/>
            </a:xfrm>
            <a:custGeom>
              <a:avLst/>
              <a:gdLst/>
              <a:ahLst/>
              <a:cxnLst/>
              <a:rect r="r" b="b" t="t" l="l"/>
              <a:pathLst>
                <a:path h="822960" w="22494239">
                  <a:moveTo>
                    <a:pt x="0" y="0"/>
                  </a:moveTo>
                  <a:lnTo>
                    <a:pt x="22494239" y="0"/>
                  </a:lnTo>
                  <a:lnTo>
                    <a:pt x="22494239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2591" r="0" b="-482591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22494240" cy="8420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2B2B2B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The interface is clean, high-contrast and mobile-first so that anyone can act quickly during an emergency.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678656" y="1981676"/>
            <a:ext cx="9066848" cy="480632"/>
            <a:chOff x="0" y="0"/>
            <a:chExt cx="12089130" cy="64084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2089130" cy="640842"/>
            </a:xfrm>
            <a:custGeom>
              <a:avLst/>
              <a:gdLst/>
              <a:ahLst/>
              <a:cxnLst/>
              <a:rect r="r" b="b" t="t" l="l"/>
              <a:pathLst>
                <a:path h="640842" w="12089130">
                  <a:moveTo>
                    <a:pt x="0" y="0"/>
                  </a:moveTo>
                  <a:lnTo>
                    <a:pt x="12089130" y="0"/>
                  </a:lnTo>
                  <a:lnTo>
                    <a:pt x="12089130" y="640842"/>
                  </a:lnTo>
                  <a:lnTo>
                    <a:pt x="0" y="640842"/>
                  </a:lnTo>
                  <a:close/>
                </a:path>
              </a:pathLst>
            </a:custGeom>
            <a:solidFill>
              <a:srgbClr val="953734"/>
            </a:solidFill>
            <a:ln w="14288" cap="sq">
              <a:solidFill>
                <a:srgbClr val="953734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754380" y="1988820"/>
            <a:ext cx="8915400" cy="466344"/>
            <a:chOff x="0" y="0"/>
            <a:chExt cx="11887200" cy="62179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1887200" cy="621792"/>
            </a:xfrm>
            <a:custGeom>
              <a:avLst/>
              <a:gdLst/>
              <a:ahLst/>
              <a:cxnLst/>
              <a:rect r="r" b="b" t="t" l="l"/>
              <a:pathLst>
                <a:path h="621792" w="11887200">
                  <a:moveTo>
                    <a:pt x="0" y="0"/>
                  </a:moveTo>
                  <a:lnTo>
                    <a:pt x="11887200" y="0"/>
                  </a:lnTo>
                  <a:lnTo>
                    <a:pt x="1188720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2508" r="0" b="-322508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19050"/>
              <a:ext cx="11887200" cy="6408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SOS Board — Wireframe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678656" y="2530316"/>
            <a:ext cx="9066848" cy="6803707"/>
            <a:chOff x="0" y="0"/>
            <a:chExt cx="12089130" cy="907161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2089130" cy="9071610"/>
            </a:xfrm>
            <a:custGeom>
              <a:avLst/>
              <a:gdLst/>
              <a:ahLst/>
              <a:cxnLst/>
              <a:rect r="r" b="b" t="t" l="l"/>
              <a:pathLst>
                <a:path h="9071610" w="12089130">
                  <a:moveTo>
                    <a:pt x="0" y="0"/>
                  </a:moveTo>
                  <a:lnTo>
                    <a:pt x="12089130" y="0"/>
                  </a:lnTo>
                  <a:lnTo>
                    <a:pt x="12089130" y="9071610"/>
                  </a:lnTo>
                  <a:lnTo>
                    <a:pt x="0" y="9071610"/>
                  </a:ln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3CFC9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676275" y="2527935"/>
            <a:ext cx="9071610" cy="636270"/>
            <a:chOff x="0" y="0"/>
            <a:chExt cx="12095480" cy="84836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2095480" cy="848360"/>
            </a:xfrm>
            <a:custGeom>
              <a:avLst/>
              <a:gdLst/>
              <a:ahLst/>
              <a:cxnLst/>
              <a:rect r="r" b="b" t="t" l="l"/>
              <a:pathLst>
                <a:path h="848360" w="12095480">
                  <a:moveTo>
                    <a:pt x="0" y="0"/>
                  </a:moveTo>
                  <a:lnTo>
                    <a:pt x="12095480" y="0"/>
                  </a:lnTo>
                  <a:lnTo>
                    <a:pt x="12095480" y="848360"/>
                  </a:lnTo>
                  <a:lnTo>
                    <a:pt x="0" y="848360"/>
                  </a:lnTo>
                  <a:close/>
                </a:path>
              </a:pathLst>
            </a:custGeom>
            <a:solidFill>
              <a:srgbClr val="6E2723"/>
            </a:solidFill>
            <a:ln w="19050" cap="sq">
              <a:solidFill>
                <a:srgbClr val="6E2723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891540" y="2537460"/>
            <a:ext cx="3566160" cy="617220"/>
            <a:chOff x="0" y="0"/>
            <a:chExt cx="4754880" cy="82296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754880" cy="822960"/>
            </a:xfrm>
            <a:custGeom>
              <a:avLst/>
              <a:gdLst/>
              <a:ahLst/>
              <a:cxnLst/>
              <a:rect r="r" b="b" t="t" l="l"/>
              <a:pathLst>
                <a:path h="822960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2580" r="0" b="-6258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19050"/>
              <a:ext cx="4754880" cy="8420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Blood Donor Network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4526280" y="2537460"/>
            <a:ext cx="1234440" cy="617220"/>
            <a:chOff x="0" y="0"/>
            <a:chExt cx="1645920" cy="82296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645920" cy="822960"/>
            </a:xfrm>
            <a:custGeom>
              <a:avLst/>
              <a:gdLst/>
              <a:ahLst/>
              <a:cxnLst/>
              <a:rect r="r" b="b" t="t" l="l"/>
              <a:pathLst>
                <a:path h="822960" w="1645920">
                  <a:moveTo>
                    <a:pt x="0" y="0"/>
                  </a:moveTo>
                  <a:lnTo>
                    <a:pt x="1645920" y="0"/>
                  </a:lnTo>
                  <a:lnTo>
                    <a:pt x="164592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19050"/>
              <a:ext cx="1645920" cy="8420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>
                  <a:solidFill>
                    <a:srgbClr val="F3DCD8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Home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5829300" y="2537460"/>
            <a:ext cx="1234440" cy="617220"/>
            <a:chOff x="0" y="0"/>
            <a:chExt cx="1645920" cy="82296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645920" cy="822960"/>
            </a:xfrm>
            <a:custGeom>
              <a:avLst/>
              <a:gdLst/>
              <a:ahLst/>
              <a:cxnLst/>
              <a:rect r="r" b="b" t="t" l="l"/>
              <a:pathLst>
                <a:path h="822960" w="1645920">
                  <a:moveTo>
                    <a:pt x="0" y="0"/>
                  </a:moveTo>
                  <a:lnTo>
                    <a:pt x="1645920" y="0"/>
                  </a:lnTo>
                  <a:lnTo>
                    <a:pt x="164592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19050"/>
              <a:ext cx="1645920" cy="8420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>
                  <a:solidFill>
                    <a:srgbClr val="F3DCD8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SOS Board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7132320" y="2537460"/>
            <a:ext cx="1234440" cy="617220"/>
            <a:chOff x="0" y="0"/>
            <a:chExt cx="1645920" cy="82296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645920" cy="822960"/>
            </a:xfrm>
            <a:custGeom>
              <a:avLst/>
              <a:gdLst/>
              <a:ahLst/>
              <a:cxnLst/>
              <a:rect r="r" b="b" t="t" l="l"/>
              <a:pathLst>
                <a:path h="822960" w="1645920">
                  <a:moveTo>
                    <a:pt x="0" y="0"/>
                  </a:moveTo>
                  <a:lnTo>
                    <a:pt x="1645920" y="0"/>
                  </a:lnTo>
                  <a:lnTo>
                    <a:pt x="164592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19050"/>
              <a:ext cx="1645920" cy="8420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>
                  <a:solidFill>
                    <a:srgbClr val="F3DCD8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Donors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8435340" y="2537460"/>
            <a:ext cx="1234440" cy="617220"/>
            <a:chOff x="0" y="0"/>
            <a:chExt cx="1645920" cy="82296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645920" cy="822960"/>
            </a:xfrm>
            <a:custGeom>
              <a:avLst/>
              <a:gdLst/>
              <a:ahLst/>
              <a:cxnLst/>
              <a:rect r="r" b="b" t="t" l="l"/>
              <a:pathLst>
                <a:path h="822960" w="1645920">
                  <a:moveTo>
                    <a:pt x="0" y="0"/>
                  </a:moveTo>
                  <a:lnTo>
                    <a:pt x="1645920" y="0"/>
                  </a:lnTo>
                  <a:lnTo>
                    <a:pt x="164592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19050"/>
              <a:ext cx="1645920" cy="8420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>
                  <a:solidFill>
                    <a:srgbClr val="F3DCD8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Profile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950595" y="3350895"/>
            <a:ext cx="5505450" cy="567690"/>
            <a:chOff x="0" y="0"/>
            <a:chExt cx="7340600" cy="75692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7340600" cy="756920"/>
            </a:xfrm>
            <a:custGeom>
              <a:avLst/>
              <a:gdLst/>
              <a:ahLst/>
              <a:cxnLst/>
              <a:rect r="r" b="b" t="t" l="l"/>
              <a:pathLst>
                <a:path h="756920" w="7340600">
                  <a:moveTo>
                    <a:pt x="0" y="0"/>
                  </a:moveTo>
                  <a:lnTo>
                    <a:pt x="7340600" y="0"/>
                  </a:lnTo>
                  <a:lnTo>
                    <a:pt x="7340600" y="756920"/>
                  </a:lnTo>
                  <a:lnTo>
                    <a:pt x="0" y="756920"/>
                  </a:lnTo>
                  <a:close/>
                </a:path>
              </a:pathLst>
            </a:custGeom>
            <a:solidFill>
              <a:srgbClr val="F7EDEA"/>
            </a:solidFill>
            <a:ln w="19050" cap="sq">
              <a:solidFill>
                <a:srgbClr val="E3CFC9"/>
              </a:solidFill>
              <a:prstDash val="solid"/>
              <a:miter/>
            </a:ln>
          </p:spPr>
        </p:sp>
      </p:grpSp>
      <p:grpSp>
        <p:nvGrpSpPr>
          <p:cNvPr name="Group 39" id="39"/>
          <p:cNvGrpSpPr/>
          <p:nvPr/>
        </p:nvGrpSpPr>
        <p:grpSpPr>
          <a:xfrm rot="0">
            <a:off x="1097280" y="3360420"/>
            <a:ext cx="5212080" cy="548640"/>
            <a:chOff x="0" y="0"/>
            <a:chExt cx="6949440" cy="73152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6949440" cy="731520"/>
            </a:xfrm>
            <a:custGeom>
              <a:avLst/>
              <a:gdLst/>
              <a:ahLst/>
              <a:cxnLst/>
              <a:rect r="r" b="b" t="t" l="l"/>
              <a:pathLst>
                <a:path h="731520" w="6949440">
                  <a:moveTo>
                    <a:pt x="0" y="0"/>
                  </a:moveTo>
                  <a:lnTo>
                    <a:pt x="6949440" y="0"/>
                  </a:lnTo>
                  <a:lnTo>
                    <a:pt x="69494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5107" r="0" b="-135107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19050"/>
              <a:ext cx="694944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i="true">
                  <a:solidFill>
                    <a:srgbClr val="777777"/>
                  </a:solidFill>
                  <a:latin typeface="Times New Roman Italics"/>
                  <a:ea typeface="Times New Roman Italics"/>
                  <a:cs typeface="Times New Roman Italics"/>
                  <a:sym typeface="Times New Roman Italics"/>
                </a:rPr>
                <a:t>Filter: Blood group  •  Locality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6645116" y="3353276"/>
            <a:ext cx="2826067" cy="562928"/>
            <a:chOff x="0" y="0"/>
            <a:chExt cx="3768090" cy="75057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3768090" cy="750570"/>
            </a:xfrm>
            <a:custGeom>
              <a:avLst/>
              <a:gdLst/>
              <a:ahLst/>
              <a:cxnLst/>
              <a:rect r="r" b="b" t="t" l="l"/>
              <a:pathLst>
                <a:path h="750570" w="3768090">
                  <a:moveTo>
                    <a:pt x="0" y="0"/>
                  </a:moveTo>
                  <a:lnTo>
                    <a:pt x="3768090" y="0"/>
                  </a:lnTo>
                  <a:lnTo>
                    <a:pt x="3768090" y="750570"/>
                  </a:lnTo>
                  <a:lnTo>
                    <a:pt x="0" y="750570"/>
                  </a:lnTo>
                  <a:close/>
                </a:path>
              </a:pathLst>
            </a:custGeom>
            <a:solidFill>
              <a:srgbClr val="028090"/>
            </a:solidFill>
            <a:ln w="14288" cap="sq">
              <a:solidFill>
                <a:srgbClr val="028090"/>
              </a:solidFill>
              <a:prstDash val="solid"/>
              <a:miter/>
            </a:ln>
          </p:spPr>
        </p:sp>
      </p:grpSp>
      <p:grpSp>
        <p:nvGrpSpPr>
          <p:cNvPr name="Group 44" id="44"/>
          <p:cNvGrpSpPr/>
          <p:nvPr/>
        </p:nvGrpSpPr>
        <p:grpSpPr>
          <a:xfrm rot="0">
            <a:off x="6720840" y="3360420"/>
            <a:ext cx="2674620" cy="548640"/>
            <a:chOff x="0" y="0"/>
            <a:chExt cx="3566160" cy="73152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3566160" cy="731520"/>
            </a:xfrm>
            <a:custGeom>
              <a:avLst/>
              <a:gdLst/>
              <a:ahLst/>
              <a:cxnLst/>
              <a:rect r="r" b="b" t="t" l="l"/>
              <a:pathLst>
                <a:path h="731520" w="3566160">
                  <a:moveTo>
                    <a:pt x="0" y="0"/>
                  </a:moveTo>
                  <a:lnTo>
                    <a:pt x="3566160" y="0"/>
                  </a:lnTo>
                  <a:lnTo>
                    <a:pt x="35661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4989" r="0" b="-44989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19050"/>
              <a:ext cx="356616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Post SOS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952976" y="4176236"/>
            <a:ext cx="8518207" cy="1454468"/>
            <a:chOff x="0" y="0"/>
            <a:chExt cx="11357610" cy="193929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1357610" cy="1939290"/>
            </a:xfrm>
            <a:custGeom>
              <a:avLst/>
              <a:gdLst/>
              <a:ahLst/>
              <a:cxnLst/>
              <a:rect r="r" b="b" t="t" l="l"/>
              <a:pathLst>
                <a:path h="1939290" w="11357610">
                  <a:moveTo>
                    <a:pt x="0" y="0"/>
                  </a:moveTo>
                  <a:lnTo>
                    <a:pt x="11357610" y="0"/>
                  </a:lnTo>
                  <a:lnTo>
                    <a:pt x="11357610" y="1939290"/>
                  </a:lnTo>
                  <a:lnTo>
                    <a:pt x="0" y="1939290"/>
                  </a:lnTo>
                  <a:close/>
                </a:path>
              </a:pathLst>
            </a:custGeom>
            <a:solidFill>
              <a:srgbClr val="F7EDEA"/>
            </a:solidFill>
            <a:ln w="14288" cap="sq">
              <a:solidFill>
                <a:srgbClr val="E3CFC9"/>
              </a:solidFill>
              <a:prstDash val="solid"/>
              <a:miter/>
            </a:ln>
          </p:spPr>
        </p:sp>
      </p:grpSp>
      <p:grpSp>
        <p:nvGrpSpPr>
          <p:cNvPr name="Group 49" id="49"/>
          <p:cNvGrpSpPr/>
          <p:nvPr/>
        </p:nvGrpSpPr>
        <p:grpSpPr>
          <a:xfrm rot="0">
            <a:off x="1165860" y="4293108"/>
            <a:ext cx="5349240" cy="548640"/>
            <a:chOff x="0" y="0"/>
            <a:chExt cx="7132320" cy="73152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7132320" cy="731520"/>
            </a:xfrm>
            <a:custGeom>
              <a:avLst/>
              <a:gdLst/>
              <a:ahLst/>
              <a:cxnLst/>
              <a:rect r="r" b="b" t="t" l="l"/>
              <a:pathLst>
                <a:path h="731520" w="7132320">
                  <a:moveTo>
                    <a:pt x="0" y="0"/>
                  </a:moveTo>
                  <a:lnTo>
                    <a:pt x="7132320" y="0"/>
                  </a:lnTo>
                  <a:lnTo>
                    <a:pt x="71323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9979" r="0" b="-139979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19050"/>
              <a:ext cx="713232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2B2B2B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O−  •  2 units  •  City Hospital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7262336" y="4313396"/>
            <a:ext cx="2003108" cy="453200"/>
            <a:chOff x="0" y="0"/>
            <a:chExt cx="2670810" cy="604266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2670810" cy="604266"/>
            </a:xfrm>
            <a:custGeom>
              <a:avLst/>
              <a:gdLst/>
              <a:ahLst/>
              <a:cxnLst/>
              <a:rect r="r" b="b" t="t" l="l"/>
              <a:pathLst>
                <a:path h="604266" w="2670810">
                  <a:moveTo>
                    <a:pt x="0" y="0"/>
                  </a:moveTo>
                  <a:lnTo>
                    <a:pt x="2670810" y="0"/>
                  </a:lnTo>
                  <a:lnTo>
                    <a:pt x="2670810" y="604266"/>
                  </a:lnTo>
                  <a:lnTo>
                    <a:pt x="0" y="604266"/>
                  </a:lnTo>
                  <a:close/>
                </a:path>
              </a:pathLst>
            </a:custGeom>
            <a:solidFill>
              <a:srgbClr val="CC1414"/>
            </a:solidFill>
            <a:ln w="14288" cap="sq">
              <a:solidFill>
                <a:srgbClr val="CC1414"/>
              </a:solidFill>
              <a:prstDash val="solid"/>
              <a:miter/>
            </a:ln>
          </p:spPr>
        </p:sp>
      </p:grpSp>
      <p:grpSp>
        <p:nvGrpSpPr>
          <p:cNvPr name="Group 54" id="54"/>
          <p:cNvGrpSpPr/>
          <p:nvPr/>
        </p:nvGrpSpPr>
        <p:grpSpPr>
          <a:xfrm rot="0">
            <a:off x="7338060" y="4320540"/>
            <a:ext cx="1851660" cy="438912"/>
            <a:chOff x="0" y="0"/>
            <a:chExt cx="2468880" cy="585216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2468880" cy="585216"/>
            </a:xfrm>
            <a:custGeom>
              <a:avLst/>
              <a:gdLst/>
              <a:ahLst/>
              <a:cxnLst/>
              <a:rect r="r" b="b" t="t" l="l"/>
              <a:pathLst>
                <a:path h="585216" w="2468880">
                  <a:moveTo>
                    <a:pt x="0" y="0"/>
                  </a:moveTo>
                  <a:lnTo>
                    <a:pt x="2468880" y="0"/>
                  </a:lnTo>
                  <a:lnTo>
                    <a:pt x="246888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202" r="0" b="-32202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19050"/>
              <a:ext cx="2468880" cy="6042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CRITICAL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1158716" y="4999196"/>
            <a:ext cx="2071688" cy="494347"/>
            <a:chOff x="0" y="0"/>
            <a:chExt cx="2762250" cy="65913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2762250" cy="659130"/>
            </a:xfrm>
            <a:custGeom>
              <a:avLst/>
              <a:gdLst/>
              <a:ahLst/>
              <a:cxnLst/>
              <a:rect r="r" b="b" t="t" l="l"/>
              <a:pathLst>
                <a:path h="659130" w="2762250">
                  <a:moveTo>
                    <a:pt x="0" y="0"/>
                  </a:moveTo>
                  <a:lnTo>
                    <a:pt x="2762250" y="0"/>
                  </a:lnTo>
                  <a:lnTo>
                    <a:pt x="2762250" y="659130"/>
                  </a:lnTo>
                  <a:lnTo>
                    <a:pt x="0" y="659130"/>
                  </a:lnTo>
                  <a:close/>
                </a:path>
              </a:pathLst>
            </a:custGeom>
            <a:solidFill>
              <a:srgbClr val="028090"/>
            </a:solidFill>
            <a:ln w="14288" cap="sq">
              <a:solidFill>
                <a:srgbClr val="028090"/>
              </a:solidFill>
              <a:prstDash val="solid"/>
              <a:miter/>
            </a:ln>
          </p:spPr>
        </p:sp>
      </p:grpSp>
      <p:grpSp>
        <p:nvGrpSpPr>
          <p:cNvPr name="Group 59" id="59"/>
          <p:cNvGrpSpPr/>
          <p:nvPr/>
        </p:nvGrpSpPr>
        <p:grpSpPr>
          <a:xfrm rot="0">
            <a:off x="1234440" y="5006340"/>
            <a:ext cx="1920240" cy="480060"/>
            <a:chOff x="0" y="0"/>
            <a:chExt cx="2560320" cy="64008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2560320" cy="640080"/>
            </a:xfrm>
            <a:custGeom>
              <a:avLst/>
              <a:gdLst/>
              <a:ahLst/>
              <a:cxnLst/>
              <a:rect r="r" b="b" t="t" l="l"/>
              <a:pathLst>
                <a:path h="640080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940" r="0" b="-27940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19050"/>
              <a:ext cx="2560320" cy="6591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Call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3353276" y="4999196"/>
            <a:ext cx="2483167" cy="494347"/>
            <a:chOff x="0" y="0"/>
            <a:chExt cx="3310890" cy="65913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3310890" cy="659130"/>
            </a:xfrm>
            <a:custGeom>
              <a:avLst/>
              <a:gdLst/>
              <a:ahLst/>
              <a:cxnLst/>
              <a:rect r="r" b="b" t="t" l="l"/>
              <a:pathLst>
                <a:path h="659130" w="3310890">
                  <a:moveTo>
                    <a:pt x="0" y="0"/>
                  </a:moveTo>
                  <a:lnTo>
                    <a:pt x="3310890" y="0"/>
                  </a:lnTo>
                  <a:lnTo>
                    <a:pt x="3310890" y="659130"/>
                  </a:lnTo>
                  <a:lnTo>
                    <a:pt x="0" y="659130"/>
                  </a:lnTo>
                  <a:close/>
                </a:path>
              </a:pathLst>
            </a:custGeom>
            <a:solidFill>
              <a:srgbClr val="2E8B57"/>
            </a:solidFill>
            <a:ln w="14288" cap="sq">
              <a:solidFill>
                <a:srgbClr val="2E8B57"/>
              </a:solidFill>
              <a:prstDash val="solid"/>
              <a:miter/>
            </a:ln>
          </p:spPr>
        </p:sp>
      </p:grpSp>
      <p:grpSp>
        <p:nvGrpSpPr>
          <p:cNvPr name="Group 64" id="64"/>
          <p:cNvGrpSpPr/>
          <p:nvPr/>
        </p:nvGrpSpPr>
        <p:grpSpPr>
          <a:xfrm rot="0">
            <a:off x="3429000" y="5006340"/>
            <a:ext cx="2331720" cy="480060"/>
            <a:chOff x="0" y="0"/>
            <a:chExt cx="3108960" cy="64008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3108960" cy="640080"/>
            </a:xfrm>
            <a:custGeom>
              <a:avLst/>
              <a:gdLst/>
              <a:ahLst/>
              <a:cxnLst/>
              <a:rect r="r" b="b" t="t" l="l"/>
              <a:pathLst>
                <a:path h="640080" w="3108960">
                  <a:moveTo>
                    <a:pt x="0" y="0"/>
                  </a:moveTo>
                  <a:lnTo>
                    <a:pt x="3108960" y="0"/>
                  </a:lnTo>
                  <a:lnTo>
                    <a:pt x="310896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4641" r="0" b="-44641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19050"/>
              <a:ext cx="3108960" cy="6591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WhatsApp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952976" y="5822156"/>
            <a:ext cx="8518207" cy="1454468"/>
            <a:chOff x="0" y="0"/>
            <a:chExt cx="11357610" cy="193929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11357610" cy="1939290"/>
            </a:xfrm>
            <a:custGeom>
              <a:avLst/>
              <a:gdLst/>
              <a:ahLst/>
              <a:cxnLst/>
              <a:rect r="r" b="b" t="t" l="l"/>
              <a:pathLst>
                <a:path h="1939290" w="11357610">
                  <a:moveTo>
                    <a:pt x="0" y="0"/>
                  </a:moveTo>
                  <a:lnTo>
                    <a:pt x="11357610" y="0"/>
                  </a:lnTo>
                  <a:lnTo>
                    <a:pt x="11357610" y="1939290"/>
                  </a:lnTo>
                  <a:lnTo>
                    <a:pt x="0" y="1939290"/>
                  </a:lnTo>
                  <a:close/>
                </a:path>
              </a:pathLst>
            </a:custGeom>
            <a:solidFill>
              <a:srgbClr val="F7EDEA"/>
            </a:solidFill>
            <a:ln w="14288" cap="sq">
              <a:solidFill>
                <a:srgbClr val="E3CFC9"/>
              </a:solidFill>
              <a:prstDash val="solid"/>
              <a:miter/>
            </a:ln>
          </p:spPr>
        </p:sp>
      </p:grpSp>
      <p:grpSp>
        <p:nvGrpSpPr>
          <p:cNvPr name="Group 69" id="69"/>
          <p:cNvGrpSpPr/>
          <p:nvPr/>
        </p:nvGrpSpPr>
        <p:grpSpPr>
          <a:xfrm rot="0">
            <a:off x="1165860" y="5939028"/>
            <a:ext cx="5349240" cy="548640"/>
            <a:chOff x="0" y="0"/>
            <a:chExt cx="7132320" cy="73152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7132320" cy="731520"/>
            </a:xfrm>
            <a:custGeom>
              <a:avLst/>
              <a:gdLst/>
              <a:ahLst/>
              <a:cxnLst/>
              <a:rect r="r" b="b" t="t" l="l"/>
              <a:pathLst>
                <a:path h="731520" w="7132320">
                  <a:moveTo>
                    <a:pt x="0" y="0"/>
                  </a:moveTo>
                  <a:lnTo>
                    <a:pt x="7132320" y="0"/>
                  </a:lnTo>
                  <a:lnTo>
                    <a:pt x="71323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9979" r="0" b="-139979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19050"/>
              <a:ext cx="713232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2B2B2B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B+  •  1 unit  •  Green Park Clinic</a:t>
              </a: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7262336" y="5959316"/>
            <a:ext cx="2003108" cy="453200"/>
            <a:chOff x="0" y="0"/>
            <a:chExt cx="2670810" cy="604266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2670810" cy="604266"/>
            </a:xfrm>
            <a:custGeom>
              <a:avLst/>
              <a:gdLst/>
              <a:ahLst/>
              <a:cxnLst/>
              <a:rect r="r" b="b" t="t" l="l"/>
              <a:pathLst>
                <a:path h="604266" w="2670810">
                  <a:moveTo>
                    <a:pt x="0" y="0"/>
                  </a:moveTo>
                  <a:lnTo>
                    <a:pt x="2670810" y="0"/>
                  </a:lnTo>
                  <a:lnTo>
                    <a:pt x="2670810" y="604266"/>
                  </a:lnTo>
                  <a:lnTo>
                    <a:pt x="0" y="604266"/>
                  </a:lnTo>
                  <a:close/>
                </a:path>
              </a:pathLst>
            </a:custGeom>
            <a:solidFill>
              <a:srgbClr val="C98A2C"/>
            </a:solidFill>
            <a:ln w="14288" cap="sq">
              <a:solidFill>
                <a:srgbClr val="C98A2C"/>
              </a:solidFill>
              <a:prstDash val="solid"/>
              <a:miter/>
            </a:ln>
          </p:spPr>
        </p:sp>
      </p:grpSp>
      <p:grpSp>
        <p:nvGrpSpPr>
          <p:cNvPr name="Group 74" id="74"/>
          <p:cNvGrpSpPr/>
          <p:nvPr/>
        </p:nvGrpSpPr>
        <p:grpSpPr>
          <a:xfrm rot="0">
            <a:off x="7338060" y="5966460"/>
            <a:ext cx="1851660" cy="438912"/>
            <a:chOff x="0" y="0"/>
            <a:chExt cx="2468880" cy="585216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2468880" cy="585216"/>
            </a:xfrm>
            <a:custGeom>
              <a:avLst/>
              <a:gdLst/>
              <a:ahLst/>
              <a:cxnLst/>
              <a:rect r="r" b="b" t="t" l="l"/>
              <a:pathLst>
                <a:path h="585216" w="2468880">
                  <a:moveTo>
                    <a:pt x="0" y="0"/>
                  </a:moveTo>
                  <a:lnTo>
                    <a:pt x="2468880" y="0"/>
                  </a:lnTo>
                  <a:lnTo>
                    <a:pt x="246888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202" r="0" b="-32202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19050"/>
              <a:ext cx="2468880" cy="6042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URGENT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1158716" y="6645116"/>
            <a:ext cx="2071688" cy="494347"/>
            <a:chOff x="0" y="0"/>
            <a:chExt cx="2762250" cy="65913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2762250" cy="659130"/>
            </a:xfrm>
            <a:custGeom>
              <a:avLst/>
              <a:gdLst/>
              <a:ahLst/>
              <a:cxnLst/>
              <a:rect r="r" b="b" t="t" l="l"/>
              <a:pathLst>
                <a:path h="659130" w="2762250">
                  <a:moveTo>
                    <a:pt x="0" y="0"/>
                  </a:moveTo>
                  <a:lnTo>
                    <a:pt x="2762250" y="0"/>
                  </a:lnTo>
                  <a:lnTo>
                    <a:pt x="2762250" y="659130"/>
                  </a:lnTo>
                  <a:lnTo>
                    <a:pt x="0" y="659130"/>
                  </a:lnTo>
                  <a:close/>
                </a:path>
              </a:pathLst>
            </a:custGeom>
            <a:solidFill>
              <a:srgbClr val="028090"/>
            </a:solidFill>
            <a:ln w="14288" cap="sq">
              <a:solidFill>
                <a:srgbClr val="028090"/>
              </a:solidFill>
              <a:prstDash val="solid"/>
              <a:miter/>
            </a:ln>
          </p:spPr>
        </p:sp>
      </p:grpSp>
      <p:grpSp>
        <p:nvGrpSpPr>
          <p:cNvPr name="Group 79" id="79"/>
          <p:cNvGrpSpPr/>
          <p:nvPr/>
        </p:nvGrpSpPr>
        <p:grpSpPr>
          <a:xfrm rot="0">
            <a:off x="1234440" y="6652260"/>
            <a:ext cx="1920240" cy="480060"/>
            <a:chOff x="0" y="0"/>
            <a:chExt cx="2560320" cy="640080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2560320" cy="640080"/>
            </a:xfrm>
            <a:custGeom>
              <a:avLst/>
              <a:gdLst/>
              <a:ahLst/>
              <a:cxnLst/>
              <a:rect r="r" b="b" t="t" l="l"/>
              <a:pathLst>
                <a:path h="640080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940" r="0" b="-27940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-19050"/>
              <a:ext cx="2560320" cy="6591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Call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3353276" y="6645116"/>
            <a:ext cx="2483167" cy="494347"/>
            <a:chOff x="0" y="0"/>
            <a:chExt cx="3310890" cy="659130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3310890" cy="659130"/>
            </a:xfrm>
            <a:custGeom>
              <a:avLst/>
              <a:gdLst/>
              <a:ahLst/>
              <a:cxnLst/>
              <a:rect r="r" b="b" t="t" l="l"/>
              <a:pathLst>
                <a:path h="659130" w="3310890">
                  <a:moveTo>
                    <a:pt x="0" y="0"/>
                  </a:moveTo>
                  <a:lnTo>
                    <a:pt x="3310890" y="0"/>
                  </a:lnTo>
                  <a:lnTo>
                    <a:pt x="3310890" y="659130"/>
                  </a:lnTo>
                  <a:lnTo>
                    <a:pt x="0" y="659130"/>
                  </a:lnTo>
                  <a:close/>
                </a:path>
              </a:pathLst>
            </a:custGeom>
            <a:solidFill>
              <a:srgbClr val="2E8B57"/>
            </a:solidFill>
            <a:ln w="14288" cap="sq">
              <a:solidFill>
                <a:srgbClr val="2E8B57"/>
              </a:solidFill>
              <a:prstDash val="solid"/>
              <a:miter/>
            </a:ln>
          </p:spPr>
        </p:sp>
      </p:grpSp>
      <p:grpSp>
        <p:nvGrpSpPr>
          <p:cNvPr name="Group 84" id="84"/>
          <p:cNvGrpSpPr/>
          <p:nvPr/>
        </p:nvGrpSpPr>
        <p:grpSpPr>
          <a:xfrm rot="0">
            <a:off x="3429000" y="6652260"/>
            <a:ext cx="2331720" cy="480060"/>
            <a:chOff x="0" y="0"/>
            <a:chExt cx="3108960" cy="640080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3108960" cy="640080"/>
            </a:xfrm>
            <a:custGeom>
              <a:avLst/>
              <a:gdLst/>
              <a:ahLst/>
              <a:cxnLst/>
              <a:rect r="r" b="b" t="t" l="l"/>
              <a:pathLst>
                <a:path h="640080" w="3108960">
                  <a:moveTo>
                    <a:pt x="0" y="0"/>
                  </a:moveTo>
                  <a:lnTo>
                    <a:pt x="3108960" y="0"/>
                  </a:lnTo>
                  <a:lnTo>
                    <a:pt x="310896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4641" r="0" b="-44641"/>
              </a:stretch>
            </a:blipFill>
          </p:spPr>
        </p:sp>
        <p:sp>
          <p:nvSpPr>
            <p:cNvPr name="TextBox 86" id="86"/>
            <p:cNvSpPr txBox="true"/>
            <p:nvPr/>
          </p:nvSpPr>
          <p:spPr>
            <a:xfrm>
              <a:off x="0" y="-19050"/>
              <a:ext cx="3108960" cy="6591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WhatsApp</a:t>
              </a:r>
            </a:p>
          </p:txBody>
        </p:sp>
      </p:grpSp>
      <p:grpSp>
        <p:nvGrpSpPr>
          <p:cNvPr name="Group 87" id="87"/>
          <p:cNvGrpSpPr/>
          <p:nvPr/>
        </p:nvGrpSpPr>
        <p:grpSpPr>
          <a:xfrm rot="0">
            <a:off x="952976" y="7468076"/>
            <a:ext cx="8518207" cy="1454468"/>
            <a:chOff x="0" y="0"/>
            <a:chExt cx="11357610" cy="1939290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11357610" cy="1939290"/>
            </a:xfrm>
            <a:custGeom>
              <a:avLst/>
              <a:gdLst/>
              <a:ahLst/>
              <a:cxnLst/>
              <a:rect r="r" b="b" t="t" l="l"/>
              <a:pathLst>
                <a:path h="1939290" w="11357610">
                  <a:moveTo>
                    <a:pt x="0" y="0"/>
                  </a:moveTo>
                  <a:lnTo>
                    <a:pt x="11357610" y="0"/>
                  </a:lnTo>
                  <a:lnTo>
                    <a:pt x="11357610" y="1939290"/>
                  </a:lnTo>
                  <a:lnTo>
                    <a:pt x="0" y="1939290"/>
                  </a:lnTo>
                  <a:close/>
                </a:path>
              </a:pathLst>
            </a:custGeom>
            <a:solidFill>
              <a:srgbClr val="F7EDEA"/>
            </a:solidFill>
            <a:ln w="14288" cap="sq">
              <a:solidFill>
                <a:srgbClr val="E3CFC9"/>
              </a:solidFill>
              <a:prstDash val="solid"/>
              <a:miter/>
            </a:ln>
          </p:spPr>
        </p:sp>
      </p:grpSp>
      <p:grpSp>
        <p:nvGrpSpPr>
          <p:cNvPr name="Group 89" id="89"/>
          <p:cNvGrpSpPr/>
          <p:nvPr/>
        </p:nvGrpSpPr>
        <p:grpSpPr>
          <a:xfrm rot="0">
            <a:off x="1165860" y="7584948"/>
            <a:ext cx="5349240" cy="548640"/>
            <a:chOff x="0" y="0"/>
            <a:chExt cx="7132320" cy="731520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7132320" cy="731520"/>
            </a:xfrm>
            <a:custGeom>
              <a:avLst/>
              <a:gdLst/>
              <a:ahLst/>
              <a:cxnLst/>
              <a:rect r="r" b="b" t="t" l="l"/>
              <a:pathLst>
                <a:path h="731520" w="7132320">
                  <a:moveTo>
                    <a:pt x="0" y="0"/>
                  </a:moveTo>
                  <a:lnTo>
                    <a:pt x="7132320" y="0"/>
                  </a:lnTo>
                  <a:lnTo>
                    <a:pt x="71323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9979" r="0" b="-139979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-19050"/>
              <a:ext cx="713232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2B2B2B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A+  •  3 units  •  Sunrise Hospital</a:t>
              </a:r>
            </a:p>
          </p:txBody>
        </p:sp>
      </p:grpSp>
      <p:grpSp>
        <p:nvGrpSpPr>
          <p:cNvPr name="Group 92" id="92"/>
          <p:cNvGrpSpPr/>
          <p:nvPr/>
        </p:nvGrpSpPr>
        <p:grpSpPr>
          <a:xfrm rot="0">
            <a:off x="7262336" y="7605236"/>
            <a:ext cx="2003108" cy="453200"/>
            <a:chOff x="0" y="0"/>
            <a:chExt cx="2670810" cy="604266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2670810" cy="604266"/>
            </a:xfrm>
            <a:custGeom>
              <a:avLst/>
              <a:gdLst/>
              <a:ahLst/>
              <a:cxnLst/>
              <a:rect r="r" b="b" t="t" l="l"/>
              <a:pathLst>
                <a:path h="604266" w="2670810">
                  <a:moveTo>
                    <a:pt x="0" y="0"/>
                  </a:moveTo>
                  <a:lnTo>
                    <a:pt x="2670810" y="0"/>
                  </a:lnTo>
                  <a:lnTo>
                    <a:pt x="2670810" y="604266"/>
                  </a:lnTo>
                  <a:lnTo>
                    <a:pt x="0" y="604266"/>
                  </a:lnTo>
                  <a:close/>
                </a:path>
              </a:pathLst>
            </a:custGeom>
            <a:solidFill>
              <a:srgbClr val="028090"/>
            </a:solidFill>
            <a:ln w="14288" cap="sq">
              <a:solidFill>
                <a:srgbClr val="028090"/>
              </a:solidFill>
              <a:prstDash val="solid"/>
              <a:miter/>
            </a:ln>
          </p:spPr>
        </p:sp>
      </p:grpSp>
      <p:grpSp>
        <p:nvGrpSpPr>
          <p:cNvPr name="Group 94" id="94"/>
          <p:cNvGrpSpPr/>
          <p:nvPr/>
        </p:nvGrpSpPr>
        <p:grpSpPr>
          <a:xfrm rot="0">
            <a:off x="7338060" y="7612380"/>
            <a:ext cx="1851660" cy="438912"/>
            <a:chOff x="0" y="0"/>
            <a:chExt cx="2468880" cy="585216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2468880" cy="585216"/>
            </a:xfrm>
            <a:custGeom>
              <a:avLst/>
              <a:gdLst/>
              <a:ahLst/>
              <a:cxnLst/>
              <a:rect r="r" b="b" t="t" l="l"/>
              <a:pathLst>
                <a:path h="585216" w="2468880">
                  <a:moveTo>
                    <a:pt x="0" y="0"/>
                  </a:moveTo>
                  <a:lnTo>
                    <a:pt x="2468880" y="0"/>
                  </a:lnTo>
                  <a:lnTo>
                    <a:pt x="246888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202" r="0" b="-32202"/>
              </a:stretch>
            </a:blipFill>
          </p:spPr>
        </p:sp>
        <p:sp>
          <p:nvSpPr>
            <p:cNvPr name="TextBox 96" id="96"/>
            <p:cNvSpPr txBox="true"/>
            <p:nvPr/>
          </p:nvSpPr>
          <p:spPr>
            <a:xfrm>
              <a:off x="0" y="-19050"/>
              <a:ext cx="2468880" cy="6042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PLANNED</a:t>
              </a:r>
            </a:p>
          </p:txBody>
        </p:sp>
      </p:grpSp>
      <p:grpSp>
        <p:nvGrpSpPr>
          <p:cNvPr name="Group 97" id="97"/>
          <p:cNvGrpSpPr/>
          <p:nvPr/>
        </p:nvGrpSpPr>
        <p:grpSpPr>
          <a:xfrm rot="0">
            <a:off x="1158716" y="8291036"/>
            <a:ext cx="2071688" cy="494347"/>
            <a:chOff x="0" y="0"/>
            <a:chExt cx="2762250" cy="659130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2762250" cy="659130"/>
            </a:xfrm>
            <a:custGeom>
              <a:avLst/>
              <a:gdLst/>
              <a:ahLst/>
              <a:cxnLst/>
              <a:rect r="r" b="b" t="t" l="l"/>
              <a:pathLst>
                <a:path h="659130" w="2762250">
                  <a:moveTo>
                    <a:pt x="0" y="0"/>
                  </a:moveTo>
                  <a:lnTo>
                    <a:pt x="2762250" y="0"/>
                  </a:lnTo>
                  <a:lnTo>
                    <a:pt x="2762250" y="659130"/>
                  </a:lnTo>
                  <a:lnTo>
                    <a:pt x="0" y="659130"/>
                  </a:lnTo>
                  <a:close/>
                </a:path>
              </a:pathLst>
            </a:custGeom>
            <a:solidFill>
              <a:srgbClr val="028090"/>
            </a:solidFill>
            <a:ln w="14288" cap="sq">
              <a:solidFill>
                <a:srgbClr val="028090"/>
              </a:solidFill>
              <a:prstDash val="solid"/>
              <a:miter/>
            </a:ln>
          </p:spPr>
        </p:sp>
      </p:grpSp>
      <p:grpSp>
        <p:nvGrpSpPr>
          <p:cNvPr name="Group 99" id="99"/>
          <p:cNvGrpSpPr/>
          <p:nvPr/>
        </p:nvGrpSpPr>
        <p:grpSpPr>
          <a:xfrm rot="0">
            <a:off x="1234440" y="8298180"/>
            <a:ext cx="1920240" cy="480060"/>
            <a:chOff x="0" y="0"/>
            <a:chExt cx="2560320" cy="640080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2560320" cy="640080"/>
            </a:xfrm>
            <a:custGeom>
              <a:avLst/>
              <a:gdLst/>
              <a:ahLst/>
              <a:cxnLst/>
              <a:rect r="r" b="b" t="t" l="l"/>
              <a:pathLst>
                <a:path h="640080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940" r="0" b="-27940"/>
              </a:stretch>
            </a:blipFill>
          </p:spPr>
        </p:sp>
        <p:sp>
          <p:nvSpPr>
            <p:cNvPr name="TextBox 101" id="101"/>
            <p:cNvSpPr txBox="true"/>
            <p:nvPr/>
          </p:nvSpPr>
          <p:spPr>
            <a:xfrm>
              <a:off x="0" y="-19050"/>
              <a:ext cx="2560320" cy="6591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Call</a:t>
              </a:r>
            </a:p>
          </p:txBody>
        </p:sp>
      </p:grpSp>
      <p:grpSp>
        <p:nvGrpSpPr>
          <p:cNvPr name="Group 102" id="102"/>
          <p:cNvGrpSpPr/>
          <p:nvPr/>
        </p:nvGrpSpPr>
        <p:grpSpPr>
          <a:xfrm rot="0">
            <a:off x="3353276" y="8291036"/>
            <a:ext cx="2483167" cy="494347"/>
            <a:chOff x="0" y="0"/>
            <a:chExt cx="3310890" cy="659130"/>
          </a:xfrm>
        </p:grpSpPr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3310890" cy="659130"/>
            </a:xfrm>
            <a:custGeom>
              <a:avLst/>
              <a:gdLst/>
              <a:ahLst/>
              <a:cxnLst/>
              <a:rect r="r" b="b" t="t" l="l"/>
              <a:pathLst>
                <a:path h="659130" w="3310890">
                  <a:moveTo>
                    <a:pt x="0" y="0"/>
                  </a:moveTo>
                  <a:lnTo>
                    <a:pt x="3310890" y="0"/>
                  </a:lnTo>
                  <a:lnTo>
                    <a:pt x="3310890" y="659130"/>
                  </a:lnTo>
                  <a:lnTo>
                    <a:pt x="0" y="659130"/>
                  </a:lnTo>
                  <a:close/>
                </a:path>
              </a:pathLst>
            </a:custGeom>
            <a:solidFill>
              <a:srgbClr val="2E8B57"/>
            </a:solidFill>
            <a:ln w="14288" cap="sq">
              <a:solidFill>
                <a:srgbClr val="2E8B57"/>
              </a:solidFill>
              <a:prstDash val="solid"/>
              <a:miter/>
            </a:ln>
          </p:spPr>
        </p:sp>
      </p:grpSp>
      <p:grpSp>
        <p:nvGrpSpPr>
          <p:cNvPr name="Group 104" id="104"/>
          <p:cNvGrpSpPr/>
          <p:nvPr/>
        </p:nvGrpSpPr>
        <p:grpSpPr>
          <a:xfrm rot="0">
            <a:off x="3429000" y="8298180"/>
            <a:ext cx="2331720" cy="480060"/>
            <a:chOff x="0" y="0"/>
            <a:chExt cx="3108960" cy="640080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3108960" cy="640080"/>
            </a:xfrm>
            <a:custGeom>
              <a:avLst/>
              <a:gdLst/>
              <a:ahLst/>
              <a:cxnLst/>
              <a:rect r="r" b="b" t="t" l="l"/>
              <a:pathLst>
                <a:path h="640080" w="3108960">
                  <a:moveTo>
                    <a:pt x="0" y="0"/>
                  </a:moveTo>
                  <a:lnTo>
                    <a:pt x="3108960" y="0"/>
                  </a:lnTo>
                  <a:lnTo>
                    <a:pt x="310896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4641" r="0" b="-44641"/>
              </a:stretch>
            </a:blipFill>
          </p:spPr>
        </p:sp>
        <p:sp>
          <p:nvSpPr>
            <p:cNvPr name="TextBox 106" id="106"/>
            <p:cNvSpPr txBox="true"/>
            <p:nvPr/>
          </p:nvSpPr>
          <p:spPr>
            <a:xfrm>
              <a:off x="0" y="-19050"/>
              <a:ext cx="3108960" cy="6591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WhatsApp</a:t>
              </a:r>
            </a:p>
          </p:txBody>
        </p:sp>
      </p:grpSp>
      <p:grpSp>
        <p:nvGrpSpPr>
          <p:cNvPr name="Group 107" id="107"/>
          <p:cNvGrpSpPr/>
          <p:nvPr/>
        </p:nvGrpSpPr>
        <p:grpSpPr>
          <a:xfrm rot="0">
            <a:off x="10279856" y="1981676"/>
            <a:ext cx="7283768" cy="480632"/>
            <a:chOff x="0" y="0"/>
            <a:chExt cx="9711690" cy="640842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9711690" cy="640842"/>
            </a:xfrm>
            <a:custGeom>
              <a:avLst/>
              <a:gdLst/>
              <a:ahLst/>
              <a:cxnLst/>
              <a:rect r="r" b="b" t="t" l="l"/>
              <a:pathLst>
                <a:path h="640842" w="9711690">
                  <a:moveTo>
                    <a:pt x="0" y="0"/>
                  </a:moveTo>
                  <a:lnTo>
                    <a:pt x="9711690" y="0"/>
                  </a:lnTo>
                  <a:lnTo>
                    <a:pt x="9711690" y="640842"/>
                  </a:lnTo>
                  <a:lnTo>
                    <a:pt x="0" y="640842"/>
                  </a:lnTo>
                  <a:close/>
                </a:path>
              </a:pathLst>
            </a:custGeom>
            <a:solidFill>
              <a:srgbClr val="028090"/>
            </a:solidFill>
            <a:ln w="14288" cap="sq">
              <a:solidFill>
                <a:srgbClr val="028090"/>
              </a:solidFill>
              <a:prstDash val="solid"/>
              <a:miter/>
            </a:ln>
          </p:spPr>
        </p:sp>
      </p:grpSp>
      <p:grpSp>
        <p:nvGrpSpPr>
          <p:cNvPr name="Group 109" id="109"/>
          <p:cNvGrpSpPr/>
          <p:nvPr/>
        </p:nvGrpSpPr>
        <p:grpSpPr>
          <a:xfrm rot="0">
            <a:off x="10355580" y="1988820"/>
            <a:ext cx="7132320" cy="466344"/>
            <a:chOff x="0" y="0"/>
            <a:chExt cx="9509760" cy="621792"/>
          </a:xfrm>
        </p:grpSpPr>
        <p:sp>
          <p:nvSpPr>
            <p:cNvPr name="Freeform 110" id="110"/>
            <p:cNvSpPr/>
            <p:nvPr/>
          </p:nvSpPr>
          <p:spPr>
            <a:xfrm flipH="false" flipV="false" rot="0">
              <a:off x="0" y="0"/>
              <a:ext cx="9509760" cy="621792"/>
            </a:xfrm>
            <a:custGeom>
              <a:avLst/>
              <a:gdLst/>
              <a:ahLst/>
              <a:cxnLst/>
              <a:rect r="r" b="b" t="t" l="l"/>
              <a:pathLst>
                <a:path h="621792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8006" r="0" b="-248006"/>
              </a:stretch>
            </a:blipFill>
          </p:spPr>
        </p:sp>
        <p:sp>
          <p:nvSpPr>
            <p:cNvPr name="TextBox 111" id="111"/>
            <p:cNvSpPr txBox="true"/>
            <p:nvPr/>
          </p:nvSpPr>
          <p:spPr>
            <a:xfrm>
              <a:off x="0" y="-19050"/>
              <a:ext cx="9509760" cy="6408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Page Structure (React Router)</a:t>
              </a:r>
            </a:p>
          </p:txBody>
        </p:sp>
      </p:grpSp>
      <p:grpSp>
        <p:nvGrpSpPr>
          <p:cNvPr name="Group 112" id="112"/>
          <p:cNvGrpSpPr/>
          <p:nvPr/>
        </p:nvGrpSpPr>
        <p:grpSpPr>
          <a:xfrm rot="0">
            <a:off x="10287000" y="2606040"/>
            <a:ext cx="1645920" cy="576072"/>
            <a:chOff x="0" y="0"/>
            <a:chExt cx="2194560" cy="768096"/>
          </a:xfrm>
        </p:grpSpPr>
        <p:sp>
          <p:nvSpPr>
            <p:cNvPr name="Freeform 113" id="113"/>
            <p:cNvSpPr/>
            <p:nvPr/>
          </p:nvSpPr>
          <p:spPr>
            <a:xfrm flipH="false" flipV="false" rot="0">
              <a:off x="0" y="0"/>
              <a:ext cx="2194560" cy="768096"/>
            </a:xfrm>
            <a:custGeom>
              <a:avLst/>
              <a:gdLst/>
              <a:ahLst/>
              <a:cxnLst/>
              <a:rect r="r" b="b" t="t" l="l"/>
              <a:pathLst>
                <a:path h="768096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671" r="0" b="-5671"/>
              </a:stretch>
            </a:blipFill>
          </p:spPr>
        </p:sp>
        <p:sp>
          <p:nvSpPr>
            <p:cNvPr name="TextBox 114" id="114"/>
            <p:cNvSpPr txBox="true"/>
            <p:nvPr/>
          </p:nvSpPr>
          <p:spPr>
            <a:xfrm>
              <a:off x="0" y="-19050"/>
              <a:ext cx="2194560" cy="7871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953734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/</a:t>
              </a:r>
            </a:p>
          </p:txBody>
        </p:sp>
      </p:grpSp>
      <p:grpSp>
        <p:nvGrpSpPr>
          <p:cNvPr name="Group 115" id="115"/>
          <p:cNvGrpSpPr/>
          <p:nvPr/>
        </p:nvGrpSpPr>
        <p:grpSpPr>
          <a:xfrm rot="0">
            <a:off x="11932920" y="2606040"/>
            <a:ext cx="5623560" cy="576072"/>
            <a:chOff x="0" y="0"/>
            <a:chExt cx="7498080" cy="768096"/>
          </a:xfrm>
        </p:grpSpPr>
        <p:sp>
          <p:nvSpPr>
            <p:cNvPr name="Freeform 116" id="116"/>
            <p:cNvSpPr/>
            <p:nvPr/>
          </p:nvSpPr>
          <p:spPr>
            <a:xfrm flipH="false" flipV="false" rot="0">
              <a:off x="0" y="0"/>
              <a:ext cx="7498080" cy="768096"/>
            </a:xfrm>
            <a:custGeom>
              <a:avLst/>
              <a:gdLst/>
              <a:ahLst/>
              <a:cxnLst/>
              <a:rect r="r" b="b" t="t" l="l"/>
              <a:pathLst>
                <a:path h="768096" w="7498080">
                  <a:moveTo>
                    <a:pt x="0" y="0"/>
                  </a:moveTo>
                  <a:lnTo>
                    <a:pt x="7498080" y="0"/>
                  </a:lnTo>
                  <a:lnTo>
                    <a:pt x="749808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0211" r="0" b="-140211"/>
              </a:stretch>
            </a:blipFill>
          </p:spPr>
        </p:sp>
        <p:sp>
          <p:nvSpPr>
            <p:cNvPr name="TextBox 117" id="117"/>
            <p:cNvSpPr txBox="true"/>
            <p:nvPr/>
          </p:nvSpPr>
          <p:spPr>
            <a:xfrm>
              <a:off x="0" y="-19050"/>
              <a:ext cx="7498080" cy="7871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2B2B2B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Home — mission and quick SOS access</a:t>
              </a:r>
            </a:p>
          </p:txBody>
        </p:sp>
      </p:grpSp>
      <p:grpSp>
        <p:nvGrpSpPr>
          <p:cNvPr name="Group 118" id="118"/>
          <p:cNvGrpSpPr/>
          <p:nvPr/>
        </p:nvGrpSpPr>
        <p:grpSpPr>
          <a:xfrm rot="0">
            <a:off x="10287000" y="3291840"/>
            <a:ext cx="1645920" cy="576072"/>
            <a:chOff x="0" y="0"/>
            <a:chExt cx="2194560" cy="768096"/>
          </a:xfrm>
        </p:grpSpPr>
        <p:sp>
          <p:nvSpPr>
            <p:cNvPr name="Freeform 119" id="119"/>
            <p:cNvSpPr/>
            <p:nvPr/>
          </p:nvSpPr>
          <p:spPr>
            <a:xfrm flipH="false" flipV="false" rot="0">
              <a:off x="0" y="0"/>
              <a:ext cx="2194560" cy="768096"/>
            </a:xfrm>
            <a:custGeom>
              <a:avLst/>
              <a:gdLst/>
              <a:ahLst/>
              <a:cxnLst/>
              <a:rect r="r" b="b" t="t" l="l"/>
              <a:pathLst>
                <a:path h="768096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671" r="0" b="-5671"/>
              </a:stretch>
            </a:blipFill>
          </p:spPr>
        </p:sp>
        <p:sp>
          <p:nvSpPr>
            <p:cNvPr name="TextBox 120" id="120"/>
            <p:cNvSpPr txBox="true"/>
            <p:nvPr/>
          </p:nvSpPr>
          <p:spPr>
            <a:xfrm>
              <a:off x="0" y="-19050"/>
              <a:ext cx="2194560" cy="7871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953734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/register</a:t>
              </a:r>
            </a:p>
          </p:txBody>
        </p:sp>
      </p:grpSp>
      <p:grpSp>
        <p:nvGrpSpPr>
          <p:cNvPr name="Group 121" id="121"/>
          <p:cNvGrpSpPr/>
          <p:nvPr/>
        </p:nvGrpSpPr>
        <p:grpSpPr>
          <a:xfrm rot="0">
            <a:off x="11932920" y="3291840"/>
            <a:ext cx="5623560" cy="576072"/>
            <a:chOff x="0" y="0"/>
            <a:chExt cx="7498080" cy="768096"/>
          </a:xfrm>
        </p:grpSpPr>
        <p:sp>
          <p:nvSpPr>
            <p:cNvPr name="Freeform 122" id="122"/>
            <p:cNvSpPr/>
            <p:nvPr/>
          </p:nvSpPr>
          <p:spPr>
            <a:xfrm flipH="false" flipV="false" rot="0">
              <a:off x="0" y="0"/>
              <a:ext cx="7498080" cy="768096"/>
            </a:xfrm>
            <a:custGeom>
              <a:avLst/>
              <a:gdLst/>
              <a:ahLst/>
              <a:cxnLst/>
              <a:rect r="r" b="b" t="t" l="l"/>
              <a:pathLst>
                <a:path h="768096" w="7498080">
                  <a:moveTo>
                    <a:pt x="0" y="0"/>
                  </a:moveTo>
                  <a:lnTo>
                    <a:pt x="7498080" y="0"/>
                  </a:lnTo>
                  <a:lnTo>
                    <a:pt x="749808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0211" r="0" b="-140211"/>
              </a:stretch>
            </a:blipFill>
          </p:spPr>
        </p:sp>
        <p:sp>
          <p:nvSpPr>
            <p:cNvPr name="TextBox 123" id="123"/>
            <p:cNvSpPr txBox="true"/>
            <p:nvPr/>
          </p:nvSpPr>
          <p:spPr>
            <a:xfrm>
              <a:off x="0" y="-19050"/>
              <a:ext cx="7498080" cy="7871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2B2B2B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Volunteer registration form</a:t>
              </a:r>
            </a:p>
          </p:txBody>
        </p:sp>
      </p:grpSp>
      <p:grpSp>
        <p:nvGrpSpPr>
          <p:cNvPr name="Group 124" id="124"/>
          <p:cNvGrpSpPr/>
          <p:nvPr/>
        </p:nvGrpSpPr>
        <p:grpSpPr>
          <a:xfrm rot="0">
            <a:off x="10287000" y="3977640"/>
            <a:ext cx="1645920" cy="576072"/>
            <a:chOff x="0" y="0"/>
            <a:chExt cx="2194560" cy="768096"/>
          </a:xfrm>
        </p:grpSpPr>
        <p:sp>
          <p:nvSpPr>
            <p:cNvPr name="Freeform 125" id="125"/>
            <p:cNvSpPr/>
            <p:nvPr/>
          </p:nvSpPr>
          <p:spPr>
            <a:xfrm flipH="false" flipV="false" rot="0">
              <a:off x="0" y="0"/>
              <a:ext cx="2194560" cy="768096"/>
            </a:xfrm>
            <a:custGeom>
              <a:avLst/>
              <a:gdLst/>
              <a:ahLst/>
              <a:cxnLst/>
              <a:rect r="r" b="b" t="t" l="l"/>
              <a:pathLst>
                <a:path h="768096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671" r="0" b="-5671"/>
              </a:stretch>
            </a:blipFill>
          </p:spPr>
        </p:sp>
        <p:sp>
          <p:nvSpPr>
            <p:cNvPr name="TextBox 126" id="126"/>
            <p:cNvSpPr txBox="true"/>
            <p:nvPr/>
          </p:nvSpPr>
          <p:spPr>
            <a:xfrm>
              <a:off x="0" y="-19050"/>
              <a:ext cx="2194560" cy="7871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953734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/sos</a:t>
              </a:r>
            </a:p>
          </p:txBody>
        </p:sp>
      </p:grpSp>
      <p:grpSp>
        <p:nvGrpSpPr>
          <p:cNvPr name="Group 127" id="127"/>
          <p:cNvGrpSpPr/>
          <p:nvPr/>
        </p:nvGrpSpPr>
        <p:grpSpPr>
          <a:xfrm rot="0">
            <a:off x="11932920" y="3977640"/>
            <a:ext cx="5623560" cy="576072"/>
            <a:chOff x="0" y="0"/>
            <a:chExt cx="7498080" cy="768096"/>
          </a:xfrm>
        </p:grpSpPr>
        <p:sp>
          <p:nvSpPr>
            <p:cNvPr name="Freeform 128" id="128"/>
            <p:cNvSpPr/>
            <p:nvPr/>
          </p:nvSpPr>
          <p:spPr>
            <a:xfrm flipH="false" flipV="false" rot="0">
              <a:off x="0" y="0"/>
              <a:ext cx="7498080" cy="768096"/>
            </a:xfrm>
            <a:custGeom>
              <a:avLst/>
              <a:gdLst/>
              <a:ahLst/>
              <a:cxnLst/>
              <a:rect r="r" b="b" t="t" l="l"/>
              <a:pathLst>
                <a:path h="768096" w="7498080">
                  <a:moveTo>
                    <a:pt x="0" y="0"/>
                  </a:moveTo>
                  <a:lnTo>
                    <a:pt x="7498080" y="0"/>
                  </a:lnTo>
                  <a:lnTo>
                    <a:pt x="749808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0211" r="0" b="-140211"/>
              </a:stretch>
            </a:blipFill>
          </p:spPr>
        </p:sp>
        <p:sp>
          <p:nvSpPr>
            <p:cNvPr name="TextBox 129" id="129"/>
            <p:cNvSpPr txBox="true"/>
            <p:nvPr/>
          </p:nvSpPr>
          <p:spPr>
            <a:xfrm>
              <a:off x="0" y="-19050"/>
              <a:ext cx="7498080" cy="7871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2B2B2B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Live SOS request board</a:t>
              </a:r>
            </a:p>
          </p:txBody>
        </p:sp>
      </p:grpSp>
      <p:grpSp>
        <p:nvGrpSpPr>
          <p:cNvPr name="Group 130" id="130"/>
          <p:cNvGrpSpPr/>
          <p:nvPr/>
        </p:nvGrpSpPr>
        <p:grpSpPr>
          <a:xfrm rot="0">
            <a:off x="10287000" y="4663440"/>
            <a:ext cx="1645920" cy="576072"/>
            <a:chOff x="0" y="0"/>
            <a:chExt cx="2194560" cy="768096"/>
          </a:xfrm>
        </p:grpSpPr>
        <p:sp>
          <p:nvSpPr>
            <p:cNvPr name="Freeform 131" id="131"/>
            <p:cNvSpPr/>
            <p:nvPr/>
          </p:nvSpPr>
          <p:spPr>
            <a:xfrm flipH="false" flipV="false" rot="0">
              <a:off x="0" y="0"/>
              <a:ext cx="2194560" cy="768096"/>
            </a:xfrm>
            <a:custGeom>
              <a:avLst/>
              <a:gdLst/>
              <a:ahLst/>
              <a:cxnLst/>
              <a:rect r="r" b="b" t="t" l="l"/>
              <a:pathLst>
                <a:path h="768096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671" r="0" b="-5671"/>
              </a:stretch>
            </a:blipFill>
          </p:spPr>
        </p:sp>
        <p:sp>
          <p:nvSpPr>
            <p:cNvPr name="TextBox 132" id="132"/>
            <p:cNvSpPr txBox="true"/>
            <p:nvPr/>
          </p:nvSpPr>
          <p:spPr>
            <a:xfrm>
              <a:off x="0" y="-19050"/>
              <a:ext cx="2194560" cy="7871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953734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/donors</a:t>
              </a:r>
            </a:p>
          </p:txBody>
        </p:sp>
      </p:grpSp>
      <p:grpSp>
        <p:nvGrpSpPr>
          <p:cNvPr name="Group 133" id="133"/>
          <p:cNvGrpSpPr/>
          <p:nvPr/>
        </p:nvGrpSpPr>
        <p:grpSpPr>
          <a:xfrm rot="0">
            <a:off x="11932920" y="4663440"/>
            <a:ext cx="5623560" cy="576072"/>
            <a:chOff x="0" y="0"/>
            <a:chExt cx="7498080" cy="768096"/>
          </a:xfrm>
        </p:grpSpPr>
        <p:sp>
          <p:nvSpPr>
            <p:cNvPr name="Freeform 134" id="134"/>
            <p:cNvSpPr/>
            <p:nvPr/>
          </p:nvSpPr>
          <p:spPr>
            <a:xfrm flipH="false" flipV="false" rot="0">
              <a:off x="0" y="0"/>
              <a:ext cx="7498080" cy="768096"/>
            </a:xfrm>
            <a:custGeom>
              <a:avLst/>
              <a:gdLst/>
              <a:ahLst/>
              <a:cxnLst/>
              <a:rect r="r" b="b" t="t" l="l"/>
              <a:pathLst>
                <a:path h="768096" w="7498080">
                  <a:moveTo>
                    <a:pt x="0" y="0"/>
                  </a:moveTo>
                  <a:lnTo>
                    <a:pt x="7498080" y="0"/>
                  </a:lnTo>
                  <a:lnTo>
                    <a:pt x="749808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0211" r="0" b="-140211"/>
              </a:stretch>
            </a:blipFill>
          </p:spPr>
        </p:sp>
        <p:sp>
          <p:nvSpPr>
            <p:cNvPr name="TextBox 135" id="135"/>
            <p:cNvSpPr txBox="true"/>
            <p:nvPr/>
          </p:nvSpPr>
          <p:spPr>
            <a:xfrm>
              <a:off x="0" y="-19050"/>
              <a:ext cx="7498080" cy="7871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2B2B2B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Search donors with filters</a:t>
              </a:r>
            </a:p>
          </p:txBody>
        </p:sp>
      </p:grpSp>
      <p:grpSp>
        <p:nvGrpSpPr>
          <p:cNvPr name="Group 136" id="136"/>
          <p:cNvGrpSpPr/>
          <p:nvPr/>
        </p:nvGrpSpPr>
        <p:grpSpPr>
          <a:xfrm rot="0">
            <a:off x="10287000" y="5349240"/>
            <a:ext cx="1645920" cy="576072"/>
            <a:chOff x="0" y="0"/>
            <a:chExt cx="2194560" cy="768096"/>
          </a:xfrm>
        </p:grpSpPr>
        <p:sp>
          <p:nvSpPr>
            <p:cNvPr name="Freeform 137" id="137"/>
            <p:cNvSpPr/>
            <p:nvPr/>
          </p:nvSpPr>
          <p:spPr>
            <a:xfrm flipH="false" flipV="false" rot="0">
              <a:off x="0" y="0"/>
              <a:ext cx="2194560" cy="768096"/>
            </a:xfrm>
            <a:custGeom>
              <a:avLst/>
              <a:gdLst/>
              <a:ahLst/>
              <a:cxnLst/>
              <a:rect r="r" b="b" t="t" l="l"/>
              <a:pathLst>
                <a:path h="768096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671" r="0" b="-5671"/>
              </a:stretch>
            </a:blipFill>
          </p:spPr>
        </p:sp>
        <p:sp>
          <p:nvSpPr>
            <p:cNvPr name="TextBox 138" id="138"/>
            <p:cNvSpPr txBox="true"/>
            <p:nvPr/>
          </p:nvSpPr>
          <p:spPr>
            <a:xfrm>
              <a:off x="0" y="-19050"/>
              <a:ext cx="2194560" cy="7871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953734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/profile</a:t>
              </a:r>
            </a:p>
          </p:txBody>
        </p:sp>
      </p:grpSp>
      <p:grpSp>
        <p:nvGrpSpPr>
          <p:cNvPr name="Group 139" id="139"/>
          <p:cNvGrpSpPr/>
          <p:nvPr/>
        </p:nvGrpSpPr>
        <p:grpSpPr>
          <a:xfrm rot="0">
            <a:off x="11932920" y="5349240"/>
            <a:ext cx="5623560" cy="576072"/>
            <a:chOff x="0" y="0"/>
            <a:chExt cx="7498080" cy="768096"/>
          </a:xfrm>
        </p:grpSpPr>
        <p:sp>
          <p:nvSpPr>
            <p:cNvPr name="Freeform 140" id="140"/>
            <p:cNvSpPr/>
            <p:nvPr/>
          </p:nvSpPr>
          <p:spPr>
            <a:xfrm flipH="false" flipV="false" rot="0">
              <a:off x="0" y="0"/>
              <a:ext cx="7498080" cy="768096"/>
            </a:xfrm>
            <a:custGeom>
              <a:avLst/>
              <a:gdLst/>
              <a:ahLst/>
              <a:cxnLst/>
              <a:rect r="r" b="b" t="t" l="l"/>
              <a:pathLst>
                <a:path h="768096" w="7498080">
                  <a:moveTo>
                    <a:pt x="0" y="0"/>
                  </a:moveTo>
                  <a:lnTo>
                    <a:pt x="7498080" y="0"/>
                  </a:lnTo>
                  <a:lnTo>
                    <a:pt x="749808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0211" r="0" b="-140211"/>
              </a:stretch>
            </a:blipFill>
          </p:spPr>
        </p:sp>
        <p:sp>
          <p:nvSpPr>
            <p:cNvPr name="TextBox 141" id="141"/>
            <p:cNvSpPr txBox="true"/>
            <p:nvPr/>
          </p:nvSpPr>
          <p:spPr>
            <a:xfrm>
              <a:off x="0" y="-19050"/>
              <a:ext cx="7498080" cy="7871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2B2B2B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Edit profile, availability toggle</a:t>
              </a:r>
            </a:p>
          </p:txBody>
        </p:sp>
      </p:grpSp>
      <p:grpSp>
        <p:nvGrpSpPr>
          <p:cNvPr name="Group 142" id="142"/>
          <p:cNvGrpSpPr/>
          <p:nvPr/>
        </p:nvGrpSpPr>
        <p:grpSpPr>
          <a:xfrm rot="0">
            <a:off x="10279856" y="6233636"/>
            <a:ext cx="7283768" cy="480632"/>
            <a:chOff x="0" y="0"/>
            <a:chExt cx="9711690" cy="640842"/>
          </a:xfrm>
        </p:grpSpPr>
        <p:sp>
          <p:nvSpPr>
            <p:cNvPr name="Freeform 143" id="143"/>
            <p:cNvSpPr/>
            <p:nvPr/>
          </p:nvSpPr>
          <p:spPr>
            <a:xfrm flipH="false" flipV="false" rot="0">
              <a:off x="0" y="0"/>
              <a:ext cx="9711690" cy="640842"/>
            </a:xfrm>
            <a:custGeom>
              <a:avLst/>
              <a:gdLst/>
              <a:ahLst/>
              <a:cxnLst/>
              <a:rect r="r" b="b" t="t" l="l"/>
              <a:pathLst>
                <a:path h="640842" w="9711690">
                  <a:moveTo>
                    <a:pt x="0" y="0"/>
                  </a:moveTo>
                  <a:lnTo>
                    <a:pt x="9711690" y="0"/>
                  </a:lnTo>
                  <a:lnTo>
                    <a:pt x="9711690" y="640842"/>
                  </a:lnTo>
                  <a:lnTo>
                    <a:pt x="0" y="640842"/>
                  </a:lnTo>
                  <a:close/>
                </a:path>
              </a:pathLst>
            </a:custGeom>
            <a:solidFill>
              <a:srgbClr val="444444"/>
            </a:solidFill>
            <a:ln w="14288" cap="sq">
              <a:solidFill>
                <a:srgbClr val="444444"/>
              </a:solidFill>
              <a:prstDash val="solid"/>
              <a:miter/>
            </a:ln>
          </p:spPr>
        </p:sp>
      </p:grpSp>
      <p:grpSp>
        <p:nvGrpSpPr>
          <p:cNvPr name="Group 144" id="144"/>
          <p:cNvGrpSpPr/>
          <p:nvPr/>
        </p:nvGrpSpPr>
        <p:grpSpPr>
          <a:xfrm rot="0">
            <a:off x="10355580" y="6240780"/>
            <a:ext cx="7132320" cy="466344"/>
            <a:chOff x="0" y="0"/>
            <a:chExt cx="9509760" cy="621792"/>
          </a:xfrm>
        </p:grpSpPr>
        <p:sp>
          <p:nvSpPr>
            <p:cNvPr name="Freeform 145" id="145"/>
            <p:cNvSpPr/>
            <p:nvPr/>
          </p:nvSpPr>
          <p:spPr>
            <a:xfrm flipH="false" flipV="false" rot="0">
              <a:off x="0" y="0"/>
              <a:ext cx="9509760" cy="621792"/>
            </a:xfrm>
            <a:custGeom>
              <a:avLst/>
              <a:gdLst/>
              <a:ahLst/>
              <a:cxnLst/>
              <a:rect r="r" b="b" t="t" l="l"/>
              <a:pathLst>
                <a:path h="621792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8006" r="0" b="-248006"/>
              </a:stretch>
            </a:blipFill>
          </p:spPr>
        </p:sp>
        <p:sp>
          <p:nvSpPr>
            <p:cNvPr name="TextBox 146" id="146"/>
            <p:cNvSpPr txBox="true"/>
            <p:nvPr/>
          </p:nvSpPr>
          <p:spPr>
            <a:xfrm>
              <a:off x="0" y="-19050"/>
              <a:ext cx="9509760" cy="6408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Design Principles</a:t>
              </a:r>
            </a:p>
          </p:txBody>
        </p:sp>
      </p:grpSp>
      <p:sp>
        <p:nvSpPr>
          <p:cNvPr name="TextBox 147" id="147"/>
          <p:cNvSpPr txBox="true"/>
          <p:nvPr/>
        </p:nvSpPr>
        <p:spPr>
          <a:xfrm rot="0">
            <a:off x="10424160" y="6770370"/>
            <a:ext cx="7132320" cy="2556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5755" indent="-162878" lvl="1">
              <a:lnSpc>
                <a:spcPts val="2160"/>
              </a:lnSpc>
              <a:buFont typeface="Arial"/>
              <a:buChar char="•"/>
            </a:pPr>
            <a:r>
              <a:rPr lang="en-US" sz="1800">
                <a:solidFill>
                  <a:srgbClr val="2B2B2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Colour-coded urgency: red, orange, teal</a:t>
            </a:r>
          </a:p>
          <a:p>
            <a:pPr algn="l" marL="325755" indent="-162878" lvl="1">
              <a:lnSpc>
                <a:spcPts val="2160"/>
              </a:lnSpc>
              <a:buFont typeface="Arial"/>
              <a:buChar char="•"/>
            </a:pPr>
            <a:r>
              <a:rPr lang="en-US" sz="1800">
                <a:solidFill>
                  <a:srgbClr val="2B2B2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Large tap targets for call and WhatsApp</a:t>
            </a:r>
          </a:p>
          <a:p>
            <a:pPr algn="l" marL="325755" indent="-162878" lvl="1">
              <a:lnSpc>
                <a:spcPts val="2160"/>
              </a:lnSpc>
              <a:buFont typeface="Arial"/>
              <a:buChar char="•"/>
            </a:pPr>
            <a:r>
              <a:rPr lang="en-US" sz="1800">
                <a:solidFill>
                  <a:srgbClr val="2B2B2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Same donor and SOS card layout on every page</a:t>
            </a:r>
          </a:p>
          <a:p>
            <a:pPr algn="l" marL="325755" indent="-162878" lvl="1">
              <a:lnSpc>
                <a:spcPts val="2160"/>
              </a:lnSpc>
              <a:buFont typeface="Arial"/>
              <a:buChar char="•"/>
            </a:pPr>
            <a:r>
              <a:rPr lang="en-US" sz="1800">
                <a:solidFill>
                  <a:srgbClr val="2B2B2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Phone numbers shown only to logged-in users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DAHWc_S8tUM</dc:identifier>
  <dcterms:modified xsi:type="dcterms:W3CDTF">2011-08-01T06:04:30Z</dcterms:modified>
  <cp:revision>1</cp:revision>
  <dc:title>Blood_Donor_SOS_PPT.pptx</dc:title>
</cp:coreProperties>
</file>